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4d7352a552411e" /><Relationship Type="http://schemas.openxmlformats.org/officeDocument/2006/relationships/extended-properties" Target="/docProps/app.xml" Id="Rf69bcd809f1c4174" /><Relationship Type="http://schemas.openxmlformats.org/officeDocument/2006/relationships/officeDocument" Target="/ppt/presentation.xml" Id="Rb42dcbbd046344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29ccd56a6b47f3"/>
  </p:sldMasterIdLst>
  <p:notesMasterIdLst>
    <p:notesMasterId xmlns:r="http://schemas.openxmlformats.org/officeDocument/2006/relationships" r:id="Rccc2d089660847b2"/>
  </p:notesMasterIdLst>
  <p:sldIdLst>
    <p:sldId xmlns:r="http://schemas.openxmlformats.org/officeDocument/2006/relationships" id="256" r:id="R0ba2980647684cbb"/>
    <p:sldId xmlns:r="http://schemas.openxmlformats.org/officeDocument/2006/relationships" id="257" r:id="R0178cb1664de4aa3"/>
    <p:sldId xmlns:r="http://schemas.openxmlformats.org/officeDocument/2006/relationships" id="258" r:id="Ref4c19954d594f6c"/>
    <p:sldId xmlns:r="http://schemas.openxmlformats.org/officeDocument/2006/relationships" id="259" r:id="R87e8cfccd8064391"/>
    <p:sldId xmlns:r="http://schemas.openxmlformats.org/officeDocument/2006/relationships" id="260" r:id="R01004951d45247e7"/>
    <p:sldId xmlns:r="http://schemas.openxmlformats.org/officeDocument/2006/relationships" id="261" r:id="R6b6b874256004a8e"/>
    <p:sldId xmlns:r="http://schemas.openxmlformats.org/officeDocument/2006/relationships" id="262" r:id="R1569fbe1eecd40f2"/>
    <p:sldId xmlns:r="http://schemas.openxmlformats.org/officeDocument/2006/relationships" id="263" r:id="Rc3737acefd8b44e7"/>
    <p:sldId xmlns:r="http://schemas.openxmlformats.org/officeDocument/2006/relationships" id="264" r:id="Rcea9e64eb04f4647"/>
    <p:sldId xmlns:r="http://schemas.openxmlformats.org/officeDocument/2006/relationships" id="265" r:id="Ra6e0c27ac28f459b"/>
    <p:sldId xmlns:r="http://schemas.openxmlformats.org/officeDocument/2006/relationships" id="266" r:id="Rd77df8c39e514680"/>
    <p:sldId xmlns:r="http://schemas.openxmlformats.org/officeDocument/2006/relationships" id="267" r:id="R38f8d252159e4ff6"/>
    <p:sldId xmlns:r="http://schemas.openxmlformats.org/officeDocument/2006/relationships" id="268" r:id="R72ba3e9dd386476d"/>
    <p:sldId xmlns:r="http://schemas.openxmlformats.org/officeDocument/2006/relationships" id="269" r:id="R13777f91dfbf4089"/>
    <p:sldId xmlns:r="http://schemas.openxmlformats.org/officeDocument/2006/relationships" id="270" r:id="Rceb5bcbac13845f5"/>
    <p:sldId xmlns:r="http://schemas.openxmlformats.org/officeDocument/2006/relationships" id="271" r:id="Rb28324b90f484eaa"/>
  </p:sldIdLst>
  <p:sldSz cx="13716000" cy="7715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28c43267264079" /><Relationship Type="http://schemas.openxmlformats.org/officeDocument/2006/relationships/slideMaster" Target="/ppt/slideMasters/slideMaster1.xml" Id="R0629ccd56a6b47f3" /><Relationship Type="http://schemas.openxmlformats.org/officeDocument/2006/relationships/notesMaster" Target="/ppt/notesMasters/notesMaster1.xml" Id="Rccc2d089660847b2" /><Relationship Type="http://schemas.openxmlformats.org/officeDocument/2006/relationships/presProps" Target="/ppt/presProps.xml" Id="R60949a1918c5437c" /><Relationship Type="http://schemas.openxmlformats.org/officeDocument/2006/relationships/tableStyles" Target="/ppt/tableStyles.xml" Id="R69bb1c9e89d44484" /><Relationship Type="http://schemas.openxmlformats.org/officeDocument/2006/relationships/slide" Target="/ppt/slides/slide1.xml" Id="R0ba2980647684cbb" /><Relationship Type="http://schemas.openxmlformats.org/officeDocument/2006/relationships/slide" Target="/ppt/slides/slide2.xml" Id="R0178cb1664de4aa3" /><Relationship Type="http://schemas.openxmlformats.org/officeDocument/2006/relationships/slide" Target="/ppt/slides/slide3.xml" Id="Ref4c19954d594f6c" /><Relationship Type="http://schemas.openxmlformats.org/officeDocument/2006/relationships/slide" Target="/ppt/slides/slide4.xml" Id="R87e8cfccd8064391" /><Relationship Type="http://schemas.openxmlformats.org/officeDocument/2006/relationships/slide" Target="/ppt/slides/slide5.xml" Id="R01004951d45247e7" /><Relationship Type="http://schemas.openxmlformats.org/officeDocument/2006/relationships/slide" Target="/ppt/slides/slide6.xml" Id="R6b6b874256004a8e" /><Relationship Type="http://schemas.openxmlformats.org/officeDocument/2006/relationships/slide" Target="/ppt/slides/slide7.xml" Id="R1569fbe1eecd40f2" /><Relationship Type="http://schemas.openxmlformats.org/officeDocument/2006/relationships/slide" Target="/ppt/slides/slide8.xml" Id="Rc3737acefd8b44e7" /><Relationship Type="http://schemas.openxmlformats.org/officeDocument/2006/relationships/slide" Target="/ppt/slides/slide9.xml" Id="Rcea9e64eb04f4647" /><Relationship Type="http://schemas.openxmlformats.org/officeDocument/2006/relationships/slide" Target="/ppt/slides/slide10.xml" Id="Ra6e0c27ac28f459b" /><Relationship Type="http://schemas.openxmlformats.org/officeDocument/2006/relationships/slide" Target="/ppt/slides/slide11.xml" Id="Rd77df8c39e514680" /><Relationship Type="http://schemas.openxmlformats.org/officeDocument/2006/relationships/slide" Target="/ppt/slides/slide12.xml" Id="R38f8d252159e4ff6" /><Relationship Type="http://schemas.openxmlformats.org/officeDocument/2006/relationships/slide" Target="/ppt/slides/slide13.xml" Id="R72ba3e9dd386476d" /><Relationship Type="http://schemas.openxmlformats.org/officeDocument/2006/relationships/slide" Target="/ppt/slides/slide14.xml" Id="R13777f91dfbf4089" /><Relationship Type="http://schemas.openxmlformats.org/officeDocument/2006/relationships/slide" Target="/ppt/slides/slide15.xml" Id="Rceb5bcbac13845f5" /><Relationship Type="http://schemas.openxmlformats.org/officeDocument/2006/relationships/slide" Target="/ppt/slides/slide16.xml" Id="Rb28324b90f484e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730af9636945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b4e65ae1814258" /><Relationship Type="http://schemas.openxmlformats.org/officeDocument/2006/relationships/notesMaster" Target="/ppt/notesMasters/notesMaster1.xml" Id="Rc45e3a464bdc4d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fed3ad392a401b" /><Relationship Type="http://schemas.openxmlformats.org/officeDocument/2006/relationships/notesMaster" Target="/ppt/notesMasters/notesMaster1.xml" Id="R3b5720810ba04b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a6e4cdc0184b39" /><Relationship Type="http://schemas.openxmlformats.org/officeDocument/2006/relationships/notesMaster" Target="/ppt/notesMasters/notesMaster1.xml" Id="Rb39b1f357ee04e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48f5f3c4584cde" /><Relationship Type="http://schemas.openxmlformats.org/officeDocument/2006/relationships/notesMaster" Target="/ppt/notesMasters/notesMaster1.xml" Id="R9e73cb428ce144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eb895bd97e4cbb" /><Relationship Type="http://schemas.openxmlformats.org/officeDocument/2006/relationships/notesMaster" Target="/ppt/notesMasters/notesMaster1.xml" Id="Rdb894eccd45b4f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e5d52f43e3409d" /><Relationship Type="http://schemas.openxmlformats.org/officeDocument/2006/relationships/notesMaster" Target="/ppt/notesMasters/notesMaster1.xml" Id="Rf1859ae7a35f47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74ebd309724bc9" /><Relationship Type="http://schemas.openxmlformats.org/officeDocument/2006/relationships/notesMaster" Target="/ppt/notesMasters/notesMaster1.xml" Id="Rd3e5f60c340f42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9a51dbb2a44d5b" /><Relationship Type="http://schemas.openxmlformats.org/officeDocument/2006/relationships/notesMaster" Target="/ppt/notesMasters/notesMaster1.xml" Id="R79b68224c3f643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0889bc04764d3b" /><Relationship Type="http://schemas.openxmlformats.org/officeDocument/2006/relationships/notesMaster" Target="/ppt/notesMasters/notesMaster1.xml" Id="Re37130810eff42b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89c31374ca4e20" /><Relationship Type="http://schemas.openxmlformats.org/officeDocument/2006/relationships/notesMaster" Target="/ppt/notesMasters/notesMaster1.xml" Id="Rad66dcb89a1546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0d433b022a45db" /><Relationship Type="http://schemas.openxmlformats.org/officeDocument/2006/relationships/notesMaster" Target="/ppt/notesMasters/notesMaster1.xml" Id="Rd80ef28ccca147b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f0848db4064a9d" /><Relationship Type="http://schemas.openxmlformats.org/officeDocument/2006/relationships/notesMaster" Target="/ppt/notesMasters/notesMaster1.xml" Id="R7c99610635be41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ed0d1cd0c154126" /><Relationship Type="http://schemas.openxmlformats.org/officeDocument/2006/relationships/notesMaster" Target="/ppt/notesMasters/notesMaster1.xml" Id="R1b8051d29e334df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1908c8cc03b460b" /><Relationship Type="http://schemas.openxmlformats.org/officeDocument/2006/relationships/notesMaster" Target="/ppt/notesMasters/notesMaster1.xml" Id="R3726758356c84ac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c22004080c84342" /><Relationship Type="http://schemas.openxmlformats.org/officeDocument/2006/relationships/notesMaster" Target="/ppt/notesMasters/notesMaster1.xml" Id="R6f25828c6c82462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b2e7f4c3bf64008" /><Relationship Type="http://schemas.openxmlformats.org/officeDocument/2006/relationships/notesMaster" Target="/ppt/notesMasters/notesMaster1.xml" Id="Re7b2c3f485fc43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Caregiving means managing more than tasks. One person often carries the changing checklist across appointments and people. Carestead reduces that load.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Meet Maya. She coordinates Alex's care while balancing work and family, connecting information held by different people.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When one detail changes, calendars, transport, and responsibilities can remain outdated. Reminders alone cannot close that coordination gap.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Carestead creates one shared workspace with a reusable Care Plan, trusted Care Circle, Care Organizer, and live Care Handover.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Around one care recipient, caregivers manage routines, responsibilities, appointments, contacts, notifications, activity history, chat, voice, documents, and approvals.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The journey moves from understanding the person to identifying needs, coordinating support, approving a safe action, and recording the outcome.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A caregiver asks Carestead naturally, inspects the evidence, and requests an action. Carestead prepares the exact change for caregiver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Updates can arrive as speech, notes, documents, or images. The model extracts information, and the agent validates it before saving. HANDOFF: Now we will explain the agent design behind that experience.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Carestead uses several capability patterns. The LLM handles language, extraction, and summarization. Agentic workflows add retrieval, decisions, tools, approval, and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Across eight workflows, each card separates the model contribution from the controls enforced by the agent and orchestrator.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Authenticated APIs connect the interface to a TypeScript orchestrator, recipient-scoped retrieval, the OpenAI Responses API, policy gates, and narrow tools.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Missing evidence triggers clarification. Read-only questions return grounded answers. Consequential actions require authorization, approval, verification, and an audit record.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The LLM interprets and summarizes. Deterministic code controls recipient scope, consent, feasibility, and tool access. The caregiver makes the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We score retrieval, grounding, decisions, policy, tools, outcomes, and safety across 104 synthetic scenarios. One safety violation fails the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The same workspace is moving to an iPhone pilot with care plans, calendar, handover, approvals, and native voice.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Carestead turns a scattered care story into a shared, reviewable next step. Less to carry. More care to give. Now let us demonstrate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c62047f0b49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b708137a9a4892" /><Relationship Type="http://schemas.openxmlformats.org/officeDocument/2006/relationships/slideLayout" Target="/ppt/slideLayouts/slideLayout1.xml" Id="Rbc47bda6424645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47bda6424645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ee4c0bf4d4266" /><Relationship Type="http://schemas.openxmlformats.org/officeDocument/2006/relationships/notesSlide" Target="/ppt/notesSlides/notesSlide1.xml" Id="Re3c0a56309b74b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3064344bf4a10" /><Relationship Type="http://schemas.openxmlformats.org/officeDocument/2006/relationships/image" Target="/ppt/media/image.png" Id="R76cab0facb4549a5" /><Relationship Type="http://schemas.openxmlformats.org/officeDocument/2006/relationships/image" Target="/ppt/media/image.svg" Id="R45469e08bb9143ca" /><Relationship Type="http://schemas.openxmlformats.org/officeDocument/2006/relationships/notesSlide" Target="/ppt/notesSlides/notesSlide2.xml" Id="Ra48616c6df1848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f4c1c04a2425e" /><Relationship Type="http://schemas.openxmlformats.org/officeDocument/2006/relationships/notesSlide" Target="/ppt/notesSlides/notesSlide3.xml" Id="R979ea6b2737f43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7ffd80cf74ee1" /><Relationship Type="http://schemas.openxmlformats.org/officeDocument/2006/relationships/image" Target="/ppt/media/image2.png" Id="R11eec596dc1f4467" /><Relationship Type="http://schemas.openxmlformats.org/officeDocument/2006/relationships/notesSlide" Target="/ppt/notesSlides/notesSlide4.xml" Id="R481ddf3517fa44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ab44f02ecf4f49" /><Relationship Type="http://schemas.openxmlformats.org/officeDocument/2006/relationships/notesSlide" Target="/ppt/notesSlides/notesSlide5.xml" Id="R6629403a969548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662d8fe444383" /><Relationship Type="http://schemas.openxmlformats.org/officeDocument/2006/relationships/image" Target="/ppt/media/image3.png" Id="R4198758e330f4e2f" /><Relationship Type="http://schemas.openxmlformats.org/officeDocument/2006/relationships/notesSlide" Target="/ppt/notesSlides/notesSlide6.xml" Id="R4c109144facc4d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11d554dfb46bd" /><Relationship Type="http://schemas.openxmlformats.org/officeDocument/2006/relationships/image" Target="/ppt/media/image4.png" Id="R8a79c0e287eb46b3" /><Relationship Type="http://schemas.openxmlformats.org/officeDocument/2006/relationships/notesSlide" Target="/ppt/notesSlides/notesSlide7.xml" Id="R3bdbcd7eb8654b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35dd524504132" /><Relationship Type="http://schemas.openxmlformats.org/officeDocument/2006/relationships/image" Target="/ppt/media/image5.png" Id="R36a0dbccb91c4a41" /><Relationship Type="http://schemas.openxmlformats.org/officeDocument/2006/relationships/image" Target="/ppt/media/image6.png" Id="Rb13a3a91eb934809" /><Relationship Type="http://schemas.openxmlformats.org/officeDocument/2006/relationships/notesSlide" Target="/ppt/notesSlides/notesSlide8.xml" Id="R7d02d773343241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4402e15a1449d" /><Relationship Type="http://schemas.openxmlformats.org/officeDocument/2006/relationships/notesSlide" Target="/ppt/notesSlides/notesSlide9.xml" Id="R0f1fe83e06094c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84e5e0d934fcc" /><Relationship Type="http://schemas.openxmlformats.org/officeDocument/2006/relationships/notesSlide" Target="/ppt/notesSlides/notesSlide10.xml" Id="Rf1a86b1a11cb406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36bbbe5444741" /><Relationship Type="http://schemas.openxmlformats.org/officeDocument/2006/relationships/image" Target="/ppt/media/image7.png" Id="R1ff005b5edf140eb" /><Relationship Type="http://schemas.openxmlformats.org/officeDocument/2006/relationships/notesSlide" Target="/ppt/notesSlides/notesSlide11.xml" Id="R81fcdc612f184a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241c082034d3c" /><Relationship Type="http://schemas.openxmlformats.org/officeDocument/2006/relationships/image" Target="/ppt/media/image8.png" Id="R0b16353a6c224e6d" /><Relationship Type="http://schemas.openxmlformats.org/officeDocument/2006/relationships/notesSlide" Target="/ppt/notesSlides/notesSlide12.xml" Id="R9d1014944a0c46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a2eb9a11c464d" /><Relationship Type="http://schemas.openxmlformats.org/officeDocument/2006/relationships/notesSlide" Target="/ppt/notesSlides/notesSlide13.xml" Id="Ra555cbe349cf43d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6b24c42a443dc" /><Relationship Type="http://schemas.openxmlformats.org/officeDocument/2006/relationships/notesSlide" Target="/ppt/notesSlides/notesSlide14.xml" Id="R8c1a8c77f33344f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cc429d87c4f93" /><Relationship Type="http://schemas.openxmlformats.org/officeDocument/2006/relationships/image" Target="/ppt/media/image9.png" Id="Raaf6c20bd4264252" /><Relationship Type="http://schemas.openxmlformats.org/officeDocument/2006/relationships/notesSlide" Target="/ppt/notesSlides/notesSlide15.xml" Id="Re43079e1b8324a9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d291a34c74c54" /><Relationship Type="http://schemas.openxmlformats.org/officeDocument/2006/relationships/notesSlide" Target="/ppt/notesSlides/notesSlide16.xml" Id="R7ff20e67849449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0BDA09-81F0-4F57-AB04-738E3DDF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542410-2E5B-46F6-BE6D-1CC9D4D6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1AA37-DB3A-4833-87D9-1704215F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DA5C0F-956C-48DD-BBDD-847434A3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GEN AI ACADEMY · TEAM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F7BEF-95A9-4C2A-902C-7B7AE66B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A14BC2-668B-499C-8115-1605C438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01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51A6BF-634A-4048-BAE7-8F92B070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THE CAREGIVER COGNITIVE-LOAD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FE947-2E38-47A4-8529-4A019C38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903"/>
          </a:bodyPr>
          <a:lstStyle xmlns:a="http://schemas.openxmlformats.org/drawingml/2006/main"/>
          <a:p xmlns:a="http://schemas.openxmlformats.org/drawingml/2006/main">
            <a:pPr algn="l">
              <a:defRPr sz="57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57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Less to carry.</a:t>
            </a:r>
          </a:p>
          <a:p xmlns:a="http://schemas.openxmlformats.org/drawingml/2006/main">
            <a:pPr algn="l">
              <a:defRPr sz="57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57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More care to give.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A0E8DB-CC29-493E-A9E5-70BD89EF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shared care picture. A clear next step.</a:t>
            </a:r>
          </a:p>
          <a:p xmlns:a="http://schemas.openxmlformats.org/drawingml/2006/main">
            <a:pPr algn="l">
              <a:defRPr sz="21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An agent that helps while the caregiver stays in control.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AF4B0-123B-48AC-BCC2-06DC5AA9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143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6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A8BAA-7882-461D-81BE-3BE12432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607BEE-2913-4A3C-8097-CC254FAB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816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Circle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E1DFC1-3062-4722-9171-01CE3E5B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5816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Organizer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897AE4-CBB3-479D-9CC6-492E8576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5816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Handover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BF45A1-0B72-4559-B35D-73FD82FA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5816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B5E30A-AD61-415A-8553-7EB7355E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Frincy Clement · Maneetta Antony · Tejaswini Venkata Raju</a:t>
            </a:r>
          </a:p>
        </p:txBody>
      </p:sp>
    </p:spTree>
    <p:extLst>
      <p:ext uri="{BB962C8B-B14F-4D97-AF65-F5344CB8AC3E}">
        <p14:creationId xmlns:p14="http://schemas.microsoft.com/office/powerpoint/2010/main" val="2363913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88A45E-2950-410F-9872-8FAB05AC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54E62-C442-4932-9659-7FCE3155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15A04-2680-49C7-8E49-A9A3E8AF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5D509-1B4D-4759-9F13-6C8812DB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THE PROBLEM · MEET MAYA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9C193-4BEA-4632-84FA-89BB05EF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594BB-D20F-4151-BAA1-6CD461D4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FC31A6-F2FE-4B03-8090-1A9EB8D3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ONE CAREGIVER. TOO MUCH TO REMEMBER.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18D9A-174B-45C9-884C-DA524C35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657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884"/>
          </a:bodyPr>
          <a:lstStyle xmlns:a="http://schemas.openxmlformats.org/drawingml/2006/main"/>
          <a:p xmlns:a="http://schemas.openxmlformats.org/drawingml/2006/main">
            <a:pPr algn="l">
              <a:defRPr sz="39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9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Everyone has part of the story.</a:t>
            </a:r>
          </a:p>
          <a:p xmlns:a="http://schemas.openxmlformats.org/drawingml/2006/main">
            <a:pPr algn="l">
              <a:defRPr sz="39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9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Maya holds it all together.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4F3F0-9375-428D-936B-F2B195AD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619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She coordinates Alex’s care around work and family, remembering every change and resolving schedule conflicts again and again.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77DE4A-AA1C-43D7-8A43-1B38E855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5810250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E19CF-11F2-47D2-9598-0F15509F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invisible work of care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29D34D-96E9-4DFC-9CB9-2679D883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542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Keep the information in her head. Spot the clash. Find cover. Update everyone.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ab0facb4549a5">
            <a:extLst>
              <a:ext uri="{96DAC541-7B7A-43D3-8B79-37D633B846F1}">
                <asvg:svgBlip xmlns:asvg="http://schemas.microsoft.com/office/drawing/2016/SVG/main" r:embed="R45469e08bb9143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34250" y="1095375"/>
            <a:ext cx="5476875" cy="528637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E21466-130D-4476-A195-926FA40E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64770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Illustrative persona and scenario</a:t>
            </a:r>
          </a:p>
        </p:txBody>
      </p:sp>
    </p:spTree>
    <p:extLst>
      <p:ext uri="{BB962C8B-B14F-4D97-AF65-F5344CB8AC3E}">
        <p14:creationId xmlns:p14="http://schemas.microsoft.com/office/powerpoint/2010/main" val="10563501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869279-E753-4514-AAD2-993C1AAB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73FD2-19D5-4B8F-A56D-5278D47B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0F487-1DBF-418D-8456-669C9B32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397272-6332-4F20-B4E4-34BC6CC0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THE COORDINATION GAP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F7FBD-3BEE-4990-8BF7-D4E12127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C6999-76A1-423E-BCB2-74ECDD10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82E38-107A-4218-BB55-D0271750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THE PROBLEM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DF9AC3-922F-4DCE-8535-DF5199D3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happens across people.</a:t>
            </a:r>
          </a:p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mental checklist stays with 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3C75F-45BC-46E4-9310-217E4AB5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714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929E46-1668-44A1-90C4-14EE2A61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3574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“I thought you were taking Alex tomorrow.”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9EAE08-17F4-4BC0-8C30-D7ADB7C4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3333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change in one place can leave the ride, reminder, or caregiver assignment pointing to the old plan.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891E1-064C-49C2-B798-300ED402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3714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EDE8FB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A6561-0750-4B24-8BEC-98077B45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147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Every handover costs attention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D462AE-0FBB-4DA4-8789-5428037E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95700"/>
            <a:ext cx="3333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next caregiver needs current state, open risks, reliable contacts, and the exact items requiring review.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59AC02-D741-43E4-907A-0377031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3714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432084-BC6A-4370-AC88-6C21BCC0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147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More reminders are not enough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8C920B-D64A-44BA-A7CA-913E0EB1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95700"/>
            <a:ext cx="3333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practical need is shared context, a named owner, a safe decision, and a visible outcome.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59206F-A0FA-4BD8-9A32-B917CF58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6048375"/>
            <a:ext cx="93345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2E890B-173F-4D32-8D8F-8CBFBDB2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912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652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Enable Maya to coordinate the next step without rebuilding the whole picture.</a:t>
            </a:r>
          </a:p>
        </p:txBody>
      </p:sp>
    </p:spTree>
    <p:extLst>
      <p:ext uri="{BB962C8B-B14F-4D97-AF65-F5344CB8AC3E}">
        <p14:creationId xmlns:p14="http://schemas.microsoft.com/office/powerpoint/2010/main" val="20297514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7EDB60-9A48-461F-BAC1-56B49D3D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F8947-61F7-47C6-9E99-50EED6F4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E29F8-CE95-491A-9EC6-2F78EE80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40DA6-78D8-4BD4-85E8-B0E78ADB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MEET CARESTEAD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3B997-BAEC-4C09-B7C5-F7A68CD7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6C17B8-3D77-4345-8DFB-31728D19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3A837-AD5B-40E6-AE50-E47844E2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MEET CARESTEAD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51B2FA-1DB8-48DA-BB7E-1A15C835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You care. We plan.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BB220-2808-477C-BB6C-250CBCBC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One place for the plan, people, evidence, and next safe step.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A4C591-91CD-4CA5-9A52-62A79EDF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4524375" cy="8667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F9E5E2-25EC-40C2-8810-AF17E9F1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395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E9B5EF-41E1-4E37-9A2D-A2760509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3952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58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Reusable templates plus person-specific preferences, routines, goals, and supports.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35E06-8FCC-4476-899E-3F5364A8C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524375" cy="8667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958031-BDC3-4B32-BB0F-3E4C28AF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05275"/>
            <a:ext cx="395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Circle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EDA965-B782-4954-8E1F-B749D025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3952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481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Roles, contacts, invitations, responsibility owners, and trusted support.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F2A632-0AA2-4C86-B658-6361DCC9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4524375" cy="8667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CF6E96-7A40-4183-87C0-0BF1C9D6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395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Organizer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CC9304-CD48-4AFC-8613-8DF66770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3952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0658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Plan breaks, activities, coverage, transport, and dependencies in one flow.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B8D863-5FF6-4346-8FF0-88DB40F4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4524375" cy="8667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6F1E71-A7CB-4217-9550-1E2C62A7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29325"/>
            <a:ext cx="395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Handover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1C7DE2-95A2-4FDA-A05E-3D848A92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3952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9304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concise live brief: current state, changes, risks, contacts, and watch items.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FB2EFD-E6C8-416C-8378-05196DC3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747712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ec596dc1f4467"/>
          <a:stretch xmlns:a="http://schemas.openxmlformats.org/drawingml/2006/main"/>
        </p:blipFill>
        <p:spPr>
          <a:xfrm xmlns:a="http://schemas.openxmlformats.org/drawingml/2006/main">
            <a:off x="6657023" y="3105150"/>
            <a:ext cx="5212080" cy="3619500"/>
          </a:xfrm>
          <a:prstGeom xmlns:a="http://schemas.openxmlformats.org/drawingml/2006/main" prst="roundRect">
            <a:avLst>
              <a:gd name="adj" fmla="val 2105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4974D7-5DAE-466C-A483-5A766339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6734175"/>
            <a:ext cx="6619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Current product view: recipient profile, latest care state, review items, and handover context</a:t>
            </a:r>
          </a:p>
        </p:txBody>
      </p:sp>
    </p:spTree>
    <p:extLst>
      <p:ext uri="{BB962C8B-B14F-4D97-AF65-F5344CB8AC3E}">
        <p14:creationId xmlns:p14="http://schemas.microsoft.com/office/powerpoint/2010/main" val="807102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8B2CCD4-2666-4930-A43C-09374868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FF5E2A-F8F2-4287-8355-15050B56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058118-B532-415C-97CC-9D412159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6468AA-578E-42C6-B4C7-9ED3C16A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CORE PRODUCT FEATURES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3DD5E-9218-44FF-8B62-F91475B9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620906-EEEA-4A1A-8D1D-750276B6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0AD26-DAE4-43B8-859B-23AD71DF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PRODUCT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A74342-1D1E-4838-8F7C-B5D91E99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complete Carestead workspace.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CF0A1-6D3E-4FAF-809D-2D5F056D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person-centered care model connects context, coordination, people, actions, and governance.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C243CA-2396-4C58-A220-CDC5715C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2971800" cy="32385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FF4E3B-25A4-490C-9190-F3921339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29718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DC2894-EE04-41F6-AD2F-47384D32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05175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Understand the person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9A2591-4B0C-496D-A73F-859524DD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29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E0C257-CC87-4F4D-9B17-A84F0515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2907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04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AA49FE-391B-43CC-8D08-B2ADDAC4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Overview + profile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3A43C3-188E-4554-AAD1-996AE8BE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7197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547290-AE22-452D-B38F-9368BD4B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1E18E-C1D9-4CD0-AD84-9079B46B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628E3A-DCF9-433B-9F8B-C6AF4A8C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434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Plan + templates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58CBD3-C74E-408C-B19C-57D4285A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081362-D6EF-4240-8A98-B5304178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14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81EE89-AACC-4EA8-B13C-CC2157D52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1492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DB4531-0337-4911-BFB9-EF2DE784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863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Preferences + routines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962D6E-C96B-4EBA-9456-981BF184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82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9BC7E5-C3B3-449B-8C3B-C54E3FDF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09B651-9CB2-4B7E-85CC-C0BE44DD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C30490-574E-4A05-8D75-903CC586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292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Memory + current risks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F67A06-7D68-4310-A122-AF88E640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2971800" cy="32385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4FB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BF545B-97B7-4E87-9375-49EBDEE4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29718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322001-4A25-4D6D-95DD-5789EE73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305175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Coordinate care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B939A3-299A-47EC-A3D4-B382E577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29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AA5796-F9B8-430B-9D2E-DE8C87AD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2907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04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6C0C95-CD95-4140-B932-3ED33FDB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005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Responsibilities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03EF9A-95AA-4BA6-A110-1C5EC10A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7197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77175A-FA70-4BC9-A012-6077E4BD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A9775C-DF43-4EEF-BE75-940A4A8D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181F74-5D5B-44D2-BBC5-D2643786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5434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Organizer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4024D3-B67F-4541-B091-AC7B4E75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1490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7E8574-9AC5-4FB2-B92C-D008130E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14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B7F80F-C9C3-4003-99C7-49C6EF63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1492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394A0B-2ECE-4AEB-B269-2D31B666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0863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Calendar scheduling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C41317-485B-4F0C-BDAD-BD5DBEBB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45782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AEABE23-6F4F-45E2-8352-AD0EF1D8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657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1B01EA-EE74-4B13-88D1-F88E96B1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65785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161A15-ECE7-48B0-814A-00507E7D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6292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Timeline + activity log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A7C6C8-B0F2-424B-A27E-439BB595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43250"/>
            <a:ext cx="2971800" cy="32385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59E019-8053-4CDC-B271-2961E9C4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43250"/>
            <a:ext cx="29718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3C5F02-7AE3-42C9-B3F5-4767DE06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05175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People + handover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FB182C5-84C5-4A34-9866-6D422278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29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C21220C-DC6D-4785-8BB5-1372739C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2907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04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CFD2D38-FCB5-4942-A7A6-948C1446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005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Circle + roles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89BF5C2-A4FB-4DFA-A168-9DC26D7D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7197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CAB4E66-87DA-474F-B168-EA4CAC35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720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29A4576-FD8D-449E-942C-EC049C8D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7200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EE96A47-E1A5-45DB-99D0-7026CA8C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434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53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Contacts + support systems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3CCBD67-E085-42EB-AB4B-F24D92B1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1490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E46334F-F3EC-4298-9832-4BD4CD35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14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ACB17F6-544C-42FF-8850-C58695D2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1492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3E1AAD5-B9D5-4B3E-AF62-326E3FC0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863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Live Handover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BD7A600-D956-4AC3-A182-56E4CB80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5782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707B38-4E81-4C83-BD4F-78CB1C55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657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AACDC88-30C1-4030-9821-4B02B3E3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65785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2D09B8F-1931-4606-9D60-776C5A4E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292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Notifications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94B8140-18CC-4837-B727-BEEB135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143250"/>
            <a:ext cx="2971800" cy="32385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0E4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7C0A84-C8A2-4994-B035-E1081439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143250"/>
            <a:ext cx="29718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B65A3F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4B3CD79-63C5-4A81-B1B5-E322E3AD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05175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Agent + governance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520CEA0-430B-4CE1-96CE-09F590F2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029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E1C2114-C093-47CD-9E80-BFE19517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02907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04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C5E4B87-8133-45EF-827F-E0100088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005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chat + voice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C68C744-088B-4EDB-88D0-E4882902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37197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0CA8A6B-F55A-4B38-8747-824ADDA9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5720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877B008-E51A-4D1C-B602-F106EC9B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57200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C4D13E8-33CB-43D7-A413-69306C08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5434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79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Document + image intake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ECA0E2-F981-481C-B02F-507187F5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91490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FF621A0-0ACC-438D-A428-6403A01F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114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7DAC16D-FCAF-4774-87B3-901197F2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11492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0C57E00-8628-4330-B660-4E0A37DC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0863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Integrations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BB134C5-F69A-42F7-B124-8484FE79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5782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954DF3D-80E2-488C-93BC-ECF09F3B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657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03E55C9-0B96-4B49-86BD-C7206A93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65785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7CA4A81-319A-49F1-86B9-0A6608EF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6292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903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Consent + privacy + evals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7C75334-40EF-49A1-A61D-6F4FDC5A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6572250"/>
            <a:ext cx="96202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7FDA710-2430-4123-A7AF-9746CF1B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6677025"/>
            <a:ext cx="923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Foundation: sign-in and roles · recipient scope · export and deletion · approval history · audit trail</a:t>
            </a:r>
          </a:p>
        </p:txBody>
      </p:sp>
    </p:spTree>
    <p:extLst>
      <p:ext uri="{BB962C8B-B14F-4D97-AF65-F5344CB8AC3E}">
        <p14:creationId xmlns:p14="http://schemas.microsoft.com/office/powerpoint/2010/main" val="9024759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E53A0-0A31-41EA-AD76-4D92CE59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493FF-AA54-42F7-AB1E-57932BDE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A459FC-5947-4D4D-96B0-4BB44864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F95CC6-FEBE-4B6B-99AB-D3B5CC02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PROTOTYPE JOURNEY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DE6DC-91F6-4DD1-87BA-988C968A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4D397-BC1B-4C18-8372-07AD0AB7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06 / 16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98758e330f4e2f"/>
          <a:stretch xmlns:a="http://schemas.openxmlformats.org/drawingml/2006/main"/>
        </p:blipFill>
        <p:spPr>
          <a:xfrm xmlns:a="http://schemas.openxmlformats.org/drawingml/2006/main">
            <a:off x="1100667" y="781050"/>
            <a:ext cx="11514667" cy="647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035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2B8B8D-7D39-4BC5-971F-848DEE2C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BBBF5-0E0A-4E59-8A29-378DEE06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3D573-1185-4B1F-8166-4D537A0E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19931C-40BC-4E92-B55C-E441A818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GROUNDED CHAT · REVIEWABLE ACTIONS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1018C-AE27-422B-93A9-79F3741A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5A391-9A40-45A6-9539-9176B5B9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F3B10-2B6F-453D-B077-289A44F4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PROTOTYPE USABILITY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3A9C72-F778-4765-AEAC-75C4B199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Ask naturally. See the evidence.</a:t>
            </a:r>
          </a:p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Approve the exact next step.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8B197-36B3-4975-BA88-C02F7868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6238875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353A1-987C-4064-930D-05F5337C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B4D91-CC85-4C24-BD0E-0C1EC3E2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812AF4-B792-482A-9626-27DCBE8E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6232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answer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925C9D-7474-422D-9605-1E3B3CA8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74332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2303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LLM answers from the selected person’s current records and returns evidence 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9DD634-01C2-41D6-8342-BCFF4A07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6238875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F4C08D-E623-4CBD-B476-280188EA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243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80E92-CF7F-49B8-A2E9-D758B133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EBBD6E-AD33-49EB-B7AA-DF2FDFDE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52437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Action proposal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A15C4C-ABE3-42B5-89B7-4E8C79CB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90537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7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orchestrator converts the request into a scoped, validated preview. It does not write immediately.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A85154-01A0-417C-85FE-878561F9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238875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F2CF3E-C8BC-401F-8FB3-07663A88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864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B619C0-848D-4A5C-B028-2E73F636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054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14BE9A-88BC-4362-83FD-38085BCD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68642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Approval + outcome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D7ECA9-E2D3-4A51-9532-44839A05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606742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74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An authorized caregiver approves. Carestead executes once and records the result.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79c0e287eb46b3"/>
          <a:stretch xmlns:a="http://schemas.openxmlformats.org/drawingml/2006/main"/>
        </p:blipFill>
        <p:spPr>
          <a:xfrm xmlns:a="http://schemas.openxmlformats.org/drawingml/2006/main">
            <a:off x="7918914" y="2619375"/>
            <a:ext cx="3640797" cy="4476750"/>
          </a:xfrm>
          <a:prstGeom xmlns:a="http://schemas.openxmlformats.org/drawingml/2006/main" prst="roundRect">
            <a:avLst>
              <a:gd name="adj" fmla="val 2581"/>
            </a:avLst>
          </a:prstGeom>
        </p:spPr>
      </p:pic>
    </p:spTree>
    <p:extLst>
      <p:ext uri="{BB962C8B-B14F-4D97-AF65-F5344CB8AC3E}">
        <p14:creationId xmlns:p14="http://schemas.microsoft.com/office/powerpoint/2010/main" val="16193658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674E6-CC0E-4E54-9D49-25E2D1A0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CBC7B-5156-49FD-84DD-B555765F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71B4E5-EB6E-43C1-A981-373C216E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9D0EC-6369-469B-848C-58C67843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VOICE · MULTIMODAL INTAKE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A3C605-F963-4D2E-B456-F24A7C96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E4982F-A993-4BE6-9D39-4108C57E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E1831-C328-4FDF-92BE-F2E41AD5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VOICE + MULTIMODAL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F64AB0-A83B-4490-BB23-2203E11F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updates arrive in the format caregivers already have.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0C3A8-2DB9-4615-8F4C-56F7286C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Speak a request, type a note, or upload an image or PDF. Review structured changes before saving.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0dbccb91c4a41"/>
          <a:stretch xmlns:a="http://schemas.openxmlformats.org/drawingml/2006/main"/>
        </p:blipFill>
        <p:spPr>
          <a:xfrm xmlns:a="http://schemas.openxmlformats.org/drawingml/2006/main">
            <a:off x="636058" y="3143250"/>
            <a:ext cx="5757333" cy="3238500"/>
          </a:xfrm>
          <a:prstGeom xmlns:a="http://schemas.openxmlformats.org/drawingml/2006/main" prst="roundRect">
            <a:avLst>
              <a:gd name="adj" fmla="val 3529"/>
            </a:avLst>
          </a:prstGeom>
        </p:spPr>
      </p:pic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3a3a91eb934809"/>
          <a:stretch xmlns:a="http://schemas.openxmlformats.org/drawingml/2006/main"/>
        </p:blipFill>
        <p:spPr>
          <a:xfrm xmlns:a="http://schemas.openxmlformats.org/drawingml/2006/main">
            <a:off x="7508081" y="2857500"/>
            <a:ext cx="1843088" cy="3857625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C7A03-4014-4FBF-A1C1-F028FE43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143250"/>
            <a:ext cx="26670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1D0C4-89E0-413D-B750-8948BB23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3147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Voice interaction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02DA90-CE1F-4810-B1CE-AC55DE23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695700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517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Speech-to-text starts a grounded chat. Spoken replies are optional. Carestead stores transcript text, not raw microphone audio.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A68E8E-7A64-4D0F-BA02-BACDC6B2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10125"/>
            <a:ext cx="2667000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BC07E9-A258-40D4-98A5-DBF45D04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9815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Multimodal extraction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BD70BB-557E-4C0B-937F-765C8EF7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362575"/>
            <a:ext cx="2286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889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model extracts dates, contacts, follow-ups, facts, and uncertainty. The agent validates scope and asks for approval before saving.</a:t>
            </a:r>
          </a:p>
        </p:txBody>
      </p:sp>
    </p:spTree>
    <p:extLst>
      <p:ext uri="{BB962C8B-B14F-4D97-AF65-F5344CB8AC3E}">
        <p14:creationId xmlns:p14="http://schemas.microsoft.com/office/powerpoint/2010/main" val="19463434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618195-20E3-464F-889D-B00BBBB2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DD922A-9AED-4107-865D-FA1E557B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F2983C-6CBC-4533-B139-660E7FD2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C5180-6D3D-44FF-BF46-E566CC0D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AGENT CAPABILITY TYPES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FA353-8F0D-4D28-93B2-B7CB7FC4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0D5DC-5B5E-4527-893C-8E222B34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87E14-FBF8-4F3B-A549-F72D3C24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AGENTIC DESIGN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B9544D-15B0-4003-A9AE-A0701307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Not every workflow uses AI the same way.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AF2C4-9F04-43E6-BEE2-AF85E0CA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applies model intelligence selectively and keeps safety-critical control in deterministic code.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A7675-D5EE-46C1-A854-7666C9FB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5857875" cy="15240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F0ADD8-BCD4-42C9-B06B-69F4F905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LLM-assisted workflow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3CDED4-A10B-457D-BC56-BBDAF9C7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5A222E-2CCC-4007-8D93-2319D347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733800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Extracts, summarizes, ranks, or drafts.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925D8C-FBC3-4A4D-AEEE-BD5EE660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43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CONTROL LAYER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FD2396-6F58-4294-A912-AE0F5029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105275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Validates, clarifies, scopes, and saves after review.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CDE78-4D1E-4728-B7B2-91C2CA2D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143250"/>
            <a:ext cx="5857875" cy="15240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80D0BA-EDD6-42D2-BF84-BD5A0A42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314700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Full agentic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87427F-AF23-4602-B7A6-94D29C49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762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25EBCD-6883-454E-BB9C-D5DC48A0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733800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Interprets the goal and explains options.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28C0E5-6B7D-463F-B61F-F8C4CC4C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143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CONTROL LAYER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747BEE-240C-4583-8CE0-597C8AF2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105275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Retrieves, plans, calls tools, requests approval, and verifies.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A99EDC-41FA-4E1F-9C27-4D0647C1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5857875" cy="15240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9ABE13-B12D-4D51-B720-21D3C2B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76825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read-only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DA158F-95F5-496A-AE9C-E47980BC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95D81A-8754-41F1-AB4A-2A684CF8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95925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Produces an evidence-backed answer or summary.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65634A-346A-41FC-B192-A9628B7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055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CONTROL LAYER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1AC212-6399-42E4-AD93-CED730E7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86740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Retrieves recipient-scoped records and checks citations.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192E12-19DC-47CE-AB85-2FD51619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905375"/>
            <a:ext cx="5857875" cy="15240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EEF3E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248A22-93FE-41F5-837B-4E6ACF63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076825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Deterministic agent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F86DFF-014C-4BCF-8150-C72CD1C2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5245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7341E-39E1-4A14-AEC7-A4D4C657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495925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Optional explanation only.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1F8552-E629-4BC7-B375-5A35EB52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9055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CONTROL LAYER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D12193-CF3F-4A70-BDF0-CE5060E1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86740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0072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Rules detect risks, enforce policy, select tools, and trace outcomes.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3E592C-E8AF-432A-9C76-008B5E05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724650"/>
            <a:ext cx="9334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4802A9-8909-443C-8785-43F0649A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781800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Interaction modes: text · voice transcript · spoken reply · image · PDF · structured records</a:t>
            </a:r>
          </a:p>
        </p:txBody>
      </p:sp>
    </p:spTree>
    <p:extLst>
      <p:ext uri="{BB962C8B-B14F-4D97-AF65-F5344CB8AC3E}">
        <p14:creationId xmlns:p14="http://schemas.microsoft.com/office/powerpoint/2010/main" val="456493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D954442-6C87-4438-A13D-5E4FF82F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8A259E-A092-424A-978E-9637242E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2C93C-4854-4795-ADD9-82396712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364328-9D2C-43B3-9FDD-243B0B4F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AGENT WORKFLOWS IN THE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13526E-1C2E-4B55-B19B-A842E8CF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ED187-0B2A-4041-AE57-A4299F0D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3ECBF-69CD-4324-85AB-20D62703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CAPABILITY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A0496-86D1-4FA3-8CDE-08E83C7F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Eight workflows. Four capability patterns.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85F7D7-ADC8-4F95-B1C2-07754EFE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Each workflow states what the model contributes and what the agent controls.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53B8D8-AF02-4ED9-8CC9-0E570C4F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C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551CD3-F282-4A1E-9736-A783DEF3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718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care chat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DA188-3678-46AD-A866-63894DCD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24200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3BC303-D463-4CB8-8712-DDCE2132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81350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HYBRID AGENTIC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D2EF60-557B-4D9B-888A-8AE9936B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052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understand and synthesize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F57911-FBF3-4265-A78D-5A0C6DBF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86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retrieve, cite, route, approve, execute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88FAC-9E7D-42B7-9CED-65256AB2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29075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18DB5-5883-4EEF-8E1E-92FD7ACF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529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Conflict resolution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5951CA-9F90-4D8A-8D10-C25BCD58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05275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9B51C-603E-4231-8650-AA211A96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62425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FULL AGENTIC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9E1882-4C9B-434C-B555-F3A0B098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rank and explain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DCB3B4-8630-481C-AE2F-6FA7BD1F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672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simulate, validate, reschedule, 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12B055-D65E-4F44-8890-C2887E01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10150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C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C18590-4D3B-48CF-B4D6-4D22F83C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3397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Care-update extraction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94B2E7-D63C-4804-BD23-D8B2CFD7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86350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6E5930-3676-496E-97A5-562AD2D7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43500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LLM ASSISTED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0BC421-3BF6-4AB5-8982-0F12EB9A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46735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extract intent and details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3BF78B-E7A9-401F-B1A0-27B6DD02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4483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clarify, validate, match, approve, save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5FD510-A9F4-4D74-BD4C-4BE3F01E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91225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F08EEA-2B8C-4730-B176-180BDA2D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115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Intelligent handover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C68EF5-2450-4AFE-9D6F-0C614F12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067425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F157DE-1611-4776-B3A6-90E25DE9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124575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GROUNDED READ ONLY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A3D3C3-3D48-4F6E-81E5-C1BDEBB3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4484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evidence-backed summary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3BFBED-B2DC-4F06-8AFD-B16C3F5F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42937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scoped retrieval and citation checks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A49D93-025F-4917-849A-6AE898D1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C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34BC0E-B52C-4F49-B5B2-2BE9165C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718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Adaptive care-plan builder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13B1F4-91CB-4561-A1D5-87FF41F7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3124200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8967-EA87-4432-9372-BA52486A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3181350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LLM PLANNING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3A1CB3-B076-4FD7-9A0E-A396F9C1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052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propose plan and missing details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658CC9-9C43-40DA-A4C9-7C424B5D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486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isolate, validate, approve, create tasks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1393D4-8A43-4926-AF43-1ACCA6F6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29075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DE3111-72C0-4774-8170-0A072F06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529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Communication composer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23E9F6-6B12-4D47-A1D7-C2853D15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105275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EB0D33-02C7-453F-B910-544AFB4E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162425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LLM + DELIVERY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E96717-3A3C-4C2E-8571-9A4F3089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862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draft and adapt tone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C617A-28E4-4224-A155-3D86B255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4672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audience, channel, approval, receipt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31983C5-A78D-4D93-8B95-B49A40E8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10150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C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82B442-91C1-47FB-8D75-01CCD076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13397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Document and image intake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8A21183-C983-4019-8A69-29A47CC8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086350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7F0063-9F9D-4928-8315-DEB0F589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143500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MULTIMODAL LLM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2D7CFBE-159E-423E-9DD8-EEA9485C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46735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extract fields and uncertainty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C050D37-AF24-4A8B-8C7D-C90CFAA8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54483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consent, validate, approve, track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957206-02AA-4DE1-B1B2-C373A8D5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991225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F8EFCB7-8600-4892-ACCA-9819D17A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115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Risk checks and memory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CA8971E-E1B0-4D74-AEB3-7BA48323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067425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13F91EA-8A27-40EE-82AA-B192AC44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6124575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DETERMINISTIC AGENT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939A9BD-72F5-46B1-816F-BBF424CF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4484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optional explanation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A47BBCD-B828-4CFF-A5D2-E1C7CE76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42937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rules, retrieval, policy, traces</a:t>
            </a:r>
          </a:p>
        </p:txBody>
      </p:sp>
    </p:spTree>
    <p:extLst>
      <p:ext uri="{BB962C8B-B14F-4D97-AF65-F5344CB8AC3E}">
        <p14:creationId xmlns:p14="http://schemas.microsoft.com/office/powerpoint/2010/main" val="1950709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356B6-B392-48FD-9EB2-CA210B25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66BAA6-C181-490F-B41F-F5F2015F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5B1433-DC2E-4F03-BEC5-800C47CA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C9FB1-534F-4364-A222-E5FDA20C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TECHNICAL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D0E2D-CE40-4080-912E-8F8B3F32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295F0-155C-4111-98E2-84A8BC52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11 / 16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005b5edf140eb"/>
          <a:stretch xmlns:a="http://schemas.openxmlformats.org/drawingml/2006/main"/>
        </p:blipFill>
        <p:spPr>
          <a:xfrm xmlns:a="http://schemas.openxmlformats.org/drawingml/2006/main">
            <a:off x="1100667" y="762000"/>
            <a:ext cx="11514667" cy="647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7835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72548-E4DB-4780-8309-3848B613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0207BA-92CE-4D89-BE0E-281A5B1B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7CE1EF-82B3-4C2C-9DC2-FC2040CF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46271-07A5-4127-A24D-E70A2858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DECISION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14DA1-163D-441A-AEEC-EEC803A1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EDDDA-D279-4B4C-9405-E69EC80B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12 / 16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16353a6c224e6d"/>
          <a:stretch xmlns:a="http://schemas.openxmlformats.org/drawingml/2006/main"/>
        </p:blipFill>
        <p:spPr>
          <a:xfrm xmlns:a="http://schemas.openxmlformats.org/drawingml/2006/main">
            <a:off x="1101566" y="762000"/>
            <a:ext cx="11512868" cy="647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1753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D88A40-8C44-473F-8C72-63B7EB1F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3821B-AEA0-4DEB-9CA7-8A9B3D84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B68751-D4EA-47BC-B24E-3D6884F8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F86C2-CC24-4137-947C-387618E5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BOUNDED AUTONOMY · TOOL SURFACE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5E73B-99AE-495A-9D4A-D3D3B7A3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1C7AE4-B0A6-46F9-9CE0-229718D5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E78D3F-6E32-4D7F-9DE0-08D6988A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BOUNDED AUTONOMY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D1B31-CD55-4750-834D-5AD66A5E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system can reason broadly.</a:t>
            </a:r>
          </a:p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It can act only through narrow, reviewable tools.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AAE9E-9C69-4236-A286-AAFDBBD6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762375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EEF3E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9CBB5E-E7FE-42B3-81F3-A66F3517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 contributes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693EA-8AA8-455E-949D-7CA6627E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3381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Interpret intent · extract facts · summarize evidence · draft language · rank already-feasible options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C14F0A-46A4-4E91-90F3-BB6BEE61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43250"/>
            <a:ext cx="3762375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413B45-BF4A-488B-BB43-CD7004B4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31470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Orchestrator decides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4723F-32E8-4548-BB4B-65574B0D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95700"/>
            <a:ext cx="3381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Recipient scope · tool routing · role checks · consent · risk rules · feasibility · idempotency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53283-0F18-4386-81B8-E5C807B8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43250"/>
            <a:ext cx="3762375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E2D470-11D7-4FAA-B012-BDC25F04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1470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Caregiver decides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25BDD7-9A8C-478B-ACC6-5B9BCA3B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95700"/>
            <a:ext cx="3381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Approve, edit, or reject calendar changes, assignments, messages, plan changes, and other consequential writes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92BA9-052F-4ADB-9379-23375F88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E059F8-C342-4299-A3B5-B4DD0D22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972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Profile + plan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ECE57D-EDAD-4318-83D5-41D4736A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33400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D22467-5F9F-4078-94EF-AA2B0DF3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41972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Responsibilities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3053AC-E0FC-4F58-A23B-8A8967A6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3400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16EFBA-39DD-4EA3-9D27-FB803475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1972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Calendar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47F480-249A-4984-B759-8C74EB60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33400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D71EDD-2BCE-4B77-87F1-0D6D132C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1972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Circle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42D6B2-3AEE-42D4-8CD3-B7805BE5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D5854F-5B6B-4BBE-BFC2-4B5E0C96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1027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Handover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E624C1-568E-4043-BBBF-A6749A54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92455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A64DB1-7688-43BA-8F99-440F6393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01027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Notifications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36A597-2B09-43F1-BF4F-BB47F473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2455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47A2E1-90D1-4D6A-9181-C26A1DC9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601027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Memory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28AD0D-4460-4A1D-B2C9-0FCB6B90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92455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5ADE30-3C95-406E-8C16-E62F0438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601027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Audit + evals</a:t>
            </a:r>
          </a:p>
        </p:txBody>
      </p:sp>
    </p:spTree>
    <p:extLst>
      <p:ext uri="{BB962C8B-B14F-4D97-AF65-F5344CB8AC3E}">
        <p14:creationId xmlns:p14="http://schemas.microsoft.com/office/powerpoint/2010/main" val="8319587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453A3BC-9B1A-4DD2-BA5A-611B37D2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8E8B01-7A13-458F-92C1-513FDE6A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F16B67-3B9E-412A-8B6C-AF7BEBC6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ED51A-61E9-4D12-8E21-128AF688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EVALUATION STRATEGY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C8B0BA-40EB-41E1-9C3B-C611BBD6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BAB8D4-F0BB-450C-9E82-7F010789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D8E122-4E2F-410A-A273-E390234E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EVALUATION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F6730-3F76-465F-B5AC-F5BCD4BF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Evaluate every step, not only the final answer.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A676E-7AA3-477A-ADF7-90376303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Each synthetic scenario has known evidence, policy, action, and outcome expectations.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73B85-43F8-426E-BE39-31AF584A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A86E2E-5E13-4EAE-A93B-9660C634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4CC53-58A3-46AA-A6E3-16812C15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3E5B6-8D85-430E-BD04-D206957D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Scenario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C3B5B4-52AD-473F-9C52-00D4CD3C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Known input + outcome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2B4BFF-BCC2-41E4-8CE2-1214C7D2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65D6A-7350-4830-A057-D8EE9B2A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D87745-7EF4-4AF8-A5E1-53D2599E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E20C0D-081B-4353-A593-B4F878D4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2CA68-E0FD-42DB-B2C3-D5974696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Retrieve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F88BD0-4726-4058-BDE9-965C9968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Scoped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CA7D36-C33E-4652-86C6-BFDCD66E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EE0D0D-5F10-479E-BBF9-E36C0BB6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EC177-F69E-4426-9B9D-AEF82D06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03E385-E2EB-4948-8D18-0DEA42B4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9C1494-DC4E-45CA-9CF8-945E8057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Decide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8713B6-3BAA-4B62-9560-79E6C8F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Risk or clarification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ADB37F-7B02-4D8E-9942-01B628B3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96C294-E174-42F5-99B6-1D1FE20F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16074E-B4C7-4E7F-8938-B44DB25B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5A3F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1DC309-1800-4687-BFC4-37872460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AE6EE3-1176-43AA-B902-1DDC155E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Constrain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B59029-2F75-408A-BE02-F26F67F3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Policy + approval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D4CDF8-5C4A-4718-B09E-0F48F38C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2DB2E3-D002-41E2-B71F-F1DF25F8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D1AD5A-65F6-41F8-94AD-DEE18F18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FA9C53-01B8-4EF5-A7C4-07B3C9C7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93CDB2-4183-4793-8F9C-474CA106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Act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C1C410-71A1-4BD4-8997-B025F8A1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Allowed tool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3D4BEA-AC7E-44E9-A18B-B7724525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D9FF8F-5BA5-4CA9-B18F-B6F4E830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FD3358A-1621-4AF5-B0A8-15CE6DCB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E5CAD84-2BC8-4DF1-8BE6-313426C7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1DF4E9-53AD-490C-8225-973806DD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0142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Verify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23FB0C7-2E26-4E80-A0A6-72929464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0142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Recorded outcome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05F786B-E543-474F-AC7D-835D053C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385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EIGHT SCORED DIMENSIONS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FAE91E3-AB72-4B7A-89F0-8603F00A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4335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00E81B-27F8-4600-BF79-2B1D019A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57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Retrieval recall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A73E8FD-C061-4C80-8712-BEC03495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32435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9521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Find every expected recipient-scoped record.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8188BCE-FC74-4725-A45F-CCDA3411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4335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4F8F5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38B489-9D80-41F4-870D-9B9A146E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57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Retrieval precision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333133-F5ED-4171-8732-69BC0B76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2435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229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Exclude irrelevant and other-recipient records.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B4FCE1-FF50-4993-A6CB-C8773A8F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94335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3AB5455-FB4E-4FA8-8DE5-76548A23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057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Grounding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F10CB23-6BFC-4B44-AD06-45B21C08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32435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946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Tie factual claims and decisions to evidence IDs.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C0ADE2-D698-4701-B862-C66B4B6C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94335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4F8F5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73CE501-5971-465E-8312-826AC641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057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Decision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64C776C-9DD4-47D6-9827-DD30F87A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2435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979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Choose the correct risk, action class, or clarification.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A62ECF0-EDCE-40A1-A9E8-FE5EEF2E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3870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8573681-2B1E-4BD0-8FCE-23661B6F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530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Policy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7FC9257-7AD7-4058-ADC3-9BBACFCB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21970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4846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Apply roles, consent, approval, and non-clinical limits.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2110CE6-5585-4D9A-8710-9214F2F1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3870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4F8F5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DA41C1B-4181-4C10-87DF-94618D42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530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Action + tool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9C4A61F-9D2A-4061-853C-1E216A2F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21970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404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Select an allowed tool with valid scoped arguments.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703FDEC-B5BC-4103-9EB3-1BF878EC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83870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7270669-07EA-4703-9817-C3104E43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9530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Outcome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DAE8425-BF8A-489A-83E8-8D4C95FD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21970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Verify success or report tool failure honestly.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5ACB1A8-CFC0-47F4-A637-FB0AE809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83870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A425D6E-5C89-4D6B-8627-0A809A2F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9530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Safety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3A28D23-69A6-4CA2-9354-A67E5207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21970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504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Preserve isolation, atomicity, and prohibited-action rules.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A74B551-5146-44EE-BFC2-F436386D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05500"/>
            <a:ext cx="122872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872D8D6-E108-4E32-99FD-76A8240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67425"/>
            <a:ext cx="119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104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A71EEB4-AE7E-4510-9394-C52C64A7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86525"/>
            <a:ext cx="1285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061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synthetic scenarios</a:t>
            </a:r>
          </a:p>
          <a:p xmlns:a="http://schemas.openxmlformats.org/drawingml/2006/main">
            <a:pPr algn="ctr">
              <a:def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16 risk + 88 trajectories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6A73CF3-5FDB-45F5-B5D3-8C58A148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6076950"/>
            <a:ext cx="19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7E"/>
          </a:solidFill>
          <a:ln xmlns:a="http://schemas.openxmlformats.org/drawingml/2006/main" w="0">
            <a:noFill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2A7AF45-7871-4794-869E-3A37CD4A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61341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8 workflows · 11 conditions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E4104B5-44AB-4C39-9A53-A860C4F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6477000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Text · chat · voice · image · tool failure · prompt injection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D0F7AD6-515D-497A-A413-A6A1E8F7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6076950"/>
            <a:ext cx="19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7E"/>
          </a:solidFill>
          <a:ln xmlns:a="http://schemas.openxmlformats.org/drawingml/2006/main" w="0">
            <a:noFill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03B7232-1382-49EA-8BF0-988A7AAC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61245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104 / 104 passed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165D6BF-8DF0-4F9A-8A0F-643DFA11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6486525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All eight dimensions = 100%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621D2AC-5C47-46B8-84E4-FEC02A69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6076950"/>
            <a:ext cx="19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7E"/>
          </a:solidFill>
          <a:ln xmlns:a="http://schemas.openxmlformats.org/drawingml/2006/main" w="0">
            <a:noFill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437F160-27B6-4D36-87BF-CA098E81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096000"/>
            <a:ext cx="1571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5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D1A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D1AF"/>
                </a:solidFill>
                <a:latin typeface="Avenir Next"/>
                <a:ea typeface="Avenir Next"/>
                <a:cs typeface="Avenir Next"/>
              </a:rPr>
              <a:t>Hard gate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D6B866E-5741-4675-80E6-99DA9E87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6438900"/>
            <a:ext cx="1762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2404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One policy or safety violation fails CI.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DC95201-3784-443B-80DD-998AF1A5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1245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8516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Synthetic regression benchmark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1EDF229-08DE-498F-95CE-1B995746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1905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636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Not clinical validation or measured caregiver impact.</a:t>
            </a:r>
          </a:p>
        </p:txBody>
      </p:sp>
    </p:spTree>
    <p:extLst>
      <p:ext uri="{BB962C8B-B14F-4D97-AF65-F5344CB8AC3E}">
        <p14:creationId xmlns:p14="http://schemas.microsoft.com/office/powerpoint/2010/main" val="16068414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0A3D4C-8AE7-46F2-8F08-F521F762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AD24B9-C53D-42C9-A7CC-D4FE0B83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A066C2-6E5E-42CA-AACD-B5B3AB4E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4551C-6CC0-42C2-9092-5728E7D3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MOBILE DEPLOYMENT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9A6EA-4E04-4F8D-B718-E68C48D7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C035B-96A3-49D8-9FC5-6D532C31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BB300-C590-412A-9E73-15079328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MOBILE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5C95A-E48E-4785-A279-C5BCE211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same care workspace is moving to iPhone.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04A052-344D-4494-B2A9-7ED97753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Capacitor/iOS pilot reuses the responsive Carestead UI, shared types, and the same authenticated backend APIs.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6c20bd4264252"/>
          <a:srcRect xmlns:a="http://schemas.openxmlformats.org/drawingml/2006/main" l="0" t="14581" r="0" b="1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4875" y="2857500"/>
            <a:ext cx="2571750" cy="3857625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44AEB-4C26-4339-8F7F-AE3AC1C9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19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Current iOS simulator 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222D47-D911-47B9-8519-672FAC42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171950"/>
            <a:ext cx="66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971"/>
          </a:bodyPr>
          <a:lstStyle xmlns:a="http://schemas.openxmlformats.org/drawingml/2006/main"/>
          <a:p xmlns:a="http://schemas.openxmlformats.org/drawingml/2006/main">
            <a:pPr algn="ctr">
              <a:defRPr sz="40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40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45FB4-1547-4623-A516-64754300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48000"/>
            <a:ext cx="36195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D6019E-DC48-4C55-9F8F-1FCCDDA5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2194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Shared application layer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626EE-6DB4-4E79-89E9-B3CD494D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600450"/>
            <a:ext cx="323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Web and mobile import the same dashboard, chat, calendar, account flows, styles, and API types.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0374EA-C60C-46ED-B3DF-922671E8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36195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EEF3E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096470-CFF9-4240-B23D-A2E8D39F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9339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Native adapter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BD7509-BCA8-4727-895A-FAF4C678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5314950"/>
            <a:ext cx="323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Restricted HTTPS API bridge plus native speech recognition and synthesis, with native share support.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B436BB-2522-4FCF-8462-FA40D658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48000"/>
            <a:ext cx="38100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875639-9B76-456C-8FE3-9DFDF51B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19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Already checked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E9AED5-0CF4-45C8-9230-05784A1E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600450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Web/mobile builds · browser integration · unsigned iOS simulator build · transport and config tests.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E15382-D6AC-4CC6-A08D-830F2DA8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62500"/>
            <a:ext cx="38100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22784-349E-4E99-B792-0C874C42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933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Before distribution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727058-005A-4DCF-89AC-309E1B5F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14950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Signed-device sessions · native accessibility · Google OAuth return · native push · icon/store/privacy review.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04EE71-1680-47CB-9F29-E53F5609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524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STATUS · Integration in progress. Pilot, not an App Store release.</a:t>
            </a:r>
          </a:p>
        </p:txBody>
      </p:sp>
    </p:spTree>
    <p:extLst>
      <p:ext uri="{BB962C8B-B14F-4D97-AF65-F5344CB8AC3E}">
        <p14:creationId xmlns:p14="http://schemas.microsoft.com/office/powerpoint/2010/main" val="6902580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23F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6B034C-2146-4028-9D32-32913184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9D4285-A1DB-4533-854A-86FF24CD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DC7F9-75C2-42D4-AE7A-FED1F00D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BD201-7D86-4D13-9369-8E1D5F5D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REAL-WORLD IMPACT · THE PROMISE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9ACDE-3701-4FBC-88EC-610D6C9F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4D451B-E994-40D9-9368-AB5FCF9C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16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2E0A3-0AEB-4D87-9A26-6B97F865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A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CB279-6DDC-4BBB-8BB9-9F586548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REAL-WORLD IMPACT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FB195C-0C1D-47E2-BE7A-9099B0A4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1334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68"/>
          </a:bodyPr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 scattered care story becomes</a:t>
            </a:r>
          </a:p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 safe, shared next step.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3649A-86E5-418A-96AF-2E75B17E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5667375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E9257D-2CB5-4AB1-B7D8-E0D4DABD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Before Carestead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690A8-F3A5-4317-B913-D665A319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Fragmented information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Repeated reconstruction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Unclear responsibility ownership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Follow-up and handover gaps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136DE-315D-45B6-91DA-0067DA89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43250"/>
            <a:ext cx="5667375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1B0E5-3269-46A0-B444-5CCFD96D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14700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With Carestead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4BBF29-918D-4FC7-ACB5-4CD67963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95700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Shared recipient context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Named ownership and reviewable actions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Visible outcomes and audit history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Faster, clearer caregiver handover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B4DE3F-FC3F-4A77-8B39-6E24BA75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PILOT MEASURES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CABF24-E374-42DC-B8FA-98F1C32E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816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Coordination time · unresolved responsibilities · unnecessary alerts · handover completeness · caregiver confidence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DA65A9-C300-48EA-ABCD-1F30A37E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10096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DC7BC5-0A24-4907-A728-92F590E1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341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5309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Less to carry. More care to give.</a:t>
            </a:r>
          </a:p>
        </p:txBody>
      </p:sp>
    </p:spTree>
    <p:extLst>
      <p:ext uri="{BB962C8B-B14F-4D97-AF65-F5344CB8AC3E}">
        <p14:creationId xmlns:p14="http://schemas.microsoft.com/office/powerpoint/2010/main" val="21199081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2026-09-16T13:24:36.8350000Z</dcterms:created>
  <dcterms:modified xsi:type="dcterms:W3CDTF">2026-09-16T13:24:36.8350000Z</dcterms:modified>
</coreProperties>
</file>