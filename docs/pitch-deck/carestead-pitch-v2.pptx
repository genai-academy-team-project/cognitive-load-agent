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5ebc5a878554276" /><Relationship Type="http://schemas.openxmlformats.org/officeDocument/2006/relationships/extended-properties" Target="/docProps/app.xml" Id="Rfe39fb93a8ba4262" /><Relationship Type="http://schemas.openxmlformats.org/officeDocument/2006/relationships/officeDocument" Target="/ppt/presentation.xml" Id="Rec575383eac145d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a4fb4aca8ca467c"/>
  </p:sldMasterIdLst>
  <p:notesMasterIdLst>
    <p:notesMasterId xmlns:r="http://schemas.openxmlformats.org/officeDocument/2006/relationships" r:id="R44da78f91d3342c6"/>
  </p:notesMasterIdLst>
  <p:sldIdLst>
    <p:sldId xmlns:r="http://schemas.openxmlformats.org/officeDocument/2006/relationships" id="256" r:id="R6f2747eafe2e4a6a"/>
    <p:sldId xmlns:r="http://schemas.openxmlformats.org/officeDocument/2006/relationships" id="257" r:id="R0c8e037a111449c4"/>
    <p:sldId xmlns:r="http://schemas.openxmlformats.org/officeDocument/2006/relationships" id="258" r:id="Rd800fde8aa3f4157"/>
    <p:sldId xmlns:r="http://schemas.openxmlformats.org/officeDocument/2006/relationships" id="259" r:id="R5cc13eeee66d48a0"/>
    <p:sldId xmlns:r="http://schemas.openxmlformats.org/officeDocument/2006/relationships" id="260" r:id="R9c3b5000c7f04f19"/>
    <p:sldId xmlns:r="http://schemas.openxmlformats.org/officeDocument/2006/relationships" id="261" r:id="R0e8f0b8078a0450a"/>
    <p:sldId xmlns:r="http://schemas.openxmlformats.org/officeDocument/2006/relationships" id="262" r:id="R6e4aa56936c64517"/>
    <p:sldId xmlns:r="http://schemas.openxmlformats.org/officeDocument/2006/relationships" id="263" r:id="R8f051da74bac4c7c"/>
    <p:sldId xmlns:r="http://schemas.openxmlformats.org/officeDocument/2006/relationships" id="264" r:id="R964c5649130b416c"/>
    <p:sldId xmlns:r="http://schemas.openxmlformats.org/officeDocument/2006/relationships" id="265" r:id="R038c99b9f5ad4c33"/>
    <p:sldId xmlns:r="http://schemas.openxmlformats.org/officeDocument/2006/relationships" id="266" r:id="Rd0298317194943fd"/>
    <p:sldId xmlns:r="http://schemas.openxmlformats.org/officeDocument/2006/relationships" id="267" r:id="R013aca78c05b45d0"/>
    <p:sldId xmlns:r="http://schemas.openxmlformats.org/officeDocument/2006/relationships" id="268" r:id="R66644c7fc5494143"/>
    <p:sldId xmlns:r="http://schemas.openxmlformats.org/officeDocument/2006/relationships" id="269" r:id="R66d3f754994e451e"/>
    <p:sldId xmlns:r="http://schemas.openxmlformats.org/officeDocument/2006/relationships" id="270" r:id="R1e6b8f409db24050"/>
    <p:sldId xmlns:r="http://schemas.openxmlformats.org/officeDocument/2006/relationships" id="271" r:id="R71011a50eda14fa6"/>
  </p:sldIdLst>
  <p:sldSz cx="13716000" cy="771525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895f24bdfeb4930" /><Relationship Type="http://schemas.openxmlformats.org/officeDocument/2006/relationships/slideMaster" Target="/ppt/slideMasters/slideMaster1.xml" Id="R2a4fb4aca8ca467c" /><Relationship Type="http://schemas.openxmlformats.org/officeDocument/2006/relationships/notesMaster" Target="/ppt/notesMasters/notesMaster1.xml" Id="R44da78f91d3342c6" /><Relationship Type="http://schemas.openxmlformats.org/officeDocument/2006/relationships/presProps" Target="/ppt/presProps.xml" Id="R778e28ec152f4143" /><Relationship Type="http://schemas.openxmlformats.org/officeDocument/2006/relationships/tableStyles" Target="/ppt/tableStyles.xml" Id="Raef0b9f06d364a38" /><Relationship Type="http://schemas.openxmlformats.org/officeDocument/2006/relationships/slide" Target="/ppt/slides/slide1.xml" Id="R6f2747eafe2e4a6a" /><Relationship Type="http://schemas.openxmlformats.org/officeDocument/2006/relationships/slide" Target="/ppt/slides/slide2.xml" Id="R0c8e037a111449c4" /><Relationship Type="http://schemas.openxmlformats.org/officeDocument/2006/relationships/slide" Target="/ppt/slides/slide3.xml" Id="Rd800fde8aa3f4157" /><Relationship Type="http://schemas.openxmlformats.org/officeDocument/2006/relationships/slide" Target="/ppt/slides/slide4.xml" Id="R5cc13eeee66d48a0" /><Relationship Type="http://schemas.openxmlformats.org/officeDocument/2006/relationships/slide" Target="/ppt/slides/slide5.xml" Id="R9c3b5000c7f04f19" /><Relationship Type="http://schemas.openxmlformats.org/officeDocument/2006/relationships/slide" Target="/ppt/slides/slide6.xml" Id="R0e8f0b8078a0450a" /><Relationship Type="http://schemas.openxmlformats.org/officeDocument/2006/relationships/slide" Target="/ppt/slides/slide7.xml" Id="R6e4aa56936c64517" /><Relationship Type="http://schemas.openxmlformats.org/officeDocument/2006/relationships/slide" Target="/ppt/slides/slide8.xml" Id="R8f051da74bac4c7c" /><Relationship Type="http://schemas.openxmlformats.org/officeDocument/2006/relationships/slide" Target="/ppt/slides/slide9.xml" Id="R964c5649130b416c" /><Relationship Type="http://schemas.openxmlformats.org/officeDocument/2006/relationships/slide" Target="/ppt/slides/slide10.xml" Id="R038c99b9f5ad4c33" /><Relationship Type="http://schemas.openxmlformats.org/officeDocument/2006/relationships/slide" Target="/ppt/slides/slide11.xml" Id="Rd0298317194943fd" /><Relationship Type="http://schemas.openxmlformats.org/officeDocument/2006/relationships/slide" Target="/ppt/slides/slide12.xml" Id="R013aca78c05b45d0" /><Relationship Type="http://schemas.openxmlformats.org/officeDocument/2006/relationships/slide" Target="/ppt/slides/slide13.xml" Id="R66644c7fc5494143" /><Relationship Type="http://schemas.openxmlformats.org/officeDocument/2006/relationships/slide" Target="/ppt/slides/slide14.xml" Id="R66d3f754994e451e" /><Relationship Type="http://schemas.openxmlformats.org/officeDocument/2006/relationships/slide" Target="/ppt/slides/slide15.xml" Id="R1e6b8f409db24050" /><Relationship Type="http://schemas.openxmlformats.org/officeDocument/2006/relationships/slide" Target="/ppt/slides/slide16.xml" Id="R71011a50eda14fa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da868d917ac4b0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24613c9eabf42a8" /><Relationship Type="http://schemas.openxmlformats.org/officeDocument/2006/relationships/notesMaster" Target="/ppt/notesMasters/notesMaster1.xml" Id="R7197c7d3a2c04ae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0e338d2215547a7" /><Relationship Type="http://schemas.openxmlformats.org/officeDocument/2006/relationships/notesMaster" Target="/ppt/notesMasters/notesMaster1.xml" Id="R4be882a9536c4c2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adb1318fb0c4135" /><Relationship Type="http://schemas.openxmlformats.org/officeDocument/2006/relationships/notesMaster" Target="/ppt/notesMasters/notesMaster1.xml" Id="Rd07aa18e2b74453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8f5c2e2fdf54779" /><Relationship Type="http://schemas.openxmlformats.org/officeDocument/2006/relationships/notesMaster" Target="/ppt/notesMasters/notesMaster1.xml" Id="Rbcd2df74f91648f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e6092db485b490d" /><Relationship Type="http://schemas.openxmlformats.org/officeDocument/2006/relationships/notesMaster" Target="/ppt/notesMasters/notesMaster1.xml" Id="R795b5d50c8d348c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7a0da783d2d4c3c" /><Relationship Type="http://schemas.openxmlformats.org/officeDocument/2006/relationships/notesMaster" Target="/ppt/notesMasters/notesMaster1.xml" Id="Ra0c3f1ee4d8448c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c9125337b9f47e1" /><Relationship Type="http://schemas.openxmlformats.org/officeDocument/2006/relationships/notesMaster" Target="/ppt/notesMasters/notesMaster1.xml" Id="R45239d962ba84ee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162db678aad4abd" /><Relationship Type="http://schemas.openxmlformats.org/officeDocument/2006/relationships/notesMaster" Target="/ppt/notesMasters/notesMaster1.xml" Id="R860f537548ba43b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27d192b0eea45a7" /><Relationship Type="http://schemas.openxmlformats.org/officeDocument/2006/relationships/notesMaster" Target="/ppt/notesMasters/notesMaster1.xml" Id="Re520904e6a594ea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3ccf66d0eda4d1f" /><Relationship Type="http://schemas.openxmlformats.org/officeDocument/2006/relationships/notesMaster" Target="/ppt/notesMasters/notesMaster1.xml" Id="R46dbad11018b48b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7ee7e9602334303" /><Relationship Type="http://schemas.openxmlformats.org/officeDocument/2006/relationships/notesMaster" Target="/ppt/notesMasters/notesMaster1.xml" Id="Rc069ed2bc1494c4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14582e4dfec4cfa" /><Relationship Type="http://schemas.openxmlformats.org/officeDocument/2006/relationships/notesMaster" Target="/ppt/notesMasters/notesMaster1.xml" Id="Ra12076a3a2b54a1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2d960bc21d54a16" /><Relationship Type="http://schemas.openxmlformats.org/officeDocument/2006/relationships/notesMaster" Target="/ppt/notesMasters/notesMaster1.xml" Id="Re9991f87aab141b7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6e2500e6f674575" /><Relationship Type="http://schemas.openxmlformats.org/officeDocument/2006/relationships/notesMaster" Target="/ppt/notesMasters/notesMaster1.xml" Id="R7442caad4e8a4778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0316ae953d304eda" /><Relationship Type="http://schemas.openxmlformats.org/officeDocument/2006/relationships/notesMaster" Target="/ppt/notesMasters/notesMaster1.xml" Id="Ra545deb81c9348b7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3010ca714c214a70" /><Relationship Type="http://schemas.openxmlformats.org/officeDocument/2006/relationships/notesMaster" Target="/ppt/notesMasters/notesMaster1.xml" Id="Re4e9d3206bd14fe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SPEAKER 1 | Caregiving means managing more than tasks. One person often carries the changing checklist across appointments and people. Carestead reduces that load.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SPEAKER 1 | Meet Maya. She coordinates Alex's care while balancing work and family, connecting information held by different people.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SPEAKER 1 | When one detail changes, calendars, transport, and responsibilities can remain outdated. Reminders alone cannot close that coordination gap.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SPEAKER 1 | Carestead creates one shared workspace with a reusable Care Plan, trusted Care Circle, Care Organizer, and live Care Handover.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SPEAKER 1 | Around one care recipient, caregivers manage routines, responsibilities, appointments, contacts, notifications, activity history, chat, voice, documents, and approvals.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SPEAKER 1 | The journey moves from understanding the person to identifying needs, coordinating support, approving a safe action, and recording the outcome.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SPEAKER 1 | A caregiver asks Carestead naturally, inspects the evidence, and requests an action. Carestead prepares the exact change for caregiver approval.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SPEAKER 1 | Updates can arrive as speech, notes, documents, or images. The model extracts information, and the agent validates it before saving. HANDOFF: Now we will explain the agent design behind that experience.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SPEAKER 2 | Carestead uses several capability patterns. The LLM handles language, extraction, and summarization. Agentic workflows add retrieval, decisions, tools, approval, and verification.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SPEAKER 2 | Across eight workflows, each card separates the model contribution from the controls enforced by the agent and orchestrator.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SPEAKER 2 | Authenticated APIs connect the interface to a TypeScript orchestrator, recipient-scoped retrieval, the OpenAI Responses API, policy gates, and narrow tools.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SPEAKER 2 | Missing evidence triggers clarification. Read-only questions return grounded answers. Consequential actions require authorization, approval, verification, and an audit record.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SPEAKER 2 | The LLM interprets and summarizes. Deterministic code controls recipient scope, consent, feasibility, and tool access. The caregiver makes the decision.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SPEAKER 2 | We score retrieval, grounding, decisions, policy, tools, outcomes, and safety across 104 synthetic scenarios. One safety violation fails the run.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SPEAKER 2 | The same workspace is moving to an iPhone pilot with care plans, calendar, handover, approvals, and native voice.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SPEAKER 2 | Carestead turns a scattered care story into a shared, reviewable next step. Less to carry. More care to give. Now let us demonstrate it.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237acdeaec3451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edb67bc45fe4513" /><Relationship Type="http://schemas.openxmlformats.org/officeDocument/2006/relationships/slideLayout" Target="/ppt/slideLayouts/slideLayout1.xml" Id="R141e44c37e8d4fc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41e44c37e8d4fc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9361f134974a25" /><Relationship Type="http://schemas.openxmlformats.org/officeDocument/2006/relationships/notesSlide" Target="/ppt/notesSlides/notesSlide1.xml" Id="R79610874a47f47c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94ddc48e954fef" /><Relationship Type="http://schemas.openxmlformats.org/officeDocument/2006/relationships/image" Target="/ppt/media/image.png" Id="Rb673d669c5bd4dc3" /><Relationship Type="http://schemas.openxmlformats.org/officeDocument/2006/relationships/image" Target="/ppt/media/image.svg" Id="Rb61f3f6262d24c35" /><Relationship Type="http://schemas.openxmlformats.org/officeDocument/2006/relationships/notesSlide" Target="/ppt/notesSlides/notesSlide2.xml" Id="R4ba53f844831411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cbc3b5a52a4bc1" /><Relationship Type="http://schemas.openxmlformats.org/officeDocument/2006/relationships/notesSlide" Target="/ppt/notesSlides/notesSlide3.xml" Id="R2953b46c07054ff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273793d3ad4240" /><Relationship Type="http://schemas.openxmlformats.org/officeDocument/2006/relationships/image" Target="/ppt/media/image2.png" Id="R52760b0d54254068" /><Relationship Type="http://schemas.openxmlformats.org/officeDocument/2006/relationships/notesSlide" Target="/ppt/notesSlides/notesSlide4.xml" Id="R31759f13ba5a493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d6b9a75a9d43ee" /><Relationship Type="http://schemas.openxmlformats.org/officeDocument/2006/relationships/notesSlide" Target="/ppt/notesSlides/notesSlide5.xml" Id="Rf92bd064f9ae495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b98aaabd58431f" /><Relationship Type="http://schemas.openxmlformats.org/officeDocument/2006/relationships/image" Target="/ppt/media/image3.png" Id="R11d6585fc58b4582" /><Relationship Type="http://schemas.openxmlformats.org/officeDocument/2006/relationships/notesSlide" Target="/ppt/notesSlides/notesSlide6.xml" Id="R73fc78096801417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35af1da3a04135" /><Relationship Type="http://schemas.openxmlformats.org/officeDocument/2006/relationships/image" Target="/ppt/media/image4.png" Id="R2d1a0beac6034910" /><Relationship Type="http://schemas.openxmlformats.org/officeDocument/2006/relationships/notesSlide" Target="/ppt/notesSlides/notesSlide7.xml" Id="R3333a398d0e5489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3e4e8bfcf741b8" /><Relationship Type="http://schemas.openxmlformats.org/officeDocument/2006/relationships/image" Target="/ppt/media/image5.png" Id="Reffd921ef2b64faf" /><Relationship Type="http://schemas.openxmlformats.org/officeDocument/2006/relationships/image" Target="/ppt/media/image6.png" Id="Ra78cee2e494f431e" /><Relationship Type="http://schemas.openxmlformats.org/officeDocument/2006/relationships/notesSlide" Target="/ppt/notesSlides/notesSlide8.xml" Id="R59644af0bd6e441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0a2159c22f41c6" /><Relationship Type="http://schemas.openxmlformats.org/officeDocument/2006/relationships/notesSlide" Target="/ppt/notesSlides/notesSlide9.xml" Id="R17c6793013f2473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3d5bc48a344f54" /><Relationship Type="http://schemas.openxmlformats.org/officeDocument/2006/relationships/notesSlide" Target="/ppt/notesSlides/notesSlide10.xml" Id="Re0a8b31435dd4c6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67890f85414628" /><Relationship Type="http://schemas.openxmlformats.org/officeDocument/2006/relationships/image" Target="/ppt/media/image7.png" Id="Ref1713eef939492e" /><Relationship Type="http://schemas.openxmlformats.org/officeDocument/2006/relationships/notesSlide" Target="/ppt/notesSlides/notesSlide11.xml" Id="R9b19de6484c3438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58b89706654f61" /><Relationship Type="http://schemas.openxmlformats.org/officeDocument/2006/relationships/image" Target="/ppt/media/image8.png" Id="R14251bb30f514043" /><Relationship Type="http://schemas.openxmlformats.org/officeDocument/2006/relationships/notesSlide" Target="/ppt/notesSlides/notesSlide12.xml" Id="R720a9ac6462648ee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3d25e0e7974e49" /><Relationship Type="http://schemas.openxmlformats.org/officeDocument/2006/relationships/notesSlide" Target="/ppt/notesSlides/notesSlide13.xml" Id="R54a7d50fb03c4f5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886efaad7f46a1" /><Relationship Type="http://schemas.openxmlformats.org/officeDocument/2006/relationships/notesSlide" Target="/ppt/notesSlides/notesSlide14.xml" Id="R6ea4e4140d9e42c4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f2a3f67a1c4e54" /><Relationship Type="http://schemas.openxmlformats.org/officeDocument/2006/relationships/notesSlide" Target="/ppt/notesSlides/notesSlide15.xml" Id="R399a171feb1b401f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cec23e7182492d" /><Relationship Type="http://schemas.openxmlformats.org/officeDocument/2006/relationships/notesSlide" Target="/ppt/notesSlides/notesSlide16.xml" Id="R1d1bf4cb51ef47a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E1F4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5F03260-1EC5-47B5-907B-AB35ABFE6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771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F5FB7A-22B2-4044-B61A-7C0BF4E33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295275" cy="295275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23F49"/>
            </a:solidFill>
          </a:ln>
        </p:spPr>
        <p:txBody>
          <a:bodyPr xmlns:a="http://schemas.openxmlformats.org/drawingml/2006/main" anchor="ctr">
            <a:normAutofit fontScale="19626"/>
          </a:bodyPr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5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+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A71DA5-5418-40CA-9296-A0AA2ED9D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71475"/>
            <a:ext cx="1809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029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7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Carestead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E4B2A3-2BF7-4F34-ABD2-F4D03FC60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19100"/>
            <a:ext cx="404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defRPr>
            </a:pPr>
            <a:r>
              <a:rPr sz="975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rPr>
              <a:t>GEN AI ACADEMY · TEAM PROJECT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FDA988-F0D4-4F80-A802-3BACD1766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334250"/>
            <a:ext cx="619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58333"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Carestead · GenAI Academy · September 2026 · v2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93DF04-8834-48EB-84F5-51B7037DD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44375" y="7334250"/>
            <a:ext cx="95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58333"/>
          </a:bodyPr>
          <a:lstStyle xmlns:a="http://schemas.openxmlformats.org/drawingml/2006/main"/>
          <a:p xmlns:a="http://schemas.openxmlformats.org/drawingml/2006/main">
            <a:pPr algn="r">
              <a:def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01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471B80-03C2-44C3-B3F3-9FEF5BCAF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33500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defRPr>
            </a:pPr>
            <a:r>
              <a:rPr sz="1050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rPr>
              <a:t>THE CAREGIVER COGNITIVE-LOAD AGENT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622AD2-E352-420C-A4C5-EC3715589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477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8903"/>
          </a:bodyPr>
          <a:lstStyle xmlns:a="http://schemas.openxmlformats.org/drawingml/2006/main"/>
          <a:p xmlns:a="http://schemas.openxmlformats.org/drawingml/2006/main">
            <a:pPr algn="l">
              <a:defRPr sz="57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57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Less to carry.</a:t>
            </a:r>
          </a:p>
          <a:p xmlns:a="http://schemas.openxmlformats.org/drawingml/2006/main">
            <a:pPr algn="l">
              <a:defRPr sz="57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57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More care to give.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1B570E-43B0-435E-8C43-E95250796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05250"/>
            <a:ext cx="8382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21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A shared care picture. A clear next step.</a:t>
            </a:r>
          </a:p>
          <a:p xmlns:a="http://schemas.openxmlformats.org/drawingml/2006/main">
            <a:pPr algn="l">
              <a:defRPr sz="21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21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An agent that helps while the caregiver stays in control.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496457-053F-439F-9C50-252126E2C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0"/>
            <a:ext cx="11430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D6D5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8C3DFD-DA20-423C-9811-53122FFF2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81650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650" b="0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Care Plan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2746A7-2F61-4846-ABAB-68ADE2410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81650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650" b="0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Care Circle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14C5C2-E1F1-4737-8E96-45828202D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558165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650" b="0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Care Organizer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F2888C-110A-441E-A070-C0E03C51E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558165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650" b="0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Care Handover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C8A5554-CE15-4B09-A771-8C1F16DA2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5581650"/>
            <a:ext cx="23336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650" b="0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Grounded Agent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3BAAD18-A6CA-4B8C-B405-C59D071C2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12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Frincy Clement · Maneetta Antony · Tejaswini Venkata Raju · Shrijan Chipalu</a:t>
            </a:r>
          </a:p>
        </p:txBody>
      </p:sp>
    </p:spTree>
    <p:extLst>
      <p:ext uri="{BB962C8B-B14F-4D97-AF65-F5344CB8AC3E}">
        <p14:creationId xmlns:p14="http://schemas.microsoft.com/office/powerpoint/2010/main" val="17327033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E1F4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0946020-3F00-42E4-9D1D-BA51ADC29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771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420EA5-A198-4F1E-932C-8C6127466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295275" cy="295275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23F49"/>
            </a:solidFill>
          </a:ln>
        </p:spPr>
        <p:txBody>
          <a:bodyPr xmlns:a="http://schemas.openxmlformats.org/drawingml/2006/main" anchor="ctr">
            <a:normAutofit fontScale="19626"/>
          </a:bodyPr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5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+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EAEBF57-C187-44CE-BFD4-71030A33F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71475"/>
            <a:ext cx="1809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029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7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Carestead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854B92-CDE2-466C-9884-14B6AE7FE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19100"/>
            <a:ext cx="404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defRPr>
            </a:pPr>
            <a:r>
              <a:rPr sz="975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rPr>
              <a:t>THE PROBLEM · MEET MAYA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9280CB-C569-49FC-B2B1-D70815CE6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334250"/>
            <a:ext cx="619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58333"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Carestead · GenAI Academy · September 2026 · v2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4CCE6E-16CC-40A0-BEF4-FAC9B2AEB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44375" y="7334250"/>
            <a:ext cx="95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58333"/>
          </a:bodyPr>
          <a:lstStyle xmlns:a="http://schemas.openxmlformats.org/drawingml/2006/main"/>
          <a:p xmlns:a="http://schemas.openxmlformats.org/drawingml/2006/main">
            <a:pPr algn="r">
              <a:def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02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093285-98A1-446B-A538-FCBF4B380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47750"/>
            <a:ext cx="5715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8718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defRPr>
            </a:pPr>
            <a:r>
              <a:rPr sz="975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rPr>
              <a:t>ONE CAREGIVER. TOO MUCH TO REMEMBER.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40F1C9-2386-4949-8E35-B7280167D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6572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884"/>
          </a:bodyPr>
          <a:lstStyle xmlns:a="http://schemas.openxmlformats.org/drawingml/2006/main"/>
          <a:p xmlns:a="http://schemas.openxmlformats.org/drawingml/2006/main">
            <a:pPr algn="l">
              <a:defRPr sz="39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39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Everyone has part of the story.</a:t>
            </a:r>
          </a:p>
          <a:p xmlns:a="http://schemas.openxmlformats.org/drawingml/2006/main">
            <a:pPr algn="l">
              <a:defRPr sz="39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39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Maya holds it all together.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3D664C-0CBD-47C5-B930-69AC44120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95625"/>
            <a:ext cx="6191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165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She coordinates Alex’s care around work and family, remembering every change and resolving schedule conflicts again and again.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B470BA-60F6-4C78-A636-71ABDE46A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33875"/>
            <a:ext cx="5810250" cy="1257300"/>
          </a:xfrm>
          <a:prstGeom xmlns:a="http://schemas.openxmlformats.org/drawingml/2006/main" prst="roundRect">
            <a:avLst>
              <a:gd name="adj" fmla="val 1060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77F78B-B240-46C3-B25E-553466F53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505325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The invisible work of care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2D5D6BA-A8AC-495B-9F8B-675907A61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886325"/>
            <a:ext cx="5429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142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Keep the information in her head. Spot the clash. Find cover. Update everyone.</a:t>
            </a:r>
          </a:p>
        </p:txBody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73d669c5bd4dc3">
            <a:extLst>
              <a:ext uri="{96DAC541-7B7A-43D3-8B79-37D633B846F1}">
                <asvg:svgBlip xmlns:asvg="http://schemas.microsoft.com/office/drawing/2016/SVG/main" r:embed="Rb61f3f6262d24c3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334250" y="1095375"/>
            <a:ext cx="5476875" cy="5286375"/>
          </a:xfrm>
          <a:prstGeom xmlns:a="http://schemas.openxmlformats.org/drawingml/2006/main" prst="rect">
            <a:avLst/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F06AE16-1068-40FD-80B7-E675C3501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647700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Illustrative persona and scenario</a:t>
            </a:r>
          </a:p>
        </p:txBody>
      </p:sp>
    </p:spTree>
    <p:extLst>
      <p:ext uri="{BB962C8B-B14F-4D97-AF65-F5344CB8AC3E}">
        <p14:creationId xmlns:p14="http://schemas.microsoft.com/office/powerpoint/2010/main" val="38898837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146BCA9-FA39-40C8-A1A1-35B5F55D7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771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353D42-3124-40E6-8B56-10FF275A2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295275" cy="295275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23F49"/>
            </a:solidFill>
          </a:ln>
        </p:spPr>
        <p:txBody>
          <a:bodyPr xmlns:a="http://schemas.openxmlformats.org/drawingml/2006/main" anchor="ctr">
            <a:normAutofit fontScale="19626"/>
          </a:bodyPr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5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+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F0E718-5F64-47EC-A278-225764124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71475"/>
            <a:ext cx="1809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029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7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Carestead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FCA08D-4B0C-411A-9A44-4469B78B8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19100"/>
            <a:ext cx="404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defRPr>
            </a:pPr>
            <a:r>
              <a:rPr sz="975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rPr>
              <a:t>THE COORDINATION GAP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3CA5CA-22A8-4CB1-A045-5342FE93E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334250"/>
            <a:ext cx="619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58333"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Carestead · GenAI Academy · September 2026 · v2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07CF55-9881-4B5D-81C0-DF17D740D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44375" y="7334250"/>
            <a:ext cx="95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58333"/>
          </a:bodyPr>
          <a:lstStyle xmlns:a="http://schemas.openxmlformats.org/drawingml/2006/main"/>
          <a:p xmlns:a="http://schemas.openxmlformats.org/drawingml/2006/main">
            <a:pPr algn="r">
              <a:def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03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4B09B8-F90D-42B6-8A4B-2D3BD7869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0125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defRPr>
            </a:pPr>
            <a:r>
              <a:rPr sz="975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rPr>
              <a:t>THE PROBLEM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D21879-FC6C-4B3A-BF6B-552F192C6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11811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36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Care happens across people.</a:t>
            </a:r>
          </a:p>
          <a:p xmlns:a="http://schemas.openxmlformats.org/drawingml/2006/main">
            <a:pPr algn="l">
              <a:defRPr sz="36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36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The mental checklist stays with one.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DEA891-740F-4EDF-B831-8A243720E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0"/>
            <a:ext cx="3714750" cy="2571750"/>
          </a:xfrm>
          <a:prstGeom xmlns:a="http://schemas.openxmlformats.org/drawingml/2006/main" prst="roundRect">
            <a:avLst>
              <a:gd name="adj" fmla="val 5185"/>
            </a:avLst>
          </a:prstGeom>
          <a:solidFill xmlns:a="http://schemas.openxmlformats.org/drawingml/2006/main">
            <a:srgbClr val="E1F4F1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0D2B03-1A44-4B5B-8948-3A4B3EEFF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14700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53574"/>
          </a:bodyPr>
          <a:lstStyle xmlns:a="http://schemas.openxmlformats.org/drawingml/2006/main"/>
          <a:p xmlns:a="http://schemas.openxmlformats.org/drawingml/2006/main">
            <a:pPr algn="l">
              <a:defRPr sz="21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21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“I thought you were taking Alex tomorrow.”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CB0847-833B-4FBD-A89E-8DC5DC301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95700"/>
            <a:ext cx="333375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142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A change in one place can leave the ride, reminder, or caregiver assignment pointing to the old plan.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A307BA-1E39-40BA-A0DD-5A1070C95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143250"/>
            <a:ext cx="3714750" cy="2571750"/>
          </a:xfrm>
          <a:prstGeom xmlns:a="http://schemas.openxmlformats.org/drawingml/2006/main" prst="roundRect">
            <a:avLst>
              <a:gd name="adj" fmla="val 5185"/>
            </a:avLst>
          </a:prstGeom>
          <a:solidFill xmlns:a="http://schemas.openxmlformats.org/drawingml/2006/main">
            <a:srgbClr val="EDE8FB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4FDFC29-09F6-420F-B5B7-8D7506E70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3314700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424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Every handover costs attention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C83CC0-2443-4829-AD78-463C0DED1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3695700"/>
            <a:ext cx="333375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142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The next caregiver needs current state, open risks, reliable contacts, and the exact items requiring review.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C46C04A-16D2-443D-A2C3-FC76A6225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143250"/>
            <a:ext cx="3714750" cy="2571750"/>
          </a:xfrm>
          <a:prstGeom xmlns:a="http://schemas.openxmlformats.org/drawingml/2006/main" prst="roundRect">
            <a:avLst>
              <a:gd name="adj" fmla="val 5185"/>
            </a:avLst>
          </a:prstGeom>
          <a:solidFill xmlns:a="http://schemas.openxmlformats.org/drawingml/2006/main">
            <a:srgbClr val="FFD1AF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8D6CFF-2E7B-482C-ADF0-ADED7A0E7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314700"/>
            <a:ext cx="3333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424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More reminders are not enough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B4AB795-DD7B-4390-9CD5-37AF4C405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695700"/>
            <a:ext cx="333375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142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The practical need is shared context, a named owner, a safe decision, and a visible outcome.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959342D-1EFB-4E23-97CF-D94D14EF0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6048375"/>
            <a:ext cx="9334500" cy="6096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22C680D-8626-4BCD-BDCB-29ACE0D79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6191250"/>
            <a:ext cx="8763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5652"/>
          </a:bodyPr>
          <a:lstStyle xmlns:a="http://schemas.openxmlformats.org/drawingml/2006/main"/>
          <a:p xmlns:a="http://schemas.openxmlformats.org/drawingml/2006/main">
            <a:pPr algn="ctr">
              <a:defRPr sz="1725" b="1" i="0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1725" b="1" i="0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Enable Maya to coordinate the next step without rebuilding the whole picture.</a:t>
            </a:r>
          </a:p>
        </p:txBody>
      </p:sp>
    </p:spTree>
    <p:extLst>
      <p:ext uri="{BB962C8B-B14F-4D97-AF65-F5344CB8AC3E}">
        <p14:creationId xmlns:p14="http://schemas.microsoft.com/office/powerpoint/2010/main" val="84982281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7C76F3D-2D06-4C8C-A57C-A68BDFB9E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771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510766-CBF1-47EA-B7E6-9F566CF69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295275" cy="295275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23F49"/>
            </a:solidFill>
          </a:ln>
        </p:spPr>
        <p:txBody>
          <a:bodyPr xmlns:a="http://schemas.openxmlformats.org/drawingml/2006/main" anchor="ctr">
            <a:normAutofit fontScale="19626"/>
          </a:bodyPr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5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+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EFD4E1-EA83-4312-A936-ADB4F50CB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71475"/>
            <a:ext cx="1809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029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7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Carestead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B70C29-A872-464B-A95C-08966C216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19100"/>
            <a:ext cx="404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defRPr>
            </a:pPr>
            <a:r>
              <a:rPr sz="975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rPr>
              <a:t>MEET CARESTEAD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79243D-B433-43A7-AF7E-024B66150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334250"/>
            <a:ext cx="619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58333"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Carestead · GenAI Academy · September 2026 · v2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378758-3640-4454-9C8D-F31599872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44375" y="7334250"/>
            <a:ext cx="95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58333"/>
          </a:bodyPr>
          <a:lstStyle xmlns:a="http://schemas.openxmlformats.org/drawingml/2006/main"/>
          <a:p xmlns:a="http://schemas.openxmlformats.org/drawingml/2006/main">
            <a:pPr algn="r">
              <a:def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04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592DA2-BEE9-4386-802C-0CFC7C55E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0125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defRPr>
            </a:pPr>
            <a:r>
              <a:rPr sz="975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rPr>
              <a:t>MEET CARESTEAD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EFFB8D-466C-4F52-B0FB-6A497E948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11811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36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You care. We plan.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57E3E2-3230-4A38-A419-648736DDD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4125"/>
            <a:ext cx="11525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157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One place for the plan, people, evidence, and next safe step.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B506AC-90CA-4665-9720-F62A831AA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0375"/>
            <a:ext cx="4524375" cy="866775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1F4F1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2DC353D-7A79-4801-A958-624831270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43250"/>
            <a:ext cx="3952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Care Plan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CBB277-0327-4D12-86F2-6D6236A19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48050"/>
            <a:ext cx="39528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758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97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Reusable templates plus person-specific preferences, routines, goals, and supports.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196C85-C2EE-4B90-BBAC-470E19625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62400"/>
            <a:ext cx="4524375" cy="866775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4192929-F17E-40CA-95B7-162138BFA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05275"/>
            <a:ext cx="3952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Care Circle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7F1473C-5668-456C-8216-1065A5BCC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10075"/>
            <a:ext cx="39528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5481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97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Roles, contacts, invitations, responsibility owners, and trusted support.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C235D78-E928-4288-961B-745960A26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24425"/>
            <a:ext cx="4524375" cy="866775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1F4F1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4A9F7FC-A8F3-41E8-A8BD-388D34581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67300"/>
            <a:ext cx="3952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Care Organizer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FCB7E2A-707C-4A2B-99B8-78664EEF0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372100"/>
            <a:ext cx="39528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0658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97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Plan breaks, activities, coverage, transport, and dependencies in one flow.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23E0528-E3B5-498A-BC4A-9C6361531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86450"/>
            <a:ext cx="4524375" cy="866775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F4C5F46-0AE5-4957-A453-ECB4432F4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029325"/>
            <a:ext cx="3952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Care Handover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0094405-3952-4ABB-8E02-928CB5638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334125"/>
            <a:ext cx="39528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9304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97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A concise live brief: current state, changes, risks, contacts, and watch items.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393B6EA-DF50-47AF-8931-1CE17891B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952750"/>
            <a:ext cx="7477125" cy="4048125"/>
          </a:xfrm>
          <a:prstGeom xmlns:a="http://schemas.openxmlformats.org/drawingml/2006/main" prst="roundRect">
            <a:avLst>
              <a:gd name="adj" fmla="val 282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D6D5"/>
            </a:solidFill>
          </a:ln>
        </p:spPr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760b0d54254068"/>
          <a:stretch xmlns:a="http://schemas.openxmlformats.org/drawingml/2006/main"/>
        </p:blipFill>
        <p:spPr>
          <a:xfrm xmlns:a="http://schemas.openxmlformats.org/drawingml/2006/main">
            <a:off x="6657023" y="3105150"/>
            <a:ext cx="5212080" cy="3619500"/>
          </a:xfrm>
          <a:prstGeom xmlns:a="http://schemas.openxmlformats.org/drawingml/2006/main" prst="roundRect">
            <a:avLst>
              <a:gd name="adj" fmla="val 2105"/>
            </a:avLst>
          </a:prstGeom>
        </p:spPr>
      </p:pic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88F724F-6927-435C-8DFA-05EB3A2E2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6734175"/>
            <a:ext cx="6619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2222"/>
          </a:bodyPr>
          <a:lstStyle xmlns:a="http://schemas.openxmlformats.org/drawingml/2006/main"/>
          <a:p xmlns:a="http://schemas.openxmlformats.org/drawingml/2006/main">
            <a:pPr algn="ctr">
              <a:def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Current product view: recipient profile, latest care state, review items, and handover context</a:t>
            </a:r>
          </a:p>
        </p:txBody>
      </p:sp>
    </p:spTree>
    <p:extLst>
      <p:ext uri="{BB962C8B-B14F-4D97-AF65-F5344CB8AC3E}">
        <p14:creationId xmlns:p14="http://schemas.microsoft.com/office/powerpoint/2010/main" val="193516510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E1F4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A72FEF98-EC31-482A-80CA-D0C6E9247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771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636B2B-D5FB-407D-AB9A-7171D41C9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295275" cy="295275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23F49"/>
            </a:solidFill>
          </a:ln>
        </p:spPr>
        <p:txBody>
          <a:bodyPr xmlns:a="http://schemas.openxmlformats.org/drawingml/2006/main" anchor="ctr">
            <a:normAutofit fontScale="19626"/>
          </a:bodyPr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5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+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E5C6E7-5AC9-413C-B8C7-DE191DC41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71475"/>
            <a:ext cx="1809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029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7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Carestead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E75BF3-16DD-4CF6-80C6-57468F7BB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19100"/>
            <a:ext cx="404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defRPr>
            </a:pPr>
            <a:r>
              <a:rPr sz="975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rPr>
              <a:t>CORE PRODUCT FEATURES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BE170C-71F4-4D54-8477-1A17FD581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334250"/>
            <a:ext cx="619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58333"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Carestead · GenAI Academy · September 2026 · v2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3911A4-49A7-4F63-90DE-6FEF7F76C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44375" y="7334250"/>
            <a:ext cx="95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58333"/>
          </a:bodyPr>
          <a:lstStyle xmlns:a="http://schemas.openxmlformats.org/drawingml/2006/main"/>
          <a:p xmlns:a="http://schemas.openxmlformats.org/drawingml/2006/main">
            <a:pPr algn="r">
              <a:def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05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E71297-B3FB-4D66-AC30-2F6802119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0125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defRPr>
            </a:pPr>
            <a:r>
              <a:rPr sz="975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rPr>
              <a:t>PRODUCT MAP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3CF51E-2B24-4876-957C-8E6DF9802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11811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36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The complete Carestead workspace.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62E805-E8CE-4053-8F07-06B74B572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4125"/>
            <a:ext cx="11525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157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A person-centered care model connects context, coordination, people, actions, and governance.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277423-05F8-4695-BF87-F59858C0F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143250"/>
            <a:ext cx="2971800" cy="323850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672932D-DC3D-4E3C-9376-A7B577CCC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143250"/>
            <a:ext cx="2971800" cy="6096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73F31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63B2EC-2CF6-4C65-A0E3-F308CEDE0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305175"/>
            <a:ext cx="2628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 i="0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Understand the person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AFEEE8-3B9A-493D-9D82-A3C878653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2907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8B1F089-8204-4E30-89E2-D31540166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29075"/>
            <a:ext cx="247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7904"/>
          </a:bodyPr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975" b="1" i="0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+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1E40A25-12FD-4B0D-8607-164EEBF6C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000500"/>
            <a:ext cx="215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Overview + profile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3C25D95-E116-4992-9052-90152E8CC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71975"/>
            <a:ext cx="2524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5E0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3B3B937-DD55-49B0-9581-86F6B18EC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72000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9DF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75F63D4-5C15-4FBD-93AA-BAC4BEE1A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572000"/>
            <a:ext cx="247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7896"/>
          </a:bodyPr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173F31"/>
                </a:solidFill>
                <a:latin typeface="Avenir Next"/>
                <a:ea typeface="Avenir Next"/>
                <a:cs typeface="Avenir Next"/>
              </a:defRPr>
            </a:pPr>
            <a:r>
              <a:rPr sz="975" b="1" i="0">
                <a:solidFill>
                  <a:srgbClr val="173F31"/>
                </a:solidFill>
                <a:latin typeface="Avenir Next"/>
                <a:ea typeface="Avenir Next"/>
                <a:cs typeface="Avenir Next"/>
              </a:rPr>
              <a:t>✓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65C39E5-E475-4309-B023-DD9979D75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543425"/>
            <a:ext cx="215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Care Plan + templates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E542497-F5C3-4C6B-918E-0EDA4E7D5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14900"/>
            <a:ext cx="2524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5E0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4FF70DF-C73E-4981-8F7D-1600D13A8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1492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9DF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6BE12A3-61B7-4A00-A7E3-61EABD7C5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14925"/>
            <a:ext cx="247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7896"/>
          </a:bodyPr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173F31"/>
                </a:solidFill>
                <a:latin typeface="Avenir Next"/>
                <a:ea typeface="Avenir Next"/>
                <a:cs typeface="Avenir Next"/>
              </a:defRPr>
            </a:pPr>
            <a:r>
              <a:rPr sz="975" b="1" i="0">
                <a:solidFill>
                  <a:srgbClr val="173F31"/>
                </a:solidFill>
                <a:latin typeface="Avenir Next"/>
                <a:ea typeface="Avenir Next"/>
                <a:cs typeface="Avenir Next"/>
              </a:rPr>
              <a:t>✓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D8706F7-B474-4B6D-9054-1308FDC04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086350"/>
            <a:ext cx="215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Preferences + routines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B27F7C3-8136-4643-91E7-8A31C3848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57825"/>
            <a:ext cx="2524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5E0"/>
          </a:solidFill>
          <a:ln xmlns:a="http://schemas.openxmlformats.org/drawingml/2006/main" w="0">
            <a:noFill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D6207B3-971A-4239-B0AF-E5CACA5C2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657850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9DF"/>
          </a:solidFill>
          <a:ln xmlns:a="http://schemas.openxmlformats.org/drawingml/2006/main" w="0">
            <a:noFill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830D9FF-842D-4CDE-AAE2-67BD6FD89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657850"/>
            <a:ext cx="247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7896"/>
          </a:bodyPr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173F31"/>
                </a:solidFill>
                <a:latin typeface="Avenir Next"/>
                <a:ea typeface="Avenir Next"/>
                <a:cs typeface="Avenir Next"/>
              </a:defRPr>
            </a:pPr>
            <a:r>
              <a:rPr sz="975" b="1" i="0">
                <a:solidFill>
                  <a:srgbClr val="173F31"/>
                </a:solidFill>
                <a:latin typeface="Avenir Next"/>
                <a:ea typeface="Avenir Next"/>
                <a:cs typeface="Avenir Next"/>
              </a:rPr>
              <a:t>✓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13EE1BF-C6AD-4466-8BA9-C9EBEE2B3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629275"/>
            <a:ext cx="215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Memory + current risks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6D0CC69-9371-4857-B9DB-3B2E6F482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143250"/>
            <a:ext cx="2971800" cy="323850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F4FBFA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F076638-832A-464F-8306-72B857502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143250"/>
            <a:ext cx="2971800" cy="6096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73F31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37CE954-40BF-47B3-9925-41081A81A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3305175"/>
            <a:ext cx="2628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 i="0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Coordinate care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AC6423A-5D37-4D2E-B48D-AA4B83F81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02907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C3435B9-173D-49CB-BA23-87FE0D68C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029075"/>
            <a:ext cx="247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7904"/>
          </a:bodyPr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975" b="1" i="0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+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4F64884-12AE-40CF-96BD-3D2BA8BBB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000500"/>
            <a:ext cx="215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Responsibilities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C401A60-5CFC-4C9D-AA9E-70A9477BF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371975"/>
            <a:ext cx="2524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5E0"/>
          </a:solidFill>
          <a:ln xmlns:a="http://schemas.openxmlformats.org/drawingml/2006/main" w="0">
            <a:noFill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C60BE9A-276E-448A-8FA2-F9048EE0C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572000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9DF"/>
          </a:solidFill>
          <a:ln xmlns:a="http://schemas.openxmlformats.org/drawingml/2006/main" w="0">
            <a:noFill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0EEA83B-2F04-4B26-BA2D-1AE6D118E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572000"/>
            <a:ext cx="247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7896"/>
          </a:bodyPr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173F31"/>
                </a:solidFill>
                <a:latin typeface="Avenir Next"/>
                <a:ea typeface="Avenir Next"/>
                <a:cs typeface="Avenir Next"/>
              </a:defRPr>
            </a:pPr>
            <a:r>
              <a:rPr sz="975" b="1" i="0">
                <a:solidFill>
                  <a:srgbClr val="173F31"/>
                </a:solidFill>
                <a:latin typeface="Avenir Next"/>
                <a:ea typeface="Avenir Next"/>
                <a:cs typeface="Avenir Next"/>
              </a:rPr>
              <a:t>✓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6EEE566-0D57-43C1-98D7-BCCF0E64A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543425"/>
            <a:ext cx="215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Care Organizer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BCFAAA6-F59B-481A-A229-4E378BFE3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914900"/>
            <a:ext cx="2524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5E0"/>
          </a:solidFill>
          <a:ln xmlns:a="http://schemas.openxmlformats.org/drawingml/2006/main" w="0">
            <a:noFill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44FA3E2-AED4-4247-850E-9DC347718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11492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9DF"/>
          </a:solidFill>
          <a:ln xmlns:a="http://schemas.openxmlformats.org/drawingml/2006/main" w="0">
            <a:noFill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A0FE0BD-7756-4DDB-BDC4-13C8028EB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114925"/>
            <a:ext cx="247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7896"/>
          </a:bodyPr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173F31"/>
                </a:solidFill>
                <a:latin typeface="Avenir Next"/>
                <a:ea typeface="Avenir Next"/>
                <a:cs typeface="Avenir Next"/>
              </a:defRPr>
            </a:pPr>
            <a:r>
              <a:rPr sz="975" b="1" i="0">
                <a:solidFill>
                  <a:srgbClr val="173F31"/>
                </a:solidFill>
                <a:latin typeface="Avenir Next"/>
                <a:ea typeface="Avenir Next"/>
                <a:cs typeface="Avenir Next"/>
              </a:rPr>
              <a:t>✓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7ECDC93-BC7E-4D2E-BC40-B1A00BED3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5086350"/>
            <a:ext cx="215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Calendar scheduling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975BC29-E365-4B95-8EE5-6D05A5C0C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457825"/>
            <a:ext cx="2524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5E0"/>
          </a:solidFill>
          <a:ln xmlns:a="http://schemas.openxmlformats.org/drawingml/2006/main" w="0">
            <a:noFill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35B8A8F-C134-44A2-AAFB-D7A841B9E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657850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9DF"/>
          </a:solidFill>
          <a:ln xmlns:a="http://schemas.openxmlformats.org/drawingml/2006/main" w="0">
            <a:noFill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C0AC794-2E4F-4BFE-99BB-5462E3032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657850"/>
            <a:ext cx="247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7896"/>
          </a:bodyPr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173F31"/>
                </a:solidFill>
                <a:latin typeface="Avenir Next"/>
                <a:ea typeface="Avenir Next"/>
                <a:cs typeface="Avenir Next"/>
              </a:defRPr>
            </a:pPr>
            <a:r>
              <a:rPr sz="975" b="1" i="0">
                <a:solidFill>
                  <a:srgbClr val="173F31"/>
                </a:solidFill>
                <a:latin typeface="Avenir Next"/>
                <a:ea typeface="Avenir Next"/>
                <a:cs typeface="Avenir Next"/>
              </a:rPr>
              <a:t>✓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0B9B0F2-4BA6-4CA5-ADC7-CD8260890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5629275"/>
            <a:ext cx="215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Timeline + activity log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0ADA3C4-17AE-49FB-8197-63AD0C5B6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143250"/>
            <a:ext cx="2971800" cy="323850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0263A04-FDDC-4FD4-9800-A3F765354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143250"/>
            <a:ext cx="2971800" cy="6096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173F31"/>
          </a:solidFill>
          <a:ln xmlns:a="http://schemas.openxmlformats.org/drawingml/2006/main" w="0">
            <a:noFill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67399CD-C5C6-44B0-B585-0DE34630E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305175"/>
            <a:ext cx="2628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 i="0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People + handover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E865DDC-4F24-454A-A6D4-E1800FB4C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02907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AC893B6-A8F1-448C-8978-12595A723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029075"/>
            <a:ext cx="247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7904"/>
          </a:bodyPr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975" b="1" i="0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+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B5DD81F-DB44-44C0-B09E-3CB8F8C3A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000500"/>
            <a:ext cx="215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Care Circle + roles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EDB7115-81D9-49F7-9283-614392D8B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371975"/>
            <a:ext cx="2524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5E0"/>
          </a:solidFill>
          <a:ln xmlns:a="http://schemas.openxmlformats.org/drawingml/2006/main" w="0">
            <a:noFill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48EF6381-8746-42E3-98B2-04995CBA6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572000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9DF"/>
          </a:solidFill>
          <a:ln xmlns:a="http://schemas.openxmlformats.org/drawingml/2006/main" w="0">
            <a:noFill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F6DDBE33-3E31-45AD-AB76-4F2E2020E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572000"/>
            <a:ext cx="247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7896"/>
          </a:bodyPr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173F31"/>
                </a:solidFill>
                <a:latin typeface="Avenir Next"/>
                <a:ea typeface="Avenir Next"/>
                <a:cs typeface="Avenir Next"/>
              </a:defRPr>
            </a:pPr>
            <a:r>
              <a:rPr sz="975" b="1" i="0">
                <a:solidFill>
                  <a:srgbClr val="173F31"/>
                </a:solidFill>
                <a:latin typeface="Avenir Next"/>
                <a:ea typeface="Avenir Next"/>
                <a:cs typeface="Avenir Next"/>
              </a:rPr>
              <a:t>✓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AD560D29-AB97-4B46-9560-0E666D811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543425"/>
            <a:ext cx="215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1538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Contacts + support systems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6A3A938-4FA2-47AE-BAD7-996AD29FB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914900"/>
            <a:ext cx="2524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5E0"/>
          </a:solidFill>
          <a:ln xmlns:a="http://schemas.openxmlformats.org/drawingml/2006/main" w="0">
            <a:noFill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0D893F55-74E8-4DA2-A249-D38A42BF6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511492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9DF"/>
          </a:solidFill>
          <a:ln xmlns:a="http://schemas.openxmlformats.org/drawingml/2006/main" w="0">
            <a:noFill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56EB5687-5B55-45E1-A500-91BD4E133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5114925"/>
            <a:ext cx="247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7896"/>
          </a:bodyPr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173F31"/>
                </a:solidFill>
                <a:latin typeface="Avenir Next"/>
                <a:ea typeface="Avenir Next"/>
                <a:cs typeface="Avenir Next"/>
              </a:defRPr>
            </a:pPr>
            <a:r>
              <a:rPr sz="975" b="1" i="0">
                <a:solidFill>
                  <a:srgbClr val="173F31"/>
                </a:solidFill>
                <a:latin typeface="Avenir Next"/>
                <a:ea typeface="Avenir Next"/>
                <a:cs typeface="Avenir Next"/>
              </a:rPr>
              <a:t>✓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26C961B2-1DDD-4BEA-BFE8-4C9D9EB18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5086350"/>
            <a:ext cx="215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Live Handover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F283761A-4459-489E-833F-C079901C1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5457825"/>
            <a:ext cx="2524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5E0"/>
          </a:solidFill>
          <a:ln xmlns:a="http://schemas.openxmlformats.org/drawingml/2006/main" w="0">
            <a:noFill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D8299B27-9EDB-4F9E-9404-0BCD96950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5657850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9DF"/>
          </a:solidFill>
          <a:ln xmlns:a="http://schemas.openxmlformats.org/drawingml/2006/main" w="0">
            <a:noFill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A9E88439-317D-4E3D-9F31-BF91B9F61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5657850"/>
            <a:ext cx="247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7896"/>
          </a:bodyPr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173F31"/>
                </a:solidFill>
                <a:latin typeface="Avenir Next"/>
                <a:ea typeface="Avenir Next"/>
                <a:cs typeface="Avenir Next"/>
              </a:defRPr>
            </a:pPr>
            <a:r>
              <a:rPr sz="975" b="1" i="0">
                <a:solidFill>
                  <a:srgbClr val="173F31"/>
                </a:solidFill>
                <a:latin typeface="Avenir Next"/>
                <a:ea typeface="Avenir Next"/>
                <a:cs typeface="Avenir Next"/>
              </a:rPr>
              <a:t>✓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54B90D68-C3DE-460A-AFD5-34D60D432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5629275"/>
            <a:ext cx="215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Notifications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9D367B6A-94A5-4163-8E3D-75EAC06BB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3143250"/>
            <a:ext cx="2971800" cy="3238500"/>
          </a:xfrm>
          <a:prstGeom xmlns:a="http://schemas.openxmlformats.org/drawingml/2006/main" prst="roundRect">
            <a:avLst>
              <a:gd name="adj" fmla="val 5128"/>
            </a:avLst>
          </a:prstGeom>
          <a:solidFill xmlns:a="http://schemas.openxmlformats.org/drawingml/2006/main">
            <a:srgbClr val="FFF0E4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A24CBD81-BC29-4281-BAE5-8F31F2881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3143250"/>
            <a:ext cx="2971800" cy="6096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B65A3F"/>
          </a:solidFill>
          <a:ln xmlns:a="http://schemas.openxmlformats.org/drawingml/2006/main" w="0">
            <a:noFill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21A4F1A4-EF97-4CA9-9065-297270E24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3305175"/>
            <a:ext cx="2628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 i="0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Agent + governance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24DF1322-0159-4ED1-9000-E8434DD33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402907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84B79A1D-F40D-4F2E-907D-B61600687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4029075"/>
            <a:ext cx="247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7904"/>
          </a:bodyPr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975" b="1" i="0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+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ED5441CE-37D3-4641-AD83-59964449D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4000500"/>
            <a:ext cx="215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Grounded chat + voice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45B4D4FF-9DBA-4020-ADC4-79C4D0014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4371975"/>
            <a:ext cx="2524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5E0"/>
          </a:solidFill>
          <a:ln xmlns:a="http://schemas.openxmlformats.org/drawingml/2006/main" w="0">
            <a:noFill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4E231C20-E977-486A-8C68-4E1884409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4572000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9DF"/>
          </a:solidFill>
          <a:ln xmlns:a="http://schemas.openxmlformats.org/drawingml/2006/main" w="0">
            <a:noFill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3F9415FB-CF78-4E96-8003-EE00AB1F6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4572000"/>
            <a:ext cx="247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7896"/>
          </a:bodyPr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173F31"/>
                </a:solidFill>
                <a:latin typeface="Avenir Next"/>
                <a:ea typeface="Avenir Next"/>
                <a:cs typeface="Avenir Next"/>
              </a:defRPr>
            </a:pPr>
            <a:r>
              <a:rPr sz="975" b="1" i="0">
                <a:solidFill>
                  <a:srgbClr val="173F31"/>
                </a:solidFill>
                <a:latin typeface="Avenir Next"/>
                <a:ea typeface="Avenir Next"/>
                <a:cs typeface="Avenir Next"/>
              </a:rPr>
              <a:t>✓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3EB49B3E-D2B8-4279-8D38-F71FDAC6D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4543425"/>
            <a:ext cx="215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7079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Document + image intake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D28E74D9-4765-4007-B62C-C2D036A72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4914900"/>
            <a:ext cx="2524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5E0"/>
          </a:solidFill>
          <a:ln xmlns:a="http://schemas.openxmlformats.org/drawingml/2006/main" w="0">
            <a:noFill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DCCE759A-C028-4694-8A0F-9D4E766C4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5114925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9DF"/>
          </a:solidFill>
          <a:ln xmlns:a="http://schemas.openxmlformats.org/drawingml/2006/main" w="0">
            <a:noFill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6D03E954-34D8-4EFC-B995-3227B8414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5114925"/>
            <a:ext cx="247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7896"/>
          </a:bodyPr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173F31"/>
                </a:solidFill>
                <a:latin typeface="Avenir Next"/>
                <a:ea typeface="Avenir Next"/>
                <a:cs typeface="Avenir Next"/>
              </a:defRPr>
            </a:pPr>
            <a:r>
              <a:rPr sz="975" b="1" i="0">
                <a:solidFill>
                  <a:srgbClr val="173F31"/>
                </a:solidFill>
                <a:latin typeface="Avenir Next"/>
                <a:ea typeface="Avenir Next"/>
                <a:cs typeface="Avenir Next"/>
              </a:rPr>
              <a:t>✓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A4875BCB-0BDB-49C7-98C5-C35F717D8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5086350"/>
            <a:ext cx="215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Integrations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7096E27F-7DFA-4491-9955-4E04CBF8B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5457825"/>
            <a:ext cx="2524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5E0"/>
          </a:solidFill>
          <a:ln xmlns:a="http://schemas.openxmlformats.org/drawingml/2006/main" w="0">
            <a:noFill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D601B3F5-6675-45E8-A190-EBD309607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5657850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CE9DF"/>
          </a:solidFill>
          <a:ln xmlns:a="http://schemas.openxmlformats.org/drawingml/2006/main" w="0">
            <a:noFill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5DD5DF4E-1AAE-4CDA-9C54-DCB77E6BC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5657850"/>
            <a:ext cx="247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7896"/>
          </a:bodyPr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173F31"/>
                </a:solidFill>
                <a:latin typeface="Avenir Next"/>
                <a:ea typeface="Avenir Next"/>
                <a:cs typeface="Avenir Next"/>
              </a:defRPr>
            </a:pPr>
            <a:r>
              <a:rPr sz="975" b="1" i="0">
                <a:solidFill>
                  <a:srgbClr val="173F31"/>
                </a:solidFill>
                <a:latin typeface="Avenir Next"/>
                <a:ea typeface="Avenir Next"/>
                <a:cs typeface="Avenir Next"/>
              </a:rPr>
              <a:t>✓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CBE8BF55-DCB5-4F1B-ADE5-65A38EAA5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5629275"/>
            <a:ext cx="2152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7903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Consent + privacy + evals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BE322D22-4637-4276-894D-D619C6408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6572250"/>
            <a:ext cx="9620250" cy="438150"/>
          </a:xfrm>
          <a:prstGeom xmlns:a="http://schemas.openxmlformats.org/drawingml/2006/main" prst="roundRect">
            <a:avLst>
              <a:gd name="adj" fmla="val 26087"/>
            </a:avLst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ABE82131-6EB1-4B40-BCA8-F757AB486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6677025"/>
            <a:ext cx="923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 i="0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Foundation: sign-in and roles · recipient scope · export and deletion · approval history · audit trail</a:t>
            </a:r>
          </a:p>
        </p:txBody>
      </p:sp>
    </p:spTree>
    <p:extLst>
      <p:ext uri="{BB962C8B-B14F-4D97-AF65-F5344CB8AC3E}">
        <p14:creationId xmlns:p14="http://schemas.microsoft.com/office/powerpoint/2010/main" val="203831332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678CF1-01B8-45BA-8643-426334587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771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46F1C2-0B0F-410A-99DA-54AE46B1F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295275" cy="295275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23F49"/>
            </a:solidFill>
          </a:ln>
        </p:spPr>
        <p:txBody>
          <a:bodyPr xmlns:a="http://schemas.openxmlformats.org/drawingml/2006/main" anchor="ctr">
            <a:normAutofit fontScale="19626"/>
          </a:bodyPr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5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+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5436BC-AB29-4590-850F-DD04993F8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71475"/>
            <a:ext cx="1809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029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7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Carestead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32A418-D0A8-4A89-AC9E-1A98E2180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19100"/>
            <a:ext cx="404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defRPr>
            </a:pPr>
            <a:r>
              <a:rPr sz="975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rPr>
              <a:t>PROTOTYPE JOURNEY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408D24-E0D9-4196-8359-C899B140E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334250"/>
            <a:ext cx="619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58333"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Carestead · GenAI Academy · September 2026 · v2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A06D5B-5ABD-43E8-8661-0941D2EC4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44375" y="7334250"/>
            <a:ext cx="95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58333"/>
          </a:bodyPr>
          <a:lstStyle xmlns:a="http://schemas.openxmlformats.org/drawingml/2006/main"/>
          <a:p xmlns:a="http://schemas.openxmlformats.org/drawingml/2006/main">
            <a:pPr algn="r">
              <a:def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06 / 16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d6585fc58b4582"/>
          <a:stretch xmlns:a="http://schemas.openxmlformats.org/drawingml/2006/main"/>
        </p:blipFill>
        <p:spPr>
          <a:xfrm xmlns:a="http://schemas.openxmlformats.org/drawingml/2006/main">
            <a:off x="1100667" y="781050"/>
            <a:ext cx="11514667" cy="6477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85402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6487E11-8F87-4C3D-880F-F1A805F9C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771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5216F6-AC74-4216-B9B4-D378C9EA7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295275" cy="295275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23F49"/>
            </a:solidFill>
          </a:ln>
        </p:spPr>
        <p:txBody>
          <a:bodyPr xmlns:a="http://schemas.openxmlformats.org/drawingml/2006/main" anchor="ctr">
            <a:normAutofit fontScale="19626"/>
          </a:bodyPr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5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+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D6956F-2783-4C82-8F37-0A2588B1B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71475"/>
            <a:ext cx="1809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029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7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Carestead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85E884-72F1-4AE3-9C54-CF0E81133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19100"/>
            <a:ext cx="404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defRPr>
            </a:pPr>
            <a:r>
              <a:rPr sz="975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rPr>
              <a:t>GROUNDED CHAT · REVIEWABLE ACTIONS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56D3DF-B600-4296-A280-9E3ED8702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334250"/>
            <a:ext cx="619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58333"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Carestead · GenAI Academy · September 2026 · v2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40B627-8E69-4516-AA8C-8E233FF77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44375" y="7334250"/>
            <a:ext cx="95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58333"/>
          </a:bodyPr>
          <a:lstStyle xmlns:a="http://schemas.openxmlformats.org/drawingml/2006/main"/>
          <a:p xmlns:a="http://schemas.openxmlformats.org/drawingml/2006/main">
            <a:pPr algn="r">
              <a:def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07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A27848-B82E-4B56-9610-CCB669B1F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0125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defRPr>
            </a:pPr>
            <a:r>
              <a:rPr sz="975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rPr>
              <a:t>PROTOTYPE USABILITY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CA446D-A6D8-4B95-B0C1-4EB87106E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11811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36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Ask naturally. See the evidence.</a:t>
            </a:r>
          </a:p>
          <a:p xmlns:a="http://schemas.openxmlformats.org/drawingml/2006/main">
            <a:pPr algn="l">
              <a:defRPr sz="36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36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Approve the exact next step.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D88967F-8B5E-49DB-9FBA-137BFD0A1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90875"/>
            <a:ext cx="6238875" cy="990600"/>
          </a:xfrm>
          <a:prstGeom xmlns:a="http://schemas.openxmlformats.org/drawingml/2006/main" prst="roundRect">
            <a:avLst>
              <a:gd name="adj" fmla="val 1346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7B038B-DA44-4726-9CCD-C65CFF90C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6232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5DCF96-ABE1-4B79-B5D8-ECAC902D7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81375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0196"/>
          </a:bodyPr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 i="0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36C1F9A-EDA1-41F7-A06A-FE4F5FB7D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362325"/>
            <a:ext cx="54006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6825"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5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Grounded answer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8B8B11-8536-4532-A815-80E48FB8A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743325"/>
            <a:ext cx="54006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2303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127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The LLM answers from the selected person’s current records and returns evidence IDs.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EE2A6E-F957-4223-9423-480892D15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52925"/>
            <a:ext cx="6238875" cy="990600"/>
          </a:xfrm>
          <a:prstGeom xmlns:a="http://schemas.openxmlformats.org/drawingml/2006/main" prst="roundRect">
            <a:avLst>
              <a:gd name="adj" fmla="val 13462"/>
            </a:avLst>
          </a:prstGeom>
          <a:solidFill xmlns:a="http://schemas.openxmlformats.org/drawingml/2006/main">
            <a:srgbClr val="FFD1AF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4F3A6DE-12CE-4FC4-882C-B2642E126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2437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9AC8CB-3214-4370-AFEF-EBB782959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43425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0196"/>
          </a:bodyPr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 i="0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75A54A-5C65-4953-8045-75BBE17A2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524375"/>
            <a:ext cx="54006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6825"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5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Action proposal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127A0B8-9001-4EB0-862F-0CE91BCDC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905375"/>
            <a:ext cx="54006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69797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127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The orchestrator converts the request into a scoped, validated preview. It does not write immediately.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511A3ED-932E-4788-8553-F24616291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14975"/>
            <a:ext cx="6238875" cy="990600"/>
          </a:xfrm>
          <a:prstGeom xmlns:a="http://schemas.openxmlformats.org/drawingml/2006/main" prst="roundRect">
            <a:avLst>
              <a:gd name="adj" fmla="val 1346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28C8BFB-AECB-4306-B816-D8A16878C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86425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FCDB576-FA35-46C7-BA9C-420674C40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05475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0196"/>
          </a:bodyPr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 i="0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7596037-FAA1-49FB-8269-E716AEBC1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686425"/>
            <a:ext cx="54006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6825"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5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Approval + outcome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775F394-F83D-499B-B481-6F064C2B2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6067425"/>
            <a:ext cx="54006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074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127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An authorized caregiver approves. Carestead executes once and records the result.</a:t>
            </a:r>
          </a:p>
        </p:txBody>
      </p:sp>
      <p:pic>
        <p:nvPicPr>
          <p:cNvPr id="4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1a0beac6034910"/>
          <a:stretch xmlns:a="http://schemas.openxmlformats.org/drawingml/2006/main"/>
        </p:blipFill>
        <p:spPr>
          <a:xfrm xmlns:a="http://schemas.openxmlformats.org/drawingml/2006/main">
            <a:off x="7918914" y="2619375"/>
            <a:ext cx="3640797" cy="4476750"/>
          </a:xfrm>
          <a:prstGeom xmlns:a="http://schemas.openxmlformats.org/drawingml/2006/main" prst="roundRect">
            <a:avLst>
              <a:gd name="adj" fmla="val 2581"/>
            </a:avLst>
          </a:prstGeom>
        </p:spPr>
      </p:pic>
    </p:spTree>
    <p:extLst>
      <p:ext uri="{BB962C8B-B14F-4D97-AF65-F5344CB8AC3E}">
        <p14:creationId xmlns:p14="http://schemas.microsoft.com/office/powerpoint/2010/main" val="112307977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733C0FB-114B-4BA6-8BE5-203723AE9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771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BAD01A6-15DE-4D6B-8AEF-E61488AA6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295275" cy="295275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23F49"/>
            </a:solidFill>
          </a:ln>
        </p:spPr>
        <p:txBody>
          <a:bodyPr xmlns:a="http://schemas.openxmlformats.org/drawingml/2006/main" anchor="ctr">
            <a:normAutofit fontScale="19626"/>
          </a:bodyPr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5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+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6E5538-82E4-43C8-B0CE-873E8F6CE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71475"/>
            <a:ext cx="1809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029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7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Carestead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1970E1-D09D-4520-B2C2-500A7DB30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19100"/>
            <a:ext cx="404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defRPr>
            </a:pPr>
            <a:r>
              <a:rPr sz="975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rPr>
              <a:t>VOICE · MULTIMODAL INTAKE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EC0F22-3AE4-49C8-B41A-08D502D96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334250"/>
            <a:ext cx="619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58333"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Carestead · GenAI Academy · September 2026 · v2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3AF243-8ECA-4040-B485-A5DD1283B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44375" y="7334250"/>
            <a:ext cx="95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58333"/>
          </a:bodyPr>
          <a:lstStyle xmlns:a="http://schemas.openxmlformats.org/drawingml/2006/main"/>
          <a:p xmlns:a="http://schemas.openxmlformats.org/drawingml/2006/main">
            <a:pPr algn="r">
              <a:def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08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9BF8FC-0D06-4928-8E05-935FC1CA7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0125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defRPr>
            </a:pPr>
            <a:r>
              <a:rPr sz="975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rPr>
              <a:t>VOICE + MULTIMODAL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20DDDA-6752-4B25-80DE-877DA09CD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11811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36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Care updates arrive in the format caregivers already have.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049751-51D6-45DF-AE93-2ACA08D1E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4125"/>
            <a:ext cx="11525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157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Speak a request, type a note, or upload an image or PDF. Review structured changes before saving.</a:t>
            </a:r>
          </a:p>
        </p:txBody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fd921ef2b64faf"/>
          <a:stretch xmlns:a="http://schemas.openxmlformats.org/drawingml/2006/main"/>
        </p:blipFill>
        <p:spPr>
          <a:xfrm xmlns:a="http://schemas.openxmlformats.org/drawingml/2006/main">
            <a:off x="636058" y="3143250"/>
            <a:ext cx="5757333" cy="3238500"/>
          </a:xfrm>
          <a:prstGeom xmlns:a="http://schemas.openxmlformats.org/drawingml/2006/main" prst="roundRect">
            <a:avLst>
              <a:gd name="adj" fmla="val 3529"/>
            </a:avLst>
          </a:prstGeom>
        </p:spPr>
      </p:pic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8cee2e494f431e"/>
          <a:stretch xmlns:a="http://schemas.openxmlformats.org/drawingml/2006/main"/>
        </p:blipFill>
        <p:spPr>
          <a:xfrm xmlns:a="http://schemas.openxmlformats.org/drawingml/2006/main">
            <a:off x="7508081" y="2857500"/>
            <a:ext cx="1843088" cy="3857625"/>
          </a:xfrm>
          <a:prstGeom xmlns:a="http://schemas.openxmlformats.org/drawingml/2006/main" prst="roundRect">
            <a:avLst>
              <a:gd name="adj" fmla="val 4000"/>
            </a:avLst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3CCBA15-8B3A-4EEB-95FB-185DCDBAF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3143250"/>
            <a:ext cx="2667000" cy="1428750"/>
          </a:xfrm>
          <a:prstGeom xmlns:a="http://schemas.openxmlformats.org/drawingml/2006/main" prst="roundRect">
            <a:avLst>
              <a:gd name="adj" fmla="val 9333"/>
            </a:avLst>
          </a:prstGeom>
          <a:solidFill xmlns:a="http://schemas.openxmlformats.org/drawingml/2006/main">
            <a:srgbClr val="E1F4F1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15C411-BAC8-4AC3-809E-E5088A206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331470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Voice interaction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8D0F548-E94B-49E8-A011-AE4EDAFDF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3695700"/>
            <a:ext cx="2286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6517"/>
          </a:bodyPr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112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Speech-to-text starts a grounded chat. Spoken replies are optional. Carestead stores transcript text, not raw microphone audio.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FDACFFC-D67C-4B00-BCF9-DD3DC754C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4810125"/>
            <a:ext cx="2667000" cy="1571625"/>
          </a:xfrm>
          <a:prstGeom xmlns:a="http://schemas.openxmlformats.org/drawingml/2006/main" prst="roundRect">
            <a:avLst>
              <a:gd name="adj" fmla="val 8485"/>
            </a:avLst>
          </a:prstGeom>
          <a:solidFill xmlns:a="http://schemas.openxmlformats.org/drawingml/2006/main">
            <a:srgbClr val="FFD1AF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EAB59C9-C8CD-4024-992C-28B735DE1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4981575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Multimodal extraction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93C9BC3-19B3-4ABC-8A44-DA90244CB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5362575"/>
            <a:ext cx="2286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4889"/>
          </a:bodyPr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112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The model extracts dates, contacts, follow-ups, facts, and uncertainty. The agent validates scope and asks for approval before saving.</a:t>
            </a:r>
          </a:p>
        </p:txBody>
      </p:sp>
    </p:spTree>
    <p:extLst>
      <p:ext uri="{BB962C8B-B14F-4D97-AF65-F5344CB8AC3E}">
        <p14:creationId xmlns:p14="http://schemas.microsoft.com/office/powerpoint/2010/main" val="30640580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95CC9B3-F26D-429B-B8F2-265439F41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771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2C518A-7A70-400B-B622-9B23CA989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295275" cy="295275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23F49"/>
            </a:solidFill>
          </a:ln>
        </p:spPr>
        <p:txBody>
          <a:bodyPr xmlns:a="http://schemas.openxmlformats.org/drawingml/2006/main" anchor="ctr">
            <a:normAutofit fontScale="19626"/>
          </a:bodyPr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5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+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77A690-8346-4514-A57B-9586E20C1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71475"/>
            <a:ext cx="1809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029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7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Carestead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029689-F5B9-4B77-811E-E1C5948BD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19100"/>
            <a:ext cx="404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defRPr>
            </a:pPr>
            <a:r>
              <a:rPr sz="975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rPr>
              <a:t>AGENT CAPABILITY TYPES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74F5C8-9CB7-44E9-AD1F-9DA1CCF57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334250"/>
            <a:ext cx="619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58333"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Carestead · GenAI Academy · September 2026 · v2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9E1C53-CD83-4C19-B05E-DE78358F3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44375" y="7334250"/>
            <a:ext cx="95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58333"/>
          </a:bodyPr>
          <a:lstStyle xmlns:a="http://schemas.openxmlformats.org/drawingml/2006/main"/>
          <a:p xmlns:a="http://schemas.openxmlformats.org/drawingml/2006/main">
            <a:pPr algn="r">
              <a:def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09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788825-888B-4A63-8F1C-A07335C31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0125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defRPr>
            </a:pPr>
            <a:r>
              <a:rPr sz="975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rPr>
              <a:t>AGENTIC DESIGN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F8FF0D-7A08-424F-8B92-EEEA74C85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11811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36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Not every workflow uses AI the same way.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7883351-4D18-4441-9029-2C86F3759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4125"/>
            <a:ext cx="11525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157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Carestead applies model intelligence selectively and keeps safety-critical control in deterministic code.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B81F14-801B-4768-B717-2DA3C9FD3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0"/>
            <a:ext cx="5857875" cy="1524000"/>
          </a:xfrm>
          <a:prstGeom xmlns:a="http://schemas.openxmlformats.org/drawingml/2006/main" prst="roundRect">
            <a:avLst>
              <a:gd name="adj" fmla="val 8750"/>
            </a:avLst>
          </a:prstGeom>
          <a:solidFill xmlns:a="http://schemas.openxmlformats.org/drawingml/2006/main">
            <a:srgbClr val="E1F4F1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77CF3B-36FF-405C-AA42-DC215F703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14700"/>
            <a:ext cx="5381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8406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7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LLM-assisted workflow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4ADC80-C6EB-4B84-8B35-D5FC71AA5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62375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6111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defRPr>
            </a:pPr>
            <a:r>
              <a:rPr sz="900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rPr>
              <a:t>MODEL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5B9DCEB-6A4B-4084-8A98-6AF5C95D2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3733800"/>
            <a:ext cx="433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200" b="0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Extracts, summarizes, ranks, or drafts.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C4DF59-AF99-4C30-87E5-F3F37EC8D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43375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6111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defRPr>
            </a:pPr>
            <a:r>
              <a:rPr sz="900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rPr>
              <a:t>CONTROL LAYER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16476D-F9BD-44A1-A01E-176C1086A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4105275"/>
            <a:ext cx="4333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12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Validates, clarifies, scopes, and saves after review.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4B0995A-CB2C-480D-8DD6-70EAAFE64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3143250"/>
            <a:ext cx="5857875" cy="1524000"/>
          </a:xfrm>
          <a:prstGeom xmlns:a="http://schemas.openxmlformats.org/drawingml/2006/main" prst="roundRect">
            <a:avLst>
              <a:gd name="adj" fmla="val 8750"/>
            </a:avLst>
          </a:prstGeom>
          <a:solidFill xmlns:a="http://schemas.openxmlformats.org/drawingml/2006/main">
            <a:srgbClr val="FFD1AF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633D5FB-7A04-4A38-88D7-7D0B3EB0F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3314700"/>
            <a:ext cx="5381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8406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7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Full agentic workflow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512C916-784B-4997-B5D7-1E2ADC68A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3762375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6111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defRPr>
            </a:pPr>
            <a:r>
              <a:rPr sz="900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rPr>
              <a:t>MODEL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4DB8185-CA3E-4CF1-A26D-E885CBD64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725" y="3733800"/>
            <a:ext cx="433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200" b="0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Interprets the goal and explains options.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8990D5F-74DF-4FC6-BFD5-566952CFC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143375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6111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defRPr>
            </a:pPr>
            <a:r>
              <a:rPr sz="900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rPr>
              <a:t>CONTROL LAYER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1DFD6AF-AC18-466D-959E-66D61E3FA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725" y="4105275"/>
            <a:ext cx="4333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12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Retrieves, plans, calls tools, requests approval, and verifies.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1757BF9-D8CA-40B6-8435-9256BAE59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05375"/>
            <a:ext cx="5857875" cy="1524000"/>
          </a:xfrm>
          <a:prstGeom xmlns:a="http://schemas.openxmlformats.org/drawingml/2006/main" prst="roundRect">
            <a:avLst>
              <a:gd name="adj" fmla="val 87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0D15845-D063-45F5-8309-E04775BA2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76825"/>
            <a:ext cx="5381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8406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7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Grounded read-only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BB4A6D4-77E9-47DE-9950-48B309F4B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52450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6111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defRPr>
            </a:pPr>
            <a:r>
              <a:rPr sz="900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rPr>
              <a:t>MODEL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4036D35-F212-4F4B-ADA1-EE2BC4118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5495925"/>
            <a:ext cx="433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200" b="0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Produces an evidence-backed answer or summary.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BBD2551-7931-41B7-99CF-CD1B57B21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90550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6111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defRPr>
            </a:pPr>
            <a:r>
              <a:rPr sz="900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rPr>
              <a:t>CONTROL LAYER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A057D0F-14DB-44AB-9A11-840BC16DB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5867400"/>
            <a:ext cx="4333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12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Retrieves recipient-scoped records and checks citations.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41F3BDA-956A-4C3E-A7A9-C1B3245B6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4905375"/>
            <a:ext cx="5857875" cy="1524000"/>
          </a:xfrm>
          <a:prstGeom xmlns:a="http://schemas.openxmlformats.org/drawingml/2006/main" prst="roundRect">
            <a:avLst>
              <a:gd name="adj" fmla="val 8750"/>
            </a:avLst>
          </a:prstGeom>
          <a:solidFill xmlns:a="http://schemas.openxmlformats.org/drawingml/2006/main">
            <a:srgbClr val="EEF3EF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2C48984-C9AD-41E7-BF6A-2694C0839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5076825"/>
            <a:ext cx="5381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8406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7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Deterministic agent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C4A565F-306A-4D07-AB21-303576F76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552450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6111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defRPr>
            </a:pPr>
            <a:r>
              <a:rPr sz="900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rPr>
              <a:t>MODEL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C683ADB-C0A0-46EA-9BD7-E8F740937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725" y="5495925"/>
            <a:ext cx="433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200" b="0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Optional explanation only.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4956BB9-BF15-4A20-8B4D-84F190CB1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590550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6111"/>
          </a:bodyPr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defRPr>
            </a:pPr>
            <a:r>
              <a:rPr sz="900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rPr>
              <a:t>CONTROL LAYER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349C2FC-45AC-4BC9-8A46-A4C609FE0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6725" y="5867400"/>
            <a:ext cx="4333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0072"/>
          </a:bodyPr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12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Rules detect risks, enforce policy, select tools, and trace outcomes.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2E87F8D-FFB7-490C-8046-89E310AC4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6724650"/>
            <a:ext cx="933450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173F31"/>
          </a:solidFill>
          <a:ln xmlns:a="http://schemas.openxmlformats.org/drawingml/2006/main" w="0">
            <a:noFill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BBE22D7-C93A-4E90-BEFB-DCAA0C3F6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6781800"/>
            <a:ext cx="895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 i="0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Interaction modes: text · voice transcript · spoken reply · image · PDF · structured records</a:t>
            </a:r>
          </a:p>
        </p:txBody>
      </p:sp>
    </p:spTree>
    <p:extLst>
      <p:ext uri="{BB962C8B-B14F-4D97-AF65-F5344CB8AC3E}">
        <p14:creationId xmlns:p14="http://schemas.microsoft.com/office/powerpoint/2010/main" val="178888350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E1F4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81460101-0264-4634-84D8-D935C5215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771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0027C4-90AD-43EF-99DE-BB040D164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295275" cy="295275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23F49"/>
            </a:solidFill>
          </a:ln>
        </p:spPr>
        <p:txBody>
          <a:bodyPr xmlns:a="http://schemas.openxmlformats.org/drawingml/2006/main" anchor="ctr">
            <a:normAutofit fontScale="19626"/>
          </a:bodyPr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5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+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55CC7B-1CC3-4FE8-B408-59262342B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71475"/>
            <a:ext cx="1809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029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7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Carestead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3C3E9F-1C7F-4265-A678-B053F6D4A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19100"/>
            <a:ext cx="404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defRPr>
            </a:pPr>
            <a:r>
              <a:rPr sz="975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rPr>
              <a:t>AGENT WORKFLOWS IN THE PRODUCT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6AAAFB-4EA4-41F2-914F-9052743C3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334250"/>
            <a:ext cx="619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58333"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Carestead · GenAI Academy · September 2026 · v2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E89DCD-EB97-42D8-850C-D558869C1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44375" y="7334250"/>
            <a:ext cx="95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58333"/>
          </a:bodyPr>
          <a:lstStyle xmlns:a="http://schemas.openxmlformats.org/drawingml/2006/main"/>
          <a:p xmlns:a="http://schemas.openxmlformats.org/drawingml/2006/main">
            <a:pPr algn="r">
              <a:def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10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344B89-2F53-4A78-BF6C-FE8FAFBD5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81075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73F31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 i="0">
                <a:solidFill>
                  <a:srgbClr val="173F31"/>
                </a:solidFill>
                <a:latin typeface="Avenir Next"/>
                <a:ea typeface="Avenir Next"/>
                <a:cs typeface="Avenir Next"/>
              </a:rPr>
              <a:t>CAPABILITY MAP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6BE821-ED14-4A7A-98FE-AF5669460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11811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36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Eight workflows. Four capability patterns.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F25774-665B-47E6-8BD0-E4979BFA3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4125"/>
            <a:ext cx="11525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157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Each workflow states what the model contributes and what the agent controls.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77181F-9B0C-4C2F-9A50-A8E0B4664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048000"/>
            <a:ext cx="6143625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7FCFA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3947FD-CD87-4624-A992-9CF93698B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171825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Grounded care chat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A498F8-6FCC-4A38-8C0E-D791535A3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124200"/>
            <a:ext cx="2457450" cy="333375"/>
          </a:xfrm>
          <a:prstGeom xmlns:a="http://schemas.openxmlformats.org/drawingml/2006/main" prst="roundRect">
            <a:avLst>
              <a:gd name="adj" fmla="val 45714"/>
            </a:avLst>
          </a:prstGeom>
          <a:solidFill xmlns:a="http://schemas.openxmlformats.org/drawingml/2006/main">
            <a:srgbClr val="FFD6BA"/>
          </a:solidFill>
          <a:ln xmlns:a="http://schemas.openxmlformats.org/drawingml/2006/main" w="9525">
            <a:solidFill>
              <a:srgbClr val="E9A777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FFF9BE-B43E-4889-8CE4-128628819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181350"/>
            <a:ext cx="22669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4444"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173F31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 i="0">
                <a:solidFill>
                  <a:srgbClr val="173F31"/>
                </a:solidFill>
                <a:latin typeface="Avenir Next"/>
                <a:ea typeface="Avenir Next"/>
                <a:cs typeface="Avenir Next"/>
              </a:rPr>
              <a:t>HYBRID AGENTIC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5419C9F-4CC0-43D6-A55B-CCD6D6E74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505200"/>
            <a:ext cx="2714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975" b="0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LLM: understand and synthesize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82C4304-D869-4474-9819-7DBC0634D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486150"/>
            <a:ext cx="295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97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Agent: retrieve, cite, route, approve, execute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61712CF-F00E-43D1-808D-585D0F18B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029075"/>
            <a:ext cx="6143625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E6548EC-60D2-4E3F-8BF2-87CA04A0A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152900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Conflict resolution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E61DCF0-936D-4399-B082-440B3B251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105275"/>
            <a:ext cx="2457450" cy="333375"/>
          </a:xfrm>
          <a:prstGeom xmlns:a="http://schemas.openxmlformats.org/drawingml/2006/main" prst="roundRect">
            <a:avLst>
              <a:gd name="adj" fmla="val 45714"/>
            </a:avLst>
          </a:prstGeom>
          <a:solidFill xmlns:a="http://schemas.openxmlformats.org/drawingml/2006/main">
            <a:srgbClr val="FFD6BA"/>
          </a:solidFill>
          <a:ln xmlns:a="http://schemas.openxmlformats.org/drawingml/2006/main" w="9525">
            <a:solidFill>
              <a:srgbClr val="E9A777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5C26F5F-3CB7-4678-9E0F-0DE2ADE48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162425"/>
            <a:ext cx="22669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4444"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173F31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 i="0">
                <a:solidFill>
                  <a:srgbClr val="173F31"/>
                </a:solidFill>
                <a:latin typeface="Avenir Next"/>
                <a:ea typeface="Avenir Next"/>
                <a:cs typeface="Avenir Next"/>
              </a:rPr>
              <a:t>FULL AGENTIC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C36DA0B-E7FD-4745-AE4A-6D00900A0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486275"/>
            <a:ext cx="2714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975" b="0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LLM: rank and explain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7DBF69B-5C70-4363-832C-033A8F9EF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467225"/>
            <a:ext cx="295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97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Agent: simulate, validate, reschedule, verify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BD45488-1CEB-4476-B42B-6E5FAB782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010150"/>
            <a:ext cx="6143625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7FCFA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91689DF-8945-43E3-BC47-FE1906F98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33975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Care-update extraction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5EBEF67-5EC6-43C9-8760-29737DB87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086350"/>
            <a:ext cx="2457450" cy="333375"/>
          </a:xfrm>
          <a:prstGeom xmlns:a="http://schemas.openxmlformats.org/drawingml/2006/main" prst="roundRect">
            <a:avLst>
              <a:gd name="adj" fmla="val 45714"/>
            </a:avLst>
          </a:prstGeom>
          <a:solidFill xmlns:a="http://schemas.openxmlformats.org/drawingml/2006/main">
            <a:srgbClr val="FFD6BA"/>
          </a:solidFill>
          <a:ln xmlns:a="http://schemas.openxmlformats.org/drawingml/2006/main" w="9525">
            <a:solidFill>
              <a:srgbClr val="E9A777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E1EF98F-E19B-4523-9809-C355A0030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143500"/>
            <a:ext cx="22669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4444"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173F31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 i="0">
                <a:solidFill>
                  <a:srgbClr val="173F31"/>
                </a:solidFill>
                <a:latin typeface="Avenir Next"/>
                <a:ea typeface="Avenir Next"/>
                <a:cs typeface="Avenir Next"/>
              </a:rPr>
              <a:t>LLM ASSISTED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04EE421-B4A7-4C5C-9646-5C36A7E39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467350"/>
            <a:ext cx="2714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975" b="0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LLM: extract intent and details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C211C1B-1941-4A3F-94EF-4894740B2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5448300"/>
            <a:ext cx="295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97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Agent: clarify, validate, match, approve, save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7C5F15-4012-47F5-8436-8CCFADA71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991225"/>
            <a:ext cx="6143625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2582CAD-E807-4AC4-9EA6-98594BE8D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6115050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Intelligent handover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165CB29-716C-47C1-A760-38286EF14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6067425"/>
            <a:ext cx="2457450" cy="333375"/>
          </a:xfrm>
          <a:prstGeom xmlns:a="http://schemas.openxmlformats.org/drawingml/2006/main" prst="roundRect">
            <a:avLst>
              <a:gd name="adj" fmla="val 45714"/>
            </a:avLst>
          </a:prstGeom>
          <a:solidFill xmlns:a="http://schemas.openxmlformats.org/drawingml/2006/main">
            <a:srgbClr val="FFD6BA"/>
          </a:solidFill>
          <a:ln xmlns:a="http://schemas.openxmlformats.org/drawingml/2006/main" w="9525">
            <a:solidFill>
              <a:srgbClr val="E9A777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E53B620-9283-4403-BDAF-F7DD0605F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6124575"/>
            <a:ext cx="22669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4444"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173F31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 i="0">
                <a:solidFill>
                  <a:srgbClr val="173F31"/>
                </a:solidFill>
                <a:latin typeface="Avenir Next"/>
                <a:ea typeface="Avenir Next"/>
                <a:cs typeface="Avenir Next"/>
              </a:rPr>
              <a:t>GROUNDED READ ONLY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956D484-D831-4040-984D-FF27033D8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6448425"/>
            <a:ext cx="2714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975" b="0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LLM: evidence-backed summary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2367210-0AD7-4FC7-B504-166B7E746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6429375"/>
            <a:ext cx="295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97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Agent: scoped retrieval and citation checks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5E66908-73F2-405C-85C6-EE26FB12F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048000"/>
            <a:ext cx="6143625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7FCFA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F60DB71-5AB3-40A5-B653-953378500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171825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Adaptive care-plan builder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C0B2A63-2D71-4C15-BDD5-278411853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3124200"/>
            <a:ext cx="2457450" cy="333375"/>
          </a:xfrm>
          <a:prstGeom xmlns:a="http://schemas.openxmlformats.org/drawingml/2006/main" prst="roundRect">
            <a:avLst>
              <a:gd name="adj" fmla="val 45714"/>
            </a:avLst>
          </a:prstGeom>
          <a:solidFill xmlns:a="http://schemas.openxmlformats.org/drawingml/2006/main">
            <a:srgbClr val="FFD6BA"/>
          </a:solidFill>
          <a:ln xmlns:a="http://schemas.openxmlformats.org/drawingml/2006/main" w="9525">
            <a:solidFill>
              <a:srgbClr val="E9A777"/>
            </a:solidFill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1CEB5EA-358F-4395-B95E-3CDD3E7B6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25125" y="3181350"/>
            <a:ext cx="22669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4444"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173F31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 i="0">
                <a:solidFill>
                  <a:srgbClr val="173F31"/>
                </a:solidFill>
                <a:latin typeface="Avenir Next"/>
                <a:ea typeface="Avenir Next"/>
                <a:cs typeface="Avenir Next"/>
              </a:rPr>
              <a:t>LLM PLANNING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80C74F7-5102-411A-8812-4D83ADCFF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505200"/>
            <a:ext cx="2714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975" b="0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LLM: propose plan and missing details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F8E52B9-29EF-4FE0-9368-EB692B314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3486150"/>
            <a:ext cx="295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97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Agent: isolate, validate, approve, create tasks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34F4B23-CA25-4607-B693-D5BB66630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029075"/>
            <a:ext cx="6143625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82D1D01-1F3E-4EFE-B824-14787CB31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152900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Communication composer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EAEE099-80B4-4EC4-A099-CA44F3E72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4105275"/>
            <a:ext cx="2457450" cy="333375"/>
          </a:xfrm>
          <a:prstGeom xmlns:a="http://schemas.openxmlformats.org/drawingml/2006/main" prst="roundRect">
            <a:avLst>
              <a:gd name="adj" fmla="val 45714"/>
            </a:avLst>
          </a:prstGeom>
          <a:solidFill xmlns:a="http://schemas.openxmlformats.org/drawingml/2006/main">
            <a:srgbClr val="FFD6BA"/>
          </a:solidFill>
          <a:ln xmlns:a="http://schemas.openxmlformats.org/drawingml/2006/main" w="9525">
            <a:solidFill>
              <a:srgbClr val="E9A777"/>
            </a:solidFill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5591FC2-9B27-41A2-A6A6-F18FDEEFA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25125" y="4162425"/>
            <a:ext cx="22669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4444"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173F31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 i="0">
                <a:solidFill>
                  <a:srgbClr val="173F31"/>
                </a:solidFill>
                <a:latin typeface="Avenir Next"/>
                <a:ea typeface="Avenir Next"/>
                <a:cs typeface="Avenir Next"/>
              </a:rPr>
              <a:t>LLM + DELIVERY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3AFBAE5-1313-4AA2-BBA4-ED5D94395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486275"/>
            <a:ext cx="2714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975" b="0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LLM: draft and adapt tone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DD5A1B6-211F-4B82-B233-02ED3FD35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4467225"/>
            <a:ext cx="295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97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Agent: audience, channel, approval, receipt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D0A738C-170A-4257-8FFC-8881B9112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010150"/>
            <a:ext cx="6143625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7FCFA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9C04E72-53D1-481B-B1BF-89DC8B603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5133975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Document and image intake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46E69EE-2457-44CB-BE4A-09B7C6523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5086350"/>
            <a:ext cx="2457450" cy="333375"/>
          </a:xfrm>
          <a:prstGeom xmlns:a="http://schemas.openxmlformats.org/drawingml/2006/main" prst="roundRect">
            <a:avLst>
              <a:gd name="adj" fmla="val 45714"/>
            </a:avLst>
          </a:prstGeom>
          <a:solidFill xmlns:a="http://schemas.openxmlformats.org/drawingml/2006/main">
            <a:srgbClr val="FFD6BA"/>
          </a:solidFill>
          <a:ln xmlns:a="http://schemas.openxmlformats.org/drawingml/2006/main" w="9525">
            <a:solidFill>
              <a:srgbClr val="E9A777"/>
            </a:solidFill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A1D6A07-C20F-47E9-B6F9-27C8359EC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25125" y="5143500"/>
            <a:ext cx="22669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4444"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173F31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 i="0">
                <a:solidFill>
                  <a:srgbClr val="173F31"/>
                </a:solidFill>
                <a:latin typeface="Avenir Next"/>
                <a:ea typeface="Avenir Next"/>
                <a:cs typeface="Avenir Next"/>
              </a:rPr>
              <a:t>MULTIMODAL LLM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9EE871B-EC95-46EA-AEAF-3A92F27C6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5467350"/>
            <a:ext cx="2714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975" b="0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LLM: extract fields and uncertainty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7B2E825-0D82-4F00-AD77-00F3FF540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5448300"/>
            <a:ext cx="295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97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Agent: consent, validate, approve, track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6653724-CC50-4DCA-B2C1-F6CA04F25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5991225"/>
            <a:ext cx="6143625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B431E12B-8910-47C5-96D0-9E3E0E0DC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6115050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0702"/>
          </a:bodyPr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4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Risk checks and memory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5D0B093-6256-4A1F-9004-F3D4648CC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6067425"/>
            <a:ext cx="2457450" cy="333375"/>
          </a:xfrm>
          <a:prstGeom xmlns:a="http://schemas.openxmlformats.org/drawingml/2006/main" prst="roundRect">
            <a:avLst>
              <a:gd name="adj" fmla="val 45714"/>
            </a:avLst>
          </a:prstGeom>
          <a:solidFill xmlns:a="http://schemas.openxmlformats.org/drawingml/2006/main">
            <a:srgbClr val="FFD6BA"/>
          </a:solidFill>
          <a:ln xmlns:a="http://schemas.openxmlformats.org/drawingml/2006/main" w="9525">
            <a:solidFill>
              <a:srgbClr val="E9A777"/>
            </a:solidFill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FC06214-6C33-42B0-9447-C32961A55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25125" y="6124575"/>
            <a:ext cx="22669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4444"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173F31"/>
                </a:solidFill>
                <a:latin typeface="Avenir Next"/>
                <a:ea typeface="Avenir Next"/>
                <a:cs typeface="Avenir Next"/>
              </a:defRPr>
            </a:pPr>
            <a:r>
              <a:rPr sz="1125" b="1" i="0">
                <a:solidFill>
                  <a:srgbClr val="173F31"/>
                </a:solidFill>
                <a:latin typeface="Avenir Next"/>
                <a:ea typeface="Avenir Next"/>
                <a:cs typeface="Avenir Next"/>
              </a:rPr>
              <a:t>DETERMINISTIC AGENT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418789C9-3778-48A5-A243-4CBCE5C8E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6448425"/>
            <a:ext cx="2714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9487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975" b="0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LLM: optional explanation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D9BBA6D6-2BDF-48DD-8BCD-333558A1C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6429375"/>
            <a:ext cx="295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7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97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Agent: rules, retrieval, policy, traces</a:t>
            </a:r>
          </a:p>
        </p:txBody>
      </p:sp>
    </p:spTree>
    <p:extLst>
      <p:ext uri="{BB962C8B-B14F-4D97-AF65-F5344CB8AC3E}">
        <p14:creationId xmlns:p14="http://schemas.microsoft.com/office/powerpoint/2010/main" val="10935085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EBD926-E3FF-4F79-B16B-C54C00C0C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771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AEB345-F88C-40F6-8334-B1FEC281A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295275" cy="295275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23F49"/>
            </a:solidFill>
          </a:ln>
        </p:spPr>
        <p:txBody>
          <a:bodyPr xmlns:a="http://schemas.openxmlformats.org/drawingml/2006/main" anchor="ctr">
            <a:normAutofit fontScale="19626"/>
          </a:bodyPr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5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+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ECB082-F864-49A1-9C50-C281161C2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71475"/>
            <a:ext cx="1809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029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7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Carestead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122B078-9ADC-4EE2-BCF6-2FE429603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19100"/>
            <a:ext cx="404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defRPr>
            </a:pPr>
            <a:r>
              <a:rPr sz="975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rPr>
              <a:t>TECHNICAL ARCHITECTURE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D5052B-C154-4C35-8911-BC6E00408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334250"/>
            <a:ext cx="619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58333"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Carestead · GenAI Academy · September 2026 · v2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E4F445-6EE7-4727-97AE-BBB577759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44375" y="7334250"/>
            <a:ext cx="95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58333"/>
          </a:bodyPr>
          <a:lstStyle xmlns:a="http://schemas.openxmlformats.org/drawingml/2006/main"/>
          <a:p xmlns:a="http://schemas.openxmlformats.org/drawingml/2006/main">
            <a:pPr algn="r">
              <a:def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11 / 16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1713eef939492e"/>
          <a:stretch xmlns:a="http://schemas.openxmlformats.org/drawingml/2006/main"/>
        </p:blipFill>
        <p:spPr>
          <a:xfrm xmlns:a="http://schemas.openxmlformats.org/drawingml/2006/main">
            <a:off x="1100667" y="762000"/>
            <a:ext cx="11514667" cy="6477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897987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4CE8BD-5907-45C4-BC78-5B874FA8D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771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2482C5-0A14-4386-B9FB-9F64EBC8F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295275" cy="295275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23F49"/>
            </a:solidFill>
          </a:ln>
        </p:spPr>
        <p:txBody>
          <a:bodyPr xmlns:a="http://schemas.openxmlformats.org/drawingml/2006/main" anchor="ctr">
            <a:normAutofit fontScale="19626"/>
          </a:bodyPr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5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+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F03593-5691-4546-8A47-2C7ADD3F2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71475"/>
            <a:ext cx="1809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029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7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Carestead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E0EB63-144F-41B8-A2BE-39EEF201E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19100"/>
            <a:ext cx="404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defRPr>
            </a:pPr>
            <a:r>
              <a:rPr sz="975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rPr>
              <a:t>DECISION PATH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1BA3A6-2762-4692-9F95-3A05C4BE2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334250"/>
            <a:ext cx="619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58333"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Carestead · GenAI Academy · September 2026 · v2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12BE2B-8069-41F7-9D71-E2F68ACE7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44375" y="7334250"/>
            <a:ext cx="95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58333"/>
          </a:bodyPr>
          <a:lstStyle xmlns:a="http://schemas.openxmlformats.org/drawingml/2006/main"/>
          <a:p xmlns:a="http://schemas.openxmlformats.org/drawingml/2006/main">
            <a:pPr algn="r">
              <a:def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12 / 16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251bb30f514043"/>
          <a:stretch xmlns:a="http://schemas.openxmlformats.org/drawingml/2006/main"/>
        </p:blipFill>
        <p:spPr>
          <a:xfrm xmlns:a="http://schemas.openxmlformats.org/drawingml/2006/main">
            <a:off x="1101566" y="762000"/>
            <a:ext cx="11512868" cy="6477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072968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C011409-CA8B-431A-8E92-BBE34DC7F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771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9DF72B-F922-423A-B8B6-4BDC8F1F6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295275" cy="295275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23F49"/>
            </a:solidFill>
          </a:ln>
        </p:spPr>
        <p:txBody>
          <a:bodyPr xmlns:a="http://schemas.openxmlformats.org/drawingml/2006/main" anchor="ctr">
            <a:normAutofit fontScale="19626"/>
          </a:bodyPr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5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+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EC831B-BF9B-4B10-BBF2-51CC9AFFF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71475"/>
            <a:ext cx="1809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029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7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Carestead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7A24E2-B192-46AF-A1B2-6E4E3DCB8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19100"/>
            <a:ext cx="404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defRPr>
            </a:pPr>
            <a:r>
              <a:rPr sz="975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rPr>
              <a:t>BOUNDED AUTONOMY · TOOL SURFACE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A0BB4F5-E868-4E44-B50D-3A9C0FB80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334250"/>
            <a:ext cx="619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58333"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Carestead · GenAI Academy · September 2026 · v2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A41FEC-B343-4750-99D6-EC12796CA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44375" y="7334250"/>
            <a:ext cx="95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58333"/>
          </a:bodyPr>
          <a:lstStyle xmlns:a="http://schemas.openxmlformats.org/drawingml/2006/main"/>
          <a:p xmlns:a="http://schemas.openxmlformats.org/drawingml/2006/main">
            <a:pPr algn="r">
              <a:def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13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FD43B9-D885-4779-A8A6-15C6DDC8C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0125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defRPr>
            </a:pPr>
            <a:r>
              <a:rPr sz="975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rPr>
              <a:t>BOUNDED AUTONOMY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6DC838-A947-4C3A-B069-BE941BDA3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11811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5833"/>
          </a:bodyPr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36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The system can reason broadly.</a:t>
            </a:r>
          </a:p>
          <a:p xmlns:a="http://schemas.openxmlformats.org/drawingml/2006/main">
            <a:pPr algn="l">
              <a:defRPr sz="36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36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It can act only through narrow, reviewable tools.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314135-6F3F-4928-B3B9-BE16687B5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0"/>
            <a:ext cx="3762375" cy="1762125"/>
          </a:xfrm>
          <a:prstGeom xmlns:a="http://schemas.openxmlformats.org/drawingml/2006/main" prst="roundRect">
            <a:avLst>
              <a:gd name="adj" fmla="val 7568"/>
            </a:avLst>
          </a:prstGeom>
          <a:solidFill xmlns:a="http://schemas.openxmlformats.org/drawingml/2006/main">
            <a:srgbClr val="EEF3EF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51F983-8F7D-4F07-9A36-90139B4CF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14700"/>
            <a:ext cx="33813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424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LLM contributes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8630CB-BF63-4CA5-9B57-83B0880F6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95700"/>
            <a:ext cx="3381375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135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Interpret intent · extract facts · summarize evidence · draft language · rank already-feasible options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254CEE1-A5A9-4052-94FA-D4E3B5E70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143250"/>
            <a:ext cx="3762375" cy="1762125"/>
          </a:xfrm>
          <a:prstGeom xmlns:a="http://schemas.openxmlformats.org/drawingml/2006/main" prst="roundRect">
            <a:avLst>
              <a:gd name="adj" fmla="val 7568"/>
            </a:avLst>
          </a:prstGeom>
          <a:solidFill xmlns:a="http://schemas.openxmlformats.org/drawingml/2006/main">
            <a:srgbClr val="E1F4F1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4C13D7B-DA72-4C64-B467-0E71CD949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3314700"/>
            <a:ext cx="33813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424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Orchestrator decides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FFAB9B-080C-4648-A018-DD35EB6D8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3695700"/>
            <a:ext cx="3381375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135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Recipient scope · tool routing · role checks · consent · risk rules · feasibility · idempotency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785738A-2514-4CCF-AD04-BABACD954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143250"/>
            <a:ext cx="3762375" cy="1762125"/>
          </a:xfrm>
          <a:prstGeom xmlns:a="http://schemas.openxmlformats.org/drawingml/2006/main" prst="roundRect">
            <a:avLst>
              <a:gd name="adj" fmla="val 7568"/>
            </a:avLst>
          </a:prstGeom>
          <a:solidFill xmlns:a="http://schemas.openxmlformats.org/drawingml/2006/main">
            <a:srgbClr val="FFD1AF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953F35C-AB67-4FD6-A728-2528382FD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314700"/>
            <a:ext cx="33813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424"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Caregiver decides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8139950-8300-41F8-96EE-DF7373E8A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695700"/>
            <a:ext cx="3381375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135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Approve, edit, or reject calendar changes, assignments, messages, plan changes, and other consequential writes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C59FF5B-EC0B-4B58-9932-65207F0F6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0"/>
            <a:ext cx="2714625" cy="419100"/>
          </a:xfrm>
          <a:prstGeom xmlns:a="http://schemas.openxmlformats.org/drawingml/2006/main" prst="roundRect">
            <a:avLst>
              <a:gd name="adj" fmla="val 454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6023C19-A702-4B0A-B3FA-FE13A0F47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419725"/>
            <a:ext cx="2428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Profile + plan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80F140A-28BA-4F79-99C8-B926FD6E5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334000"/>
            <a:ext cx="2714625" cy="419100"/>
          </a:xfrm>
          <a:prstGeom xmlns:a="http://schemas.openxmlformats.org/drawingml/2006/main" prst="roundRect">
            <a:avLst>
              <a:gd name="adj" fmla="val 454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ECFC763-BCCD-4A36-811F-0FD3A49F0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5419725"/>
            <a:ext cx="2428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Responsibilities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696BDE5-BC91-4943-AA4F-FC7D60A4C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334000"/>
            <a:ext cx="2714625" cy="419100"/>
          </a:xfrm>
          <a:prstGeom xmlns:a="http://schemas.openxmlformats.org/drawingml/2006/main" prst="roundRect">
            <a:avLst>
              <a:gd name="adj" fmla="val 454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BC1F35E-4C95-4F08-BC1C-386D3131A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5419725"/>
            <a:ext cx="2428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Calendar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008B629-A357-4E13-AE1A-048CEE3CD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5334000"/>
            <a:ext cx="2714625" cy="419100"/>
          </a:xfrm>
          <a:prstGeom xmlns:a="http://schemas.openxmlformats.org/drawingml/2006/main" prst="roundRect">
            <a:avLst>
              <a:gd name="adj" fmla="val 454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0871132-9A35-4A05-8E08-730EB18E0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5419725"/>
            <a:ext cx="2428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Care Circle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9BFC340-F68D-4E9A-8298-2654E38D3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24550"/>
            <a:ext cx="2714625" cy="419100"/>
          </a:xfrm>
          <a:prstGeom xmlns:a="http://schemas.openxmlformats.org/drawingml/2006/main" prst="roundRect">
            <a:avLst>
              <a:gd name="adj" fmla="val 454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54BFA23-2567-455A-B756-D4D4C7008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010275"/>
            <a:ext cx="2428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Handover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37659AF-CE8F-4860-8931-315C09BB2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924550"/>
            <a:ext cx="2714625" cy="419100"/>
          </a:xfrm>
          <a:prstGeom xmlns:a="http://schemas.openxmlformats.org/drawingml/2006/main" prst="roundRect">
            <a:avLst>
              <a:gd name="adj" fmla="val 454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5F99B15-31F5-4DB7-A59D-94A5D2B4E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6010275"/>
            <a:ext cx="2428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Notifications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AB751D2-A45C-4DCB-B693-4263C56BA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924550"/>
            <a:ext cx="2714625" cy="419100"/>
          </a:xfrm>
          <a:prstGeom xmlns:a="http://schemas.openxmlformats.org/drawingml/2006/main" prst="roundRect">
            <a:avLst>
              <a:gd name="adj" fmla="val 454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3FF4E5C-3537-47C2-A430-5EE2EA3F0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6010275"/>
            <a:ext cx="2428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Memory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65A1529-24B5-4187-88CA-E613D8F98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5924550"/>
            <a:ext cx="2714625" cy="419100"/>
          </a:xfrm>
          <a:prstGeom xmlns:a="http://schemas.openxmlformats.org/drawingml/2006/main" prst="roundRect">
            <a:avLst>
              <a:gd name="adj" fmla="val 454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9DFBF3F-442C-4F0E-8171-7AC7B25A9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6010275"/>
            <a:ext cx="2428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5833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Audit + evals</a:t>
            </a:r>
          </a:p>
        </p:txBody>
      </p:sp>
    </p:spTree>
    <p:extLst>
      <p:ext uri="{BB962C8B-B14F-4D97-AF65-F5344CB8AC3E}">
        <p14:creationId xmlns:p14="http://schemas.microsoft.com/office/powerpoint/2010/main" val="204995302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AF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50713F99-9EF5-4D9B-B95F-C32463ADE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771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B8C58D-5CC2-45F8-BAD5-340723C8D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295275" cy="295275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23F49"/>
            </a:solidFill>
          </a:ln>
        </p:spPr>
        <p:txBody>
          <a:bodyPr xmlns:a="http://schemas.openxmlformats.org/drawingml/2006/main" anchor="ctr">
            <a:normAutofit fontScale="19626"/>
          </a:bodyPr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5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+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23262D-85DA-4FDE-A7AA-87A16B5A3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71475"/>
            <a:ext cx="1809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029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7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Carestead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E12CC4-FE36-4C50-BF29-D4E8D8E8B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19100"/>
            <a:ext cx="404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defRPr>
            </a:pPr>
            <a:r>
              <a:rPr sz="975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rPr>
              <a:t>EVALUATION STRATEGY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384180-D7F6-4EE0-A19B-EE8311EC9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334250"/>
            <a:ext cx="619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58333"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Carestead · GenAI Academy · September 2026 · v2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6CA818-0079-49EB-AB7B-4377579D1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44375" y="7334250"/>
            <a:ext cx="95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58333"/>
          </a:bodyPr>
          <a:lstStyle xmlns:a="http://schemas.openxmlformats.org/drawingml/2006/main"/>
          <a:p xmlns:a="http://schemas.openxmlformats.org/drawingml/2006/main">
            <a:pPr algn="r">
              <a:def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14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5B13B3-75A6-4DD1-ADE5-8770EB2C0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0125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defRPr>
            </a:pPr>
            <a:r>
              <a:rPr sz="975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rPr>
              <a:t>EVALUATION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33A37B-08D8-4C5C-A3B9-2EF42A30D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11811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36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Evaluate every step, not only the final answer.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91DE28-BF7F-4479-A367-F456CC6F2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4125"/>
            <a:ext cx="11525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157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Each synthetic scenario has known evidence, policy, action, and outcome expectations.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FB7B31-561F-4457-A8FA-FFEC487FF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857500"/>
            <a:ext cx="17907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E1F4F1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4A142D-3652-4782-980A-D572E063C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00037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9B2DA0-F634-44D0-A876-3F3E43D3A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038475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6667"/>
          </a:bodyPr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975" b="1" i="0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34E9D1-A3F6-4967-8D40-10BA6B10F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" y="2924175"/>
            <a:ext cx="1143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69792"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Scenario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82B8B3-A375-4293-AF6D-0EEB00D42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" y="318135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l">
              <a:defRPr sz="82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82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Known input + outcome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3DF63E-65E8-463B-A0BD-FAD21E99C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3019425"/>
            <a:ext cx="247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30657"/>
          </a:bodyPr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AF1FD6A-7A52-47BA-A035-BB001FB65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0325" y="2857500"/>
            <a:ext cx="17907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E1F4F1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4CDD05D-3352-4AE0-BEA4-283C1CCA1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300037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B46ECC2-C661-493B-9CAA-B0EDED644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3038475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6667"/>
          </a:bodyPr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975" b="1" i="0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195196E-3F28-4C8B-9E1F-4D44B0B7B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2924175"/>
            <a:ext cx="1143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69792"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Retrieve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C209545-910A-4B70-97B7-4C963A2A8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318135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l">
              <a:defRPr sz="82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82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Scoped evidence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818ABF0-B49D-4C0C-84A1-314868B3E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0075" y="3019425"/>
            <a:ext cx="247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30657"/>
          </a:bodyPr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rPr>
              <a:t>→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E079A89-E02E-484A-862D-A1EADBF62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2857500"/>
            <a:ext cx="17907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E1F4F1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08DFB5D-6F02-49B2-8E0C-121211487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300037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83D4B6C-EA1B-4032-8014-EDC3B1950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1075" y="3038475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6667"/>
          </a:bodyPr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975" b="1" i="0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AF3146E-83FF-42A1-B799-6F1E44741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75" y="2924175"/>
            <a:ext cx="1143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69792"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Decide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FDF93A5-C510-4E92-91AD-DD3FE16A4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75" y="318135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l">
              <a:defRPr sz="82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82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Risk or clarification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6368729-2164-46D3-8A08-9FB3F424F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3019425"/>
            <a:ext cx="247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30657"/>
          </a:bodyPr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rPr>
              <a:t>→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63E74EE-D4CF-4E99-B1A6-8EB7E6154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3225" y="2857500"/>
            <a:ext cx="17907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D1AF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9886A48-E9BA-4E65-BA4A-E6AC54875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525" y="300037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65A3F"/>
          </a:solidFill>
          <a:ln xmlns:a="http://schemas.openxmlformats.org/drawingml/2006/main" w="0">
            <a:noFill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D6D1092-3897-4E70-823B-37B6B72AD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525" y="3038475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6667"/>
          </a:bodyPr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975" b="1" i="0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4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6CBDD49-16C7-4DC0-ABFC-C2DDA5748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8525" y="2924175"/>
            <a:ext cx="1143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69792"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Constrain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6CEDF47-456B-4357-84E7-A0BDB8590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8525" y="318135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l">
              <a:defRPr sz="82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82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Policy + approval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81CADBB-83B6-49B0-9B85-C23948FC4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3019425"/>
            <a:ext cx="247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30657"/>
          </a:bodyPr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rPr>
              <a:t>→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F44844E-CA66-46EE-AC7F-A762B6C8B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9675" y="2857500"/>
            <a:ext cx="17907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E1F4F1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12FDEAC-AF85-4DEB-BBAC-191559E7E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300037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428A44B-AF20-4AA7-A82A-FD48B4286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3038475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6667"/>
          </a:bodyPr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975" b="1" i="0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5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53AFC90-8C86-41F5-936F-CC8362632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2924175"/>
            <a:ext cx="1143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69792"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Act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08E9985-3222-4157-89DE-009C61BD3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4975" y="318135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l">
              <a:defRPr sz="82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82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Allowed tool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D6A4176-B149-4E9D-8A2B-9B5DA12F1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9425" y="3019425"/>
            <a:ext cx="247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30657"/>
          </a:bodyPr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rPr>
              <a:t>→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48A4366-57CC-4CDA-835F-4DCEBD573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2857500"/>
            <a:ext cx="17907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E1F4F1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8778D5D-9193-4BD2-AB37-F967D9CF0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0425" y="3000375"/>
            <a:ext cx="285750" cy="285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4FC623C-6C08-4E00-93DD-219615C48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0425" y="3038475"/>
            <a:ext cx="28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66667"/>
          </a:bodyPr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975" b="1" i="0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6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DD39919-53B2-46AA-8BAF-65CEFC467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01425" y="2924175"/>
            <a:ext cx="1143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69792"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Verify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F3D855E-56A7-4828-8466-5047CD435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01425" y="3181350"/>
            <a:ext cx="114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l">
              <a:defRPr sz="82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82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Recorded outcome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7A864F3-DA8F-40B9-9742-2FE284561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6385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defRPr>
            </a:pPr>
            <a:r>
              <a:rPr sz="975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rPr>
              <a:t>EIGHT SCORED DIMENSIONS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1B9A9B8-51D6-40B2-9663-33B081FDC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943350"/>
            <a:ext cx="2857500" cy="762000"/>
          </a:xfrm>
          <a:prstGeom xmlns:a="http://schemas.openxmlformats.org/drawingml/2006/main" prst="roundRect">
            <a:avLst>
              <a:gd name="adj" fmla="val 137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ED30641-6257-49B1-8545-F6543B66F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057650"/>
            <a:ext cx="2552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0588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Retrieval recall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2B85B55-46FD-4998-99E5-6C6440B88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324350"/>
            <a:ext cx="25527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9521"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Find every expected recipient-scoped record.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9983553-7751-4C67-B278-99F612760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943350"/>
            <a:ext cx="2857500" cy="762000"/>
          </a:xfrm>
          <a:prstGeom xmlns:a="http://schemas.openxmlformats.org/drawingml/2006/main" prst="roundRect">
            <a:avLst>
              <a:gd name="adj" fmla="val 13750"/>
            </a:avLst>
          </a:prstGeom>
          <a:solidFill xmlns:a="http://schemas.openxmlformats.org/drawingml/2006/main">
            <a:srgbClr val="F4F8F5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24BD7B3-B159-469E-849D-970DF1527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057650"/>
            <a:ext cx="2552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0588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Retrieval precision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27232F7-72F0-4F29-B132-489C3873D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324350"/>
            <a:ext cx="25527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8229"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Exclude irrelevant and other-recipient records.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E9B1F625-C206-4BBF-9F49-D08173D52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3943350"/>
            <a:ext cx="2857500" cy="762000"/>
          </a:xfrm>
          <a:prstGeom xmlns:a="http://schemas.openxmlformats.org/drawingml/2006/main" prst="roundRect">
            <a:avLst>
              <a:gd name="adj" fmla="val 137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FC3F1B1-C16F-4F26-A5E2-A4B7990AA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4057650"/>
            <a:ext cx="2552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0588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Grounding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A8FD193B-ED8F-4B32-BD18-8ED4858B9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4324350"/>
            <a:ext cx="25527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4946"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Tie factual claims and decisions to evidence IDs.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C96FAB7-C18D-45C5-A910-29BB593FE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3943350"/>
            <a:ext cx="2857500" cy="762000"/>
          </a:xfrm>
          <a:prstGeom xmlns:a="http://schemas.openxmlformats.org/drawingml/2006/main" prst="roundRect">
            <a:avLst>
              <a:gd name="adj" fmla="val 13750"/>
            </a:avLst>
          </a:prstGeom>
          <a:solidFill xmlns:a="http://schemas.openxmlformats.org/drawingml/2006/main">
            <a:srgbClr val="F4F8F5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D2786707-D739-4980-A214-FB1F9AB43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4057650"/>
            <a:ext cx="2552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0588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Decision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AEA6CA97-186B-4502-AF14-278425BB3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4324350"/>
            <a:ext cx="25527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7979"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Choose the correct risk, action class, or clarification.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05464056-E963-41EF-9AC5-B43374B44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838700"/>
            <a:ext cx="2857500" cy="762000"/>
          </a:xfrm>
          <a:prstGeom xmlns:a="http://schemas.openxmlformats.org/drawingml/2006/main" prst="roundRect">
            <a:avLst>
              <a:gd name="adj" fmla="val 137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60FD6E56-E7D7-4614-A58A-E2B209A3F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953000"/>
            <a:ext cx="2552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0588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Policy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62596E83-A0E9-4DF8-830E-249AE80A0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5219700"/>
            <a:ext cx="25527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4846"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Apply roles, consent, approval, and non-clinical limits.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938BE4EA-AB4B-4A59-9943-7826C394F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838700"/>
            <a:ext cx="2857500" cy="762000"/>
          </a:xfrm>
          <a:prstGeom xmlns:a="http://schemas.openxmlformats.org/drawingml/2006/main" prst="roundRect">
            <a:avLst>
              <a:gd name="adj" fmla="val 13750"/>
            </a:avLst>
          </a:prstGeom>
          <a:solidFill xmlns:a="http://schemas.openxmlformats.org/drawingml/2006/main">
            <a:srgbClr val="F4F8F5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C8D4205A-0A3A-4DB1-83ED-1B0970C68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953000"/>
            <a:ext cx="2552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0588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Action + tool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E28054A5-6761-413A-8201-2C731A79E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5219700"/>
            <a:ext cx="25527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7404"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Select an allowed tool with valid scoped arguments.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B498708F-D05D-4FFF-A4F0-8C7B400AE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4838700"/>
            <a:ext cx="2857500" cy="762000"/>
          </a:xfrm>
          <a:prstGeom xmlns:a="http://schemas.openxmlformats.org/drawingml/2006/main" prst="roundRect">
            <a:avLst>
              <a:gd name="adj" fmla="val 137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E5BCB549-D072-4D90-95D9-6C85EEC20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4953000"/>
            <a:ext cx="2552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0588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Outcome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53A822D8-5E0A-4F15-8928-6CE4BEE8F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5219700"/>
            <a:ext cx="25527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Verify success or report tool failure honestly.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3EB11C55-E05F-4498-B96E-681410078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4838700"/>
            <a:ext cx="2857500" cy="762000"/>
          </a:xfrm>
          <a:prstGeom xmlns:a="http://schemas.openxmlformats.org/drawingml/2006/main" prst="roundRect">
            <a:avLst>
              <a:gd name="adj" fmla="val 13750"/>
            </a:avLst>
          </a:prstGeom>
          <a:solidFill xmlns:a="http://schemas.openxmlformats.org/drawingml/2006/main">
            <a:srgbClr val="FFD1AF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1646059C-0D86-461C-A046-269A5D8D1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4953000"/>
            <a:ext cx="2552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0588"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2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Safety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3C957494-1BB0-466A-B48B-E80706498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5219700"/>
            <a:ext cx="25527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0504"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Preserve isolation, atomicity, and prohibited-action rules.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3FCD9B71-D1DB-45E7-8D38-19D26FEDF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905500"/>
            <a:ext cx="12287250" cy="990600"/>
          </a:xfrm>
          <a:prstGeom xmlns:a="http://schemas.openxmlformats.org/drawingml/2006/main" prst="roundRect">
            <a:avLst>
              <a:gd name="adj" fmla="val 13462"/>
            </a:avLst>
          </a:prstGeom>
          <a:solidFill xmlns:a="http://schemas.openxmlformats.org/drawingml/2006/main">
            <a:srgbClr val="173F31"/>
          </a:solidFill>
          <a:ln xmlns:a="http://schemas.openxmlformats.org/drawingml/2006/main" w="0">
            <a:noFill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047AF7AC-8BC2-4321-B004-DE81F672B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6067425"/>
            <a:ext cx="1190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5000"/>
          </a:bodyPr>
          <a:lstStyle xmlns:a="http://schemas.openxmlformats.org/drawingml/2006/main"/>
          <a:p xmlns:a="http://schemas.openxmlformats.org/drawingml/2006/main">
            <a:pPr algn="ctr">
              <a:defRPr sz="2700" b="1" i="0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2700" b="1" i="0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104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83C2E8D7-009F-4AF3-A51B-55A33314C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486525"/>
            <a:ext cx="12858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1061"/>
          </a:bodyPr>
          <a:lstStyle xmlns:a="http://schemas.openxmlformats.org/drawingml/2006/main"/>
          <a:p xmlns:a="http://schemas.openxmlformats.org/drawingml/2006/main">
            <a:pPr algn="ctr">
              <a:defRPr sz="825" b="0" i="0">
                <a:solidFill>
                  <a:srgbClr val="E1F4F1"/>
                </a:solidFill>
                <a:latin typeface="Avenir Next"/>
                <a:ea typeface="Avenir Next"/>
                <a:cs typeface="Avenir Next"/>
              </a:defRPr>
            </a:pPr>
            <a:r>
              <a:rPr sz="825" b="0" i="0">
                <a:solidFill>
                  <a:srgbClr val="E1F4F1"/>
                </a:solidFill>
                <a:latin typeface="Avenir Next"/>
                <a:ea typeface="Avenir Next"/>
                <a:cs typeface="Avenir Next"/>
              </a:rPr>
              <a:t>synthetic scenarios</a:t>
            </a:r>
          </a:p>
          <a:p xmlns:a="http://schemas.openxmlformats.org/drawingml/2006/main">
            <a:pPr algn="ctr">
              <a:defRPr sz="825" b="0" i="0">
                <a:solidFill>
                  <a:srgbClr val="E1F4F1"/>
                </a:solidFill>
                <a:latin typeface="Avenir Next"/>
                <a:ea typeface="Avenir Next"/>
                <a:cs typeface="Avenir Next"/>
              </a:defRPr>
            </a:pPr>
            <a:r>
              <a:rPr sz="825" b="0" i="0">
                <a:solidFill>
                  <a:srgbClr val="E1F4F1"/>
                </a:solidFill>
                <a:latin typeface="Avenir Next"/>
                <a:ea typeface="Avenir Next"/>
                <a:cs typeface="Avenir Next"/>
              </a:rPr>
              <a:t>16 risk + 88 trajectories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B90E8E51-0978-4101-9187-A70BD25F7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8375" y="6076950"/>
            <a:ext cx="190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8E7E"/>
          </a:solidFill>
          <a:ln xmlns:a="http://schemas.openxmlformats.org/drawingml/2006/main" w="0">
            <a:noFill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84622283-B5BF-4113-85AC-46A8474D9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6134100"/>
            <a:ext cx="295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000"/>
          </a:bodyPr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 i="0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8 workflows · 11 conditions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4708D8EB-4F27-418C-97D3-3B3BFF90B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6477000"/>
            <a:ext cx="2952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825" b="0" i="0">
                <a:solidFill>
                  <a:srgbClr val="E1F4F1"/>
                </a:solidFill>
                <a:latin typeface="Avenir Next"/>
                <a:ea typeface="Avenir Next"/>
                <a:cs typeface="Avenir Next"/>
              </a:defRPr>
            </a:pPr>
            <a:r>
              <a:rPr sz="825" b="0" i="0">
                <a:solidFill>
                  <a:srgbClr val="E1F4F1"/>
                </a:solidFill>
                <a:latin typeface="Avenir Next"/>
                <a:ea typeface="Avenir Next"/>
                <a:cs typeface="Avenir Next"/>
              </a:rPr>
              <a:t>Text · chat · voice · image · tool failure · prompt injection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B8502BBC-5D68-4472-B472-DE14618E4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6076950"/>
            <a:ext cx="190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8E7E"/>
          </a:solidFill>
          <a:ln xmlns:a="http://schemas.openxmlformats.org/drawingml/2006/main" w="0">
            <a:noFill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96CE0FD0-8757-45DB-B118-722F2910F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6124575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1159"/>
          </a:bodyPr>
          <a:lstStyle xmlns:a="http://schemas.openxmlformats.org/drawingml/2006/main"/>
          <a:p xmlns:a="http://schemas.openxmlformats.org/drawingml/2006/main">
            <a:pPr algn="ctr">
              <a:defRPr sz="1725" b="1" i="0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1725" b="1" i="0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104 / 104 passed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A2C9DC4E-965C-4BEE-9ECD-70BB8D5A8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6486525"/>
            <a:ext cx="2286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00" b="0" i="0">
                <a:solidFill>
                  <a:srgbClr val="E1F4F1"/>
                </a:solidFill>
                <a:latin typeface="Avenir Next"/>
                <a:ea typeface="Avenir Next"/>
                <a:cs typeface="Avenir Next"/>
              </a:defRPr>
            </a:pPr>
            <a:r>
              <a:rPr sz="900" b="0" i="0">
                <a:solidFill>
                  <a:srgbClr val="E1F4F1"/>
                </a:solidFill>
                <a:latin typeface="Avenir Next"/>
                <a:ea typeface="Avenir Next"/>
                <a:cs typeface="Avenir Next"/>
              </a:rPr>
              <a:t>All eight dimensions = 100%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BB794CF0-F563-4A58-B1DB-09F550167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6076950"/>
            <a:ext cx="190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8E7E"/>
          </a:solidFill>
          <a:ln xmlns:a="http://schemas.openxmlformats.org/drawingml/2006/main" w="0">
            <a:noFill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A205569C-6D00-4B03-AC37-4FB28F56B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6096000"/>
            <a:ext cx="15716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2500"/>
          </a:bodyPr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FFD1AF"/>
                </a:solidFill>
                <a:latin typeface="Avenir Next"/>
                <a:ea typeface="Avenir Next"/>
                <a:cs typeface="Avenir Next"/>
              </a:defRPr>
            </a:pPr>
            <a:r>
              <a:rPr sz="1500" b="1" i="0">
                <a:solidFill>
                  <a:srgbClr val="FFD1AF"/>
                </a:solidFill>
                <a:latin typeface="Avenir Next"/>
                <a:ea typeface="Avenir Next"/>
                <a:cs typeface="Avenir Next"/>
              </a:rPr>
              <a:t>Hard gate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836A4FD8-5E3C-4B9B-9B9F-B732D2925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6438900"/>
            <a:ext cx="17621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2404"/>
          </a:bodyPr>
          <a:lstStyle xmlns:a="http://schemas.openxmlformats.org/drawingml/2006/main"/>
          <a:p xmlns:a="http://schemas.openxmlformats.org/drawingml/2006/main">
            <a:pPr algn="ctr">
              <a:defRPr sz="900" b="0" i="0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900" b="0" i="0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One policy or safety violation fails CI.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76739972-7D9A-4054-A566-4237F7260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15625" y="612457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68516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 i="0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Synthetic regression benchmark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EA67E676-11CA-49D1-86CF-644EBC4B7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48425"/>
            <a:ext cx="19050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8636"/>
          </a:bodyPr>
          <a:lstStyle xmlns:a="http://schemas.openxmlformats.org/drawingml/2006/main"/>
          <a:p xmlns:a="http://schemas.openxmlformats.org/drawingml/2006/main">
            <a:pPr algn="ctr">
              <a:defRPr sz="825" b="0" i="0">
                <a:solidFill>
                  <a:srgbClr val="E1F4F1"/>
                </a:solidFill>
                <a:latin typeface="Avenir Next"/>
                <a:ea typeface="Avenir Next"/>
                <a:cs typeface="Avenir Next"/>
              </a:defRPr>
            </a:pPr>
            <a:r>
              <a:rPr sz="825" b="0" i="0">
                <a:solidFill>
                  <a:srgbClr val="E1F4F1"/>
                </a:solidFill>
                <a:latin typeface="Avenir Next"/>
                <a:ea typeface="Avenir Next"/>
                <a:cs typeface="Avenir Next"/>
              </a:rPr>
              <a:t>Not clinical validation or measured caregiver impact.</a:t>
            </a:r>
          </a:p>
        </p:txBody>
      </p:sp>
    </p:spTree>
    <p:extLst>
      <p:ext uri="{BB962C8B-B14F-4D97-AF65-F5344CB8AC3E}">
        <p14:creationId xmlns:p14="http://schemas.microsoft.com/office/powerpoint/2010/main" val="90611733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E1F4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8E2C0B3-7D9C-4891-BD67-E9F701411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771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31CBBF-6E3B-4E77-ADD8-F8945398B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295275" cy="295275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23F49"/>
            </a:solidFill>
          </a:ln>
        </p:spPr>
        <p:txBody>
          <a:bodyPr xmlns:a="http://schemas.openxmlformats.org/drawingml/2006/main" anchor="ctr">
            <a:normAutofit fontScale="19626"/>
          </a:bodyPr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5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+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783A0A-7717-4121-B531-F5CDB2E76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71475"/>
            <a:ext cx="1809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029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7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Carestead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86547C-468B-4296-8B27-FBDF3568B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19100"/>
            <a:ext cx="404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defRPr>
            </a:pPr>
            <a:r>
              <a:rPr sz="975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rPr>
              <a:t>MOBILE DEPLOYMENT TRACK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CFB3C2-C791-4E33-9168-F70039A23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334250"/>
            <a:ext cx="619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58333"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Carestead · GenAI Academy · September 2026 · v2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8B3D3D-B32F-4061-ADD1-3433D8DDC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44375" y="7334250"/>
            <a:ext cx="95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58333"/>
          </a:bodyPr>
          <a:lstStyle xmlns:a="http://schemas.openxmlformats.org/drawingml/2006/main"/>
          <a:p xmlns:a="http://schemas.openxmlformats.org/drawingml/2006/main">
            <a:pPr algn="r">
              <a:def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90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15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E36658-2637-4D01-9D6E-363552508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0125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defRPr>
            </a:pPr>
            <a:r>
              <a:rPr sz="975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rPr>
              <a:t>MOBILE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D470A6-EDE2-4AEB-91D3-D900156B7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52550"/>
            <a:ext cx="11811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360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The same care workspace is moving to iPhone.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3998C9-1D24-489C-B486-88232C278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4125"/>
            <a:ext cx="11525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157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A Capacitor/iOS pilot reuses the responsive Carestead UI, shared types, and the same authenticated backend APIs.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FC8F7A-580F-45AB-B9FF-5B0F71C1C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048000"/>
            <a:ext cx="2667000" cy="3190875"/>
          </a:xfrm>
          <a:prstGeom xmlns:a="http://schemas.openxmlformats.org/drawingml/2006/main" prst="roundRect">
            <a:avLst>
              <a:gd name="adj" fmla="val 12857"/>
            </a:avLst>
          </a:prstGeom>
          <a:solidFill xmlns:a="http://schemas.openxmlformats.org/drawingml/2006/main">
            <a:srgbClr val="123F49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187EE35-45B3-4CCD-A3B6-4FF1B748C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238500"/>
            <a:ext cx="2362200" cy="2714625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0562840-1C0C-4EFA-9C17-8ACF20420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476625"/>
            <a:ext cx="18573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6212"/>
          </a:bodyPr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rPr>
              <a:t>+ Carestead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9E19F4A-DDB0-4206-BB21-18CC6BF5E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048125"/>
            <a:ext cx="185737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Plan</a:t>
            </a:r>
          </a:p>
          <a:p xmlns:a="http://schemas.openxmlformats.org/drawingml/2006/main">
            <a:pPr algn="ctr">
              <a:defRPr sz="165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Chat + voice</a:t>
            </a:r>
          </a:p>
          <a:p xmlns:a="http://schemas.openxmlformats.org/drawingml/2006/main">
            <a:pPr algn="ctr">
              <a:defRPr sz="165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Calendar</a:t>
            </a:r>
          </a:p>
          <a:p xmlns:a="http://schemas.openxmlformats.org/drawingml/2006/main">
            <a:pPr algn="ctr">
              <a:defRPr sz="165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Handover</a:t>
            </a:r>
          </a:p>
          <a:p xmlns:a="http://schemas.openxmlformats.org/drawingml/2006/main">
            <a:pPr algn="ctr">
              <a:defRPr sz="165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650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Approvals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65AC94-E1B2-4233-BC72-DDBC48DD7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55435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5714"/>
          </a:bodyPr>
          <a:lstStyle xmlns:a="http://schemas.openxmlformats.org/drawingml/2006/main"/>
          <a:p xmlns:a="http://schemas.openxmlformats.org/drawingml/2006/main">
            <a:pPr algn="ctr">
              <a:defRPr sz="105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1050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iOS pilot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06BE5A9-1431-4E87-AA69-2B5E7272C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4171950"/>
            <a:ext cx="666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3971"/>
          </a:bodyPr>
          <a:lstStyle xmlns:a="http://schemas.openxmlformats.org/drawingml/2006/main"/>
          <a:p xmlns:a="http://schemas.openxmlformats.org/drawingml/2006/main">
            <a:pPr algn="ctr">
              <a:defRPr sz="4050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defRPr>
            </a:pPr>
            <a:r>
              <a:rPr sz="4050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2101B8E-EE68-4BDE-A1F8-8B99FBF9C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3048000"/>
            <a:ext cx="3619500" cy="1428750"/>
          </a:xfrm>
          <a:prstGeom xmlns:a="http://schemas.openxmlformats.org/drawingml/2006/main" prst="roundRect">
            <a:avLst>
              <a:gd name="adj" fmla="val 9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61742A9-CF89-4B87-88EB-AFE3FB55C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9175" y="321945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6825"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5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Shared application layer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6C457BC-D6B4-4AAF-B0E2-6829E3805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9175" y="3600450"/>
            <a:ext cx="3238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127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Web and mobile import the same dashboard, chat, calendar, account flows, styles, and API types.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22E09AE-E31D-46EF-B0CD-B29E3B402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762500"/>
            <a:ext cx="3619500" cy="1428750"/>
          </a:xfrm>
          <a:prstGeom xmlns:a="http://schemas.openxmlformats.org/drawingml/2006/main" prst="roundRect">
            <a:avLst>
              <a:gd name="adj" fmla="val 9333"/>
            </a:avLst>
          </a:prstGeom>
          <a:solidFill xmlns:a="http://schemas.openxmlformats.org/drawingml/2006/main">
            <a:srgbClr val="EEF3EF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956C265-F3F4-4B52-B6A3-E5F53D391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9175" y="4933950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6825"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5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Native adapter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E231139-5650-4137-92B9-5670F1B61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9175" y="5314950"/>
            <a:ext cx="3238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127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Restricted HTTPS API bridge plus native speech recognition and synthesis, with native share support.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0297BE6-34E2-4731-8874-A32184599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048000"/>
            <a:ext cx="3810000" cy="1428750"/>
          </a:xfrm>
          <a:prstGeom xmlns:a="http://schemas.openxmlformats.org/drawingml/2006/main" prst="roundRect">
            <a:avLst>
              <a:gd name="adj" fmla="val 9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A7CE2F2-CCB4-4A1D-A5FA-4836FAED8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21945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6825"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5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Already checked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9B591C5-AACD-4B73-8D19-36A637AB1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600450"/>
            <a:ext cx="342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127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Web/mobile builds · browser integration · unsigned iOS simulator build · transport and config tests.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D08E0B6-15F2-46B5-9A20-6D5E89A5A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762500"/>
            <a:ext cx="3810000" cy="1428750"/>
          </a:xfrm>
          <a:prstGeom xmlns:a="http://schemas.openxmlformats.org/drawingml/2006/main" prst="roundRect">
            <a:avLst>
              <a:gd name="adj" fmla="val 9333"/>
            </a:avLst>
          </a:prstGeom>
          <a:solidFill xmlns:a="http://schemas.openxmlformats.org/drawingml/2006/main">
            <a:srgbClr val="FFD1AF"/>
          </a:solidFill>
          <a:ln xmlns:a="http://schemas.openxmlformats.org/drawingml/2006/main" w="9525">
            <a:solidFill>
              <a:srgbClr val="B8D6D5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47FD94F-6B66-4ABE-810F-275D61763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493395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6825"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5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Before distribution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B58D36B-2D3F-49F5-82E0-1796ECDF4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5314950"/>
            <a:ext cx="342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defRPr>
            </a:pPr>
            <a:r>
              <a:rPr sz="1275" b="0" i="0">
                <a:solidFill>
                  <a:srgbClr val="536870"/>
                </a:solidFill>
                <a:latin typeface="Avenir Next"/>
                <a:ea typeface="Avenir Next"/>
                <a:cs typeface="Avenir Next"/>
              </a:rPr>
              <a:t>Signed-device sessions · native accessibility · Google OAuth return · native push · icon/store/privacy review.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53B2AB6-CA83-421D-AB57-883415D1E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6524625"/>
            <a:ext cx="742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defRPr>
            </a:pPr>
            <a:r>
              <a:rPr sz="1200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rPr>
              <a:t>STATUS · Integration in progress. Pilot, not an App Store release.</a:t>
            </a:r>
          </a:p>
        </p:txBody>
      </p:sp>
    </p:spTree>
    <p:extLst>
      <p:ext uri="{BB962C8B-B14F-4D97-AF65-F5344CB8AC3E}">
        <p14:creationId xmlns:p14="http://schemas.microsoft.com/office/powerpoint/2010/main" val="73691054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123F4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E3E1458-CABA-400B-8483-250430217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771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7F8C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C869F6-E1D4-4B9F-A246-7B5FE2874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295275" cy="295275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123F49"/>
            </a:solidFill>
          </a:ln>
        </p:spPr>
        <p:txBody>
          <a:bodyPr xmlns:a="http://schemas.openxmlformats.org/drawingml/2006/main" anchor="ctr">
            <a:normAutofit fontScale="19626"/>
          </a:bodyPr>
          <a:lstStyle xmlns:a="http://schemas.openxmlformats.org/drawingml/2006/main"/>
          <a:p xmlns:a="http://schemas.openxmlformats.org/drawingml/2006/main">
            <a:pPr algn="ctr">
              <a:defRPr sz="15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5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+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A0E48F-F288-4AE5-9D96-4682E5AD3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71475"/>
            <a:ext cx="1809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029"/>
          </a:bodyPr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7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Carestead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95A44B-2065-4790-AA9D-243B78E3D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19100"/>
            <a:ext cx="404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defRPr>
            </a:pPr>
            <a:r>
              <a:rPr sz="975" b="1" i="0">
                <a:solidFill>
                  <a:srgbClr val="087F8C"/>
                </a:solidFill>
                <a:latin typeface="Avenir Next"/>
                <a:ea typeface="Avenir Next"/>
                <a:cs typeface="Avenir Next"/>
              </a:rPr>
              <a:t>REAL-WORLD IMPACT · THE PROMISE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CDF41A-6201-4CC6-9914-14E143D86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334250"/>
            <a:ext cx="619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58333"/>
          </a:bodyPr>
          <a:lstStyle xmlns:a="http://schemas.openxmlformats.org/drawingml/2006/main"/>
          <a:p xmlns:a="http://schemas.openxmlformats.org/drawingml/2006/main">
            <a:pPr algn="l">
              <a:defRPr sz="900" b="0" i="0">
                <a:solidFill>
                  <a:srgbClr val="E1F4F1"/>
                </a:solidFill>
                <a:latin typeface="Avenir Next"/>
                <a:ea typeface="Avenir Next"/>
                <a:cs typeface="Avenir Next"/>
              </a:defRPr>
            </a:pPr>
            <a:r>
              <a:rPr sz="900" b="0" i="0">
                <a:solidFill>
                  <a:srgbClr val="E1F4F1"/>
                </a:solidFill>
                <a:latin typeface="Avenir Next"/>
                <a:ea typeface="Avenir Next"/>
                <a:cs typeface="Avenir Next"/>
              </a:rPr>
              <a:t>Carestead · GenAI Academy · September 2026 · v2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A25EA1-58A3-46D8-A7F9-98C2CE4FE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44375" y="7334250"/>
            <a:ext cx="95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58333"/>
          </a:bodyPr>
          <a:lstStyle xmlns:a="http://schemas.openxmlformats.org/drawingml/2006/main"/>
          <a:p xmlns:a="http://schemas.openxmlformats.org/drawingml/2006/main">
            <a:pPr algn="r">
              <a:defRPr sz="900" b="0" i="0">
                <a:solidFill>
                  <a:srgbClr val="E1F4F1"/>
                </a:solidFill>
                <a:latin typeface="Avenir Next"/>
                <a:ea typeface="Avenir Next"/>
                <a:cs typeface="Avenir Next"/>
              </a:defRPr>
            </a:pPr>
            <a:r>
              <a:rPr sz="900" b="0" i="0">
                <a:solidFill>
                  <a:srgbClr val="E1F4F1"/>
                </a:solidFill>
                <a:latin typeface="Avenir Next"/>
                <a:ea typeface="Avenir Next"/>
                <a:cs typeface="Avenir Next"/>
              </a:rPr>
              <a:t>16 / 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B0ED06-52C0-4E7B-BA57-6D7EC9CC8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771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1AF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C83831-9D31-4129-AFAD-AA1995419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23950"/>
            <a:ext cx="571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E1F4F1"/>
                </a:solidFill>
                <a:latin typeface="Avenir Next"/>
                <a:ea typeface="Avenir Next"/>
                <a:cs typeface="Avenir Next"/>
              </a:defRPr>
            </a:pPr>
            <a:r>
              <a:rPr sz="1050" b="1" i="0">
                <a:solidFill>
                  <a:srgbClr val="E1F4F1"/>
                </a:solidFill>
                <a:latin typeface="Avenir Next"/>
                <a:ea typeface="Avenir Next"/>
                <a:cs typeface="Avenir Next"/>
              </a:rPr>
              <a:t>REAL-WORLD IMPACT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16D3E1-B2F1-47A0-A10D-CA9262ABE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13347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468"/>
          </a:bodyPr>
          <a:lstStyle xmlns:a="http://schemas.openxmlformats.org/drawingml/2006/main"/>
          <a:p xmlns:a="http://schemas.openxmlformats.org/drawingml/2006/main">
            <a:pPr algn="l">
              <a:defRPr sz="3900" b="1" i="0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3900" b="1" i="0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A scattered care story becomes</a:t>
            </a:r>
          </a:p>
          <a:p xmlns:a="http://schemas.openxmlformats.org/drawingml/2006/main">
            <a:pPr algn="l">
              <a:defRPr sz="3900" b="1" i="0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3900" b="1" i="0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a safe, shared next step.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B1FEA5-754B-44EB-A259-085F4CAFF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0"/>
            <a:ext cx="5667375" cy="2095500"/>
          </a:xfrm>
          <a:prstGeom xmlns:a="http://schemas.openxmlformats.org/drawingml/2006/main" prst="roundRect">
            <a:avLst>
              <a:gd name="adj" fmla="val 6364"/>
            </a:avLst>
          </a:prstGeom>
          <a:solidFill xmlns:a="http://schemas.openxmlformats.org/drawingml/2006/main">
            <a:srgbClr val="FFD1AF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9CBDE6-660D-46F5-8BC4-A24D43389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14700"/>
            <a:ext cx="52863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1333"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8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Before Carestead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3314BC-C903-4403-BFA7-CCF1AB88B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95700"/>
            <a:ext cx="528637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425" b="0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Fragmented information</a:t>
            </a:r>
          </a:p>
          <a:p xmlns:a="http://schemas.openxmlformats.org/drawingml/2006/main">
            <a:pPr algn="l">
              <a:defRPr sz="1425" b="0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425" b="0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Repeated reconstruction</a:t>
            </a:r>
          </a:p>
          <a:p xmlns:a="http://schemas.openxmlformats.org/drawingml/2006/main">
            <a:pPr algn="l">
              <a:defRPr sz="1425" b="0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425" b="0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Unclear responsibility ownership</a:t>
            </a:r>
          </a:p>
          <a:p xmlns:a="http://schemas.openxmlformats.org/drawingml/2006/main">
            <a:pPr algn="l">
              <a:defRPr sz="1425" b="0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425" b="0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Follow-up and handover gaps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D7DE38-7F28-4201-B037-DBE62071B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143250"/>
            <a:ext cx="5667375" cy="2095500"/>
          </a:xfrm>
          <a:prstGeom xmlns:a="http://schemas.openxmlformats.org/drawingml/2006/main" prst="roundRect">
            <a:avLst>
              <a:gd name="adj" fmla="val 6364"/>
            </a:avLst>
          </a:prstGeom>
          <a:solidFill xmlns:a="http://schemas.openxmlformats.org/drawingml/2006/main">
            <a:srgbClr val="E1F4F1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52FCD5-90B7-40BA-B14E-00E274B99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314700"/>
            <a:ext cx="52863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81333"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87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With Carestead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9D6780-83EB-44D3-970A-57FF5A065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695700"/>
            <a:ext cx="528637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425" b="0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Shared recipient context</a:t>
            </a:r>
          </a:p>
          <a:p xmlns:a="http://schemas.openxmlformats.org/drawingml/2006/main">
            <a:pPr algn="l">
              <a:defRPr sz="1425" b="0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425" b="0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Named ownership and reviewable actions</a:t>
            </a:r>
          </a:p>
          <a:p xmlns:a="http://schemas.openxmlformats.org/drawingml/2006/main">
            <a:pPr algn="l">
              <a:defRPr sz="1425" b="0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425" b="0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Visible outcomes and audit history</a:t>
            </a:r>
          </a:p>
          <a:p xmlns:a="http://schemas.openxmlformats.org/drawingml/2006/main">
            <a:pPr algn="l">
              <a:defRPr sz="1425" b="0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1425" b="0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Faster, clearer caregiver handover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9CA29F2-7C32-4C2D-A347-CD36ADDFE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E1F4F1"/>
                </a:solidFill>
                <a:latin typeface="Avenir Next"/>
                <a:ea typeface="Avenir Next"/>
                <a:cs typeface="Avenir Next"/>
              </a:defRPr>
            </a:pPr>
            <a:r>
              <a:rPr sz="975" b="1" i="0">
                <a:solidFill>
                  <a:srgbClr val="E1F4F1"/>
                </a:solidFill>
                <a:latin typeface="Avenir Next"/>
                <a:ea typeface="Avenir Next"/>
                <a:cs typeface="Avenir Next"/>
              </a:rPr>
              <a:t>PILOT MEASURES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8B706A-A3E3-474D-9BE5-24A9C9AFC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581650"/>
            <a:ext cx="990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FFFFFF"/>
                </a:solidFill>
                <a:latin typeface="Avenir Next"/>
                <a:ea typeface="Avenir Next"/>
                <a:cs typeface="Avenir Next"/>
              </a:defRPr>
            </a:pPr>
            <a:r>
              <a:rPr sz="1350" b="0" i="0">
                <a:solidFill>
                  <a:srgbClr val="FFFFFF"/>
                </a:solidFill>
                <a:latin typeface="Avenir Next"/>
                <a:ea typeface="Avenir Next"/>
                <a:cs typeface="Avenir Next"/>
              </a:rPr>
              <a:t>Coordination time · unresolved responsibilities · unnecessary alerts · handover completeness · caregiver confidence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4FF212-8E74-424D-9A17-E58A8F84E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191250"/>
            <a:ext cx="100965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D1AF"/>
          </a:solidFill>
          <a:ln xmlns:a="http://schemas.openxmlformats.org/drawingml/2006/main" w="0">
            <a:noFill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482329C-1A51-4F82-8B58-FEBD3D0DD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6334125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>
            <a:normAutofit fontScale="75309"/>
          </a:bodyPr>
          <a:lstStyle xmlns:a="http://schemas.openxmlformats.org/drawingml/2006/main"/>
          <a:p xmlns:a="http://schemas.openxmlformats.org/drawingml/2006/main">
            <a:pPr algn="ctr">
              <a:defRPr sz="20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defRPr>
            </a:pPr>
            <a:r>
              <a:rPr sz="2025" b="1" i="0">
                <a:solidFill>
                  <a:srgbClr val="123F49"/>
                </a:solidFill>
                <a:latin typeface="Avenir Next"/>
                <a:ea typeface="Avenir Next"/>
                <a:cs typeface="Avenir Next"/>
              </a:rPr>
              <a:t>Less to carry. More care to give.</a:t>
            </a:r>
          </a:p>
        </p:txBody>
      </p:sp>
    </p:spTree>
    <p:extLst>
      <p:ext uri="{BB962C8B-B14F-4D97-AF65-F5344CB8AC3E}">
        <p14:creationId xmlns:p14="http://schemas.microsoft.com/office/powerpoint/2010/main" val="121577586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2026-09-16T07:01:17.8370000Z</dcterms:created>
  <dcterms:modified xsi:type="dcterms:W3CDTF">2026-09-16T07:01:17.8370000Z</dcterms:modified>
</coreProperties>
</file>