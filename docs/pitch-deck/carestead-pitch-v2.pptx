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4f19cb675e4a67" /><Relationship Type="http://schemas.openxmlformats.org/officeDocument/2006/relationships/extended-properties" Target="/docProps/app.xml" Id="R344a2576fbd14190" /><Relationship Type="http://schemas.openxmlformats.org/officeDocument/2006/relationships/officeDocument" Target="/ppt/presentation.xml" Id="R2e6056e791884577" /></Relationships>
</file>

<file path=ppt/presentation.xml><?xml version="1.0" encoding="utf-8"?>
<p:presentation xmlns:p="http://schemas.openxmlformats.org/presentationml/2006/main">
  <p:sldMasterIdLst>
    <p:sldMasterId xmlns:r="http://schemas.openxmlformats.org/officeDocument/2006/relationships" id="2147483648" r:id="R951e7006333c4661"/>
  </p:sldMasterIdLst>
  <p:notesMasterIdLst>
    <p:notesMasterId xmlns:r="http://schemas.openxmlformats.org/officeDocument/2006/relationships" r:id="Rdf178fda2f364d74"/>
  </p:notesMasterIdLst>
  <p:sldIdLst>
    <p:sldId xmlns:r="http://schemas.openxmlformats.org/officeDocument/2006/relationships" id="256" r:id="R290eae33f5cc4d7f"/>
    <p:sldId xmlns:r="http://schemas.openxmlformats.org/officeDocument/2006/relationships" id="257" r:id="R9faf816babf14018"/>
    <p:sldId xmlns:r="http://schemas.openxmlformats.org/officeDocument/2006/relationships" id="258" r:id="Rccb903daf2e7447f"/>
    <p:sldId xmlns:r="http://schemas.openxmlformats.org/officeDocument/2006/relationships" id="259" r:id="R14a83f44736a4b06"/>
    <p:sldId xmlns:r="http://schemas.openxmlformats.org/officeDocument/2006/relationships" id="260" r:id="Rb81594d46eba4b17"/>
    <p:sldId xmlns:r="http://schemas.openxmlformats.org/officeDocument/2006/relationships" id="261" r:id="R5794a75daf604bf4"/>
    <p:sldId xmlns:r="http://schemas.openxmlformats.org/officeDocument/2006/relationships" id="262" r:id="Ra62f5042c9e74a51"/>
    <p:sldId xmlns:r="http://schemas.openxmlformats.org/officeDocument/2006/relationships" id="263" r:id="R480e9041b27143cb"/>
    <p:sldId xmlns:r="http://schemas.openxmlformats.org/officeDocument/2006/relationships" id="264" r:id="Rcca5a0e756cc4194"/>
    <p:sldId xmlns:r="http://schemas.openxmlformats.org/officeDocument/2006/relationships" id="265" r:id="R5a393dd733464429"/>
    <p:sldId xmlns:r="http://schemas.openxmlformats.org/officeDocument/2006/relationships" id="266" r:id="Ra799d13c808e4d9f"/>
    <p:sldId xmlns:r="http://schemas.openxmlformats.org/officeDocument/2006/relationships" id="267" r:id="Rb52e7c54edf84864"/>
    <p:sldId xmlns:r="http://schemas.openxmlformats.org/officeDocument/2006/relationships" id="268" r:id="R0ec2a173712041fa"/>
    <p:sldId xmlns:r="http://schemas.openxmlformats.org/officeDocument/2006/relationships" id="269" r:id="Rb987a44c7a2e4fc7"/>
    <p:sldId xmlns:r="http://schemas.openxmlformats.org/officeDocument/2006/relationships" id="270" r:id="R1067afb4817c4408"/>
    <p:sldId xmlns:r="http://schemas.openxmlformats.org/officeDocument/2006/relationships" id="271" r:id="R33a50d82d9d94929"/>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468a3126ce49d6" /><Relationship Type="http://schemas.openxmlformats.org/officeDocument/2006/relationships/slideMaster" Target="/ppt/slideMasters/slideMaster1.xml" Id="R951e7006333c4661" /><Relationship Type="http://schemas.openxmlformats.org/officeDocument/2006/relationships/notesMaster" Target="/ppt/notesMasters/notesMaster1.xml" Id="Rdf178fda2f364d74" /><Relationship Type="http://schemas.openxmlformats.org/officeDocument/2006/relationships/presProps" Target="/ppt/presProps.xml" Id="R9f72d79e0e734816" /><Relationship Type="http://schemas.openxmlformats.org/officeDocument/2006/relationships/tableStyles" Target="/ppt/tableStyles.xml" Id="R5991229d22f84523" /><Relationship Type="http://schemas.openxmlformats.org/officeDocument/2006/relationships/slide" Target="/ppt/slides/slide1.xml" Id="R290eae33f5cc4d7f" /><Relationship Type="http://schemas.openxmlformats.org/officeDocument/2006/relationships/slide" Target="/ppt/slides/slide2.xml" Id="R9faf816babf14018" /><Relationship Type="http://schemas.openxmlformats.org/officeDocument/2006/relationships/slide" Target="/ppt/slides/slide3.xml" Id="Rccb903daf2e7447f" /><Relationship Type="http://schemas.openxmlformats.org/officeDocument/2006/relationships/slide" Target="/ppt/slides/slide4.xml" Id="R14a83f44736a4b06" /><Relationship Type="http://schemas.openxmlformats.org/officeDocument/2006/relationships/slide" Target="/ppt/slides/slide5.xml" Id="Rb81594d46eba4b17" /><Relationship Type="http://schemas.openxmlformats.org/officeDocument/2006/relationships/slide" Target="/ppt/slides/slide6.xml" Id="R5794a75daf604bf4" /><Relationship Type="http://schemas.openxmlformats.org/officeDocument/2006/relationships/slide" Target="/ppt/slides/slide7.xml" Id="Ra62f5042c9e74a51" /><Relationship Type="http://schemas.openxmlformats.org/officeDocument/2006/relationships/slide" Target="/ppt/slides/slide8.xml" Id="R480e9041b27143cb" /><Relationship Type="http://schemas.openxmlformats.org/officeDocument/2006/relationships/slide" Target="/ppt/slides/slide9.xml" Id="Rcca5a0e756cc4194" /><Relationship Type="http://schemas.openxmlformats.org/officeDocument/2006/relationships/slide" Target="/ppt/slides/slide10.xml" Id="R5a393dd733464429" /><Relationship Type="http://schemas.openxmlformats.org/officeDocument/2006/relationships/slide" Target="/ppt/slides/slide11.xml" Id="Ra799d13c808e4d9f" /><Relationship Type="http://schemas.openxmlformats.org/officeDocument/2006/relationships/slide" Target="/ppt/slides/slide12.xml" Id="Rb52e7c54edf84864" /><Relationship Type="http://schemas.openxmlformats.org/officeDocument/2006/relationships/slide" Target="/ppt/slides/slide13.xml" Id="R0ec2a173712041fa" /><Relationship Type="http://schemas.openxmlformats.org/officeDocument/2006/relationships/slide" Target="/ppt/slides/slide14.xml" Id="Rb987a44c7a2e4fc7" /><Relationship Type="http://schemas.openxmlformats.org/officeDocument/2006/relationships/slide" Target="/ppt/slides/slide15.xml" Id="R1067afb4817c4408" /><Relationship Type="http://schemas.openxmlformats.org/officeDocument/2006/relationships/slide" Target="/ppt/slides/slide16.xml" Id="R33a50d82d9d949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d8f86e17574f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25f5da8642480a" /><Relationship Type="http://schemas.openxmlformats.org/officeDocument/2006/relationships/notesMaster" Target="/ppt/notesMasters/notesMaster1.xml" Id="Rb245b653ee5e44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50e5bf4c074139" /><Relationship Type="http://schemas.openxmlformats.org/officeDocument/2006/relationships/notesMaster" Target="/ppt/notesMasters/notesMaster1.xml" Id="R0f0f399468e747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cf4107a03b4d22" /><Relationship Type="http://schemas.openxmlformats.org/officeDocument/2006/relationships/notesMaster" Target="/ppt/notesMasters/notesMaster1.xml" Id="R62b43220c03944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81d4dfebad4375" /><Relationship Type="http://schemas.openxmlformats.org/officeDocument/2006/relationships/notesMaster" Target="/ppt/notesMasters/notesMaster1.xml" Id="R5795d78602fe4c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34867d1a1543f6" /><Relationship Type="http://schemas.openxmlformats.org/officeDocument/2006/relationships/notesMaster" Target="/ppt/notesMasters/notesMaster1.xml" Id="R2c0093b3922643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146bff9fbd4f45" /><Relationship Type="http://schemas.openxmlformats.org/officeDocument/2006/relationships/notesMaster" Target="/ppt/notesMasters/notesMaster1.xml" Id="Rd348aa52d58f4a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3d7fe8960e41ee" /><Relationship Type="http://schemas.openxmlformats.org/officeDocument/2006/relationships/notesMaster" Target="/ppt/notesMasters/notesMaster1.xml" Id="R738754fd17904b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ad5cf983fe45b5" /><Relationship Type="http://schemas.openxmlformats.org/officeDocument/2006/relationships/notesMaster" Target="/ppt/notesMasters/notesMaster1.xml" Id="R0bbd04da6e904d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ced2a71cf84483" /><Relationship Type="http://schemas.openxmlformats.org/officeDocument/2006/relationships/notesMaster" Target="/ppt/notesMasters/notesMaster1.xml" Id="R719c291a1a1d44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7352e69a18466f" /><Relationship Type="http://schemas.openxmlformats.org/officeDocument/2006/relationships/notesMaster" Target="/ppt/notesMasters/notesMaster1.xml" Id="R355f5bdcb4e34f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03fd4d2cea40fb" /><Relationship Type="http://schemas.openxmlformats.org/officeDocument/2006/relationships/notesMaster" Target="/ppt/notesMasters/notesMaster1.xml" Id="R21bf6f87526b49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4e38b1bb854f74" /><Relationship Type="http://schemas.openxmlformats.org/officeDocument/2006/relationships/notesMaster" Target="/ppt/notesMasters/notesMaster1.xml" Id="R7214df5bf59c4d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d3df5c02064007" /><Relationship Type="http://schemas.openxmlformats.org/officeDocument/2006/relationships/notesMaster" Target="/ppt/notesMasters/notesMaster1.xml" Id="R48033bc56535452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a667a45e184678" /><Relationship Type="http://schemas.openxmlformats.org/officeDocument/2006/relationships/notesMaster" Target="/ppt/notesMasters/notesMaster1.xml" Id="Rccd478eb255a4b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a9eec0255a4122" /><Relationship Type="http://schemas.openxmlformats.org/officeDocument/2006/relationships/notesMaster" Target="/ppt/notesMasters/notesMaster1.xml" Id="R23fefaf45e824d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0f9f7ccf1546ca" /><Relationship Type="http://schemas.openxmlformats.org/officeDocument/2006/relationships/notesMaster" Target="/ppt/notesMasters/notesMaster1.xml" Id="Reb41fd91bb1c47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product promise: reduce the mental work of coordinating care. Carestead is non-clinical and keeps consequential actions under human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is illustrative. The problem is coordination, not diagnosis: information, ownership, timing, and handover are fragmented across people and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Carestead addresses coordination failures: stale plans, ambiguous ownership, forgotten follow-ups, and costly handovers. It does not diagnose or replace clinical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four central workspace areas. The current handover view shows how Carestead consolidates a recipient profile, latest state, open review items, risks, and support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product inventory. Carestead combines recipient context, daily coordination, people and handover, agent interactions, integrations, and governance in one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prototype flow: select an allowed recipient, review the brief, ask Carestead, inspect evidence, approve or decline, execute an allowed tool, record the result, and hand over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taxonomy first. LLM-assisted work uses the model for language tasks. Full agentic work spans retrieval, decisions, tools, and verification. Grounded read-only work cannot change data. Deterministic agents use rules for risk and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eight implemented workflows. The left side of each card states the model contribution. The right side states the orchestration, policy, approval, tool, and verification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the chat flow: ask what needs attention, inspect the supporting evidence, request a concrete change, review the exact proposal, approve, and confirm the recorded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 is an interface to the same safe workflow. Document and image intake uses multimodal extraction followed by deterministic validation and caregiver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React and Vinext interface, authenticated APIs, TypeScript agent orchestration, recipient-scoped retrieval over D1, OpenAI Responses API, policy and approval gates, and constrained care-action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path separates read-only answers from proposed actions. Missing evidence triggers clarification. Consequential changes require an authorized caregiver. Every allowed action is verified and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autonomy. The LLM never gets direct database or provider access. It proposes structured outputs; deterministic code validates and calls a narrow tool only after the applicable approval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evaluation follows the complete trajectory. Each scenario defines expected retrieval, evidence, decision, policy, action, and outcome. Eight dimensions are scored independently. Grounding, policy, outcome, and safety require 100 percent, and one hard-gate violation fails CI. The result remains a deterministic synthetic regression benchmark, not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Mobile is a parallel deployment track. Be precise: the pilot builds and runs in simulator, but signed-device validation, native push, release assets, OAuth return flows, and distribution work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intended impact without claiming measured outcomes. The future pilot should measure coordination time, unresolved responsibilities, unnecessary alerts, handover completeness, and caregiver 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3d038944814a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70f6debd0844fc" /><Relationship Type="http://schemas.openxmlformats.org/officeDocument/2006/relationships/slideLayout" Target="/ppt/slideLayouts/slideLayout1.xml" Id="R017336fa8aa040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7336fa8aa040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9888504d204d80" /><Relationship Type="http://schemas.openxmlformats.org/officeDocument/2006/relationships/notesSlide" Target="/ppt/notesSlides/notesSlide1.xml" Id="R380605d471e045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1758ed16474511" /><Relationship Type="http://schemas.openxmlformats.org/officeDocument/2006/relationships/image" Target="/ppt/media/image.png" Id="Rc36010ede84a40ed" /><Relationship Type="http://schemas.openxmlformats.org/officeDocument/2006/relationships/image" Target="/ppt/media/image.svg" Id="R14b01722f76540da" /><Relationship Type="http://schemas.openxmlformats.org/officeDocument/2006/relationships/notesSlide" Target="/ppt/notesSlides/notesSlide2.xml" Id="Rafa3ab252ea24d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c6a29de59e4f69" /><Relationship Type="http://schemas.openxmlformats.org/officeDocument/2006/relationships/notesSlide" Target="/ppt/notesSlides/notesSlide3.xml" Id="R8a7f200d4b1444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71cacfe01a49e3" /><Relationship Type="http://schemas.openxmlformats.org/officeDocument/2006/relationships/image" Target="/ppt/media/image2.png" Id="R4e1a63e25ec5430f" /><Relationship Type="http://schemas.openxmlformats.org/officeDocument/2006/relationships/notesSlide" Target="/ppt/notesSlides/notesSlide4.xml" Id="R68d3f8fc7a4348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c82994c4704776" /><Relationship Type="http://schemas.openxmlformats.org/officeDocument/2006/relationships/notesSlide" Target="/ppt/notesSlides/notesSlide5.xml" Id="R9a5a009859b042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8a6f605cdf4ab5" /><Relationship Type="http://schemas.openxmlformats.org/officeDocument/2006/relationships/image" Target="/ppt/media/image3.png" Id="R915708a74b1041b9" /><Relationship Type="http://schemas.openxmlformats.org/officeDocument/2006/relationships/notesSlide" Target="/ppt/notesSlides/notesSlide6.xml" Id="R8e2a06fab74848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cff4a33fa84bde" /><Relationship Type="http://schemas.openxmlformats.org/officeDocument/2006/relationships/notesSlide" Target="/ppt/notesSlides/notesSlide7.xml" Id="Rf062f7390ac644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0569c13f3e4a72" /><Relationship Type="http://schemas.openxmlformats.org/officeDocument/2006/relationships/notesSlide" Target="/ppt/notesSlides/notesSlide8.xml" Id="R186ac5f84bd442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0bb3811a29441d" /><Relationship Type="http://schemas.openxmlformats.org/officeDocument/2006/relationships/image" Target="/ppt/media/image4.png" Id="Rabb2dfb4f4af40a0" /><Relationship Type="http://schemas.openxmlformats.org/officeDocument/2006/relationships/notesSlide" Target="/ppt/notesSlides/notesSlide9.xml" Id="R3b63d35db2f84d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d1277fdf3f4886" /><Relationship Type="http://schemas.openxmlformats.org/officeDocument/2006/relationships/image" Target="/ppt/media/image5.png" Id="R99892ff379734703" /><Relationship Type="http://schemas.openxmlformats.org/officeDocument/2006/relationships/image" Target="/ppt/media/image6.png" Id="Rf21adb28561f4b5d" /><Relationship Type="http://schemas.openxmlformats.org/officeDocument/2006/relationships/notesSlide" Target="/ppt/notesSlides/notesSlide10.xml" Id="R97bc81f0a88b41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eba82dc6204145" /><Relationship Type="http://schemas.openxmlformats.org/officeDocument/2006/relationships/image" Target="/ppt/media/image7.png" Id="R1b3d6e12fe3f4466" /><Relationship Type="http://schemas.openxmlformats.org/officeDocument/2006/relationships/notesSlide" Target="/ppt/notesSlides/notesSlide11.xml" Id="R4df3b8c3c97d49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03b381d4194fdb" /><Relationship Type="http://schemas.openxmlformats.org/officeDocument/2006/relationships/image" Target="/ppt/media/image8.png" Id="R8d4d981114cd4f42" /><Relationship Type="http://schemas.openxmlformats.org/officeDocument/2006/relationships/notesSlide" Target="/ppt/notesSlides/notesSlide12.xml" Id="R6a9ffe0dd89c4a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7a67ef6c814e0d" /><Relationship Type="http://schemas.openxmlformats.org/officeDocument/2006/relationships/notesSlide" Target="/ppt/notesSlides/notesSlide13.xml" Id="Rd4dff46fa4204b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b721634a3ae4ab6" /><Relationship Type="http://schemas.openxmlformats.org/officeDocument/2006/relationships/notesSlide" Target="/ppt/notesSlides/notesSlide14.xml" Id="R7ebc7c06dcff4c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e2d0d5b0844a91" /><Relationship Type="http://schemas.openxmlformats.org/officeDocument/2006/relationships/notesSlide" Target="/ppt/notesSlides/notesSlide15.xml" Id="R36d1f1a5b61141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04743317db40c4" /><Relationship Type="http://schemas.openxmlformats.org/officeDocument/2006/relationships/notesSlide" Target="/ppt/notesSlides/notesSlide16.xml" Id="R084ca00a45134652" /></Relationships>
</file>

<file path=ppt/slides/slide1.xml><?xml version="1.0" encoding="utf-8"?>
<p:sld xmlns:p="http://schemas.openxmlformats.org/presentationml/2006/main">
  <p:cSld>
    <p:bg>
      <p:bgPr>
        <a:solidFill xmlns:a="http://schemas.openxmlformats.org/drawingml/2006/main">
          <a:srgbClr val="E1F4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6EBEB6A-382E-418A-90CF-88B17E7DB12B}"/>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605359-5D09-4775-9EDB-38BF56EB3C00}"/>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0F252371-3574-44BC-AF09-ADCCA67A5EE5}"/>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233C236A-FF3C-41AA-A650-09A81B8B4727}"/>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GEN AI ACADEMY · TEAM PROJECT</a:t>
            </a:r>
          </a:p>
        </p:txBody>
      </p:sp>
      <p:sp>
        <p:nvSpPr>
          <p:cNvPr id="5" name="">
            <a:extLst xmlns:a="http://schemas.openxmlformats.org/drawingml/2006/main">
              <a:ext uri="{FF2B5EF4-FFF2-40B4-BE49-F238E27FC236}">
                <a16:creationId xmlns:a16="http://schemas.microsoft.com/office/drawing/2014/main" id="{BAED0CBD-68B3-4FD4-A145-DDE0612AC88C}"/>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7A8556CB-229C-4DAA-BC02-E96BFDE4024D}"/>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01 / 16</a:t>
            </a:r>
          </a:p>
        </p:txBody>
      </p:sp>
      <p:sp>
        <p:nvSpPr>
          <p:cNvPr id="7" name="">
            <a:extLst xmlns:a="http://schemas.openxmlformats.org/drawingml/2006/main">
              <a:ext uri="{FF2B5EF4-FFF2-40B4-BE49-F238E27FC236}">
                <a16:creationId xmlns:a16="http://schemas.microsoft.com/office/drawing/2014/main" id="{4708328E-9E90-4C46-BE93-58C06569488F}"/>
              </a:ext>
            </a:extLst>
          </p:cNvPr>
          <p:cNvSpPr>
            <a:spLocks xmlns:a="http://schemas.openxmlformats.org/drawingml/2006/main" noGrp="1"/>
          </p:cNvSpPr>
          <p:nvPr/>
        </p:nvSpPr>
        <p:spPr>
          <a:xfrm xmlns:a="http://schemas.openxmlformats.org/drawingml/2006/main">
            <a:off x="609600" y="13335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i="0">
                <a:solidFill>
                  <a:srgbClr val="087F8C"/>
                </a:solidFill>
                <a:latin typeface="Avenir Next"/>
                <a:ea typeface="Avenir Next"/>
                <a:cs typeface="Avenir Next"/>
              </a:defRPr>
            </a:pPr>
            <a:r>
              <a:rPr sz="1050" b="1" i="0">
                <a:solidFill>
                  <a:srgbClr val="087F8C"/>
                </a:solidFill>
                <a:latin typeface="Avenir Next"/>
                <a:ea typeface="Avenir Next"/>
                <a:cs typeface="Avenir Next"/>
              </a:rPr>
              <a:t>THE CAREGIVER COGNITIVE-LOAD AGENT</a:t>
            </a:r>
          </a:p>
        </p:txBody>
      </p:sp>
      <p:sp>
        <p:nvSpPr>
          <p:cNvPr id="8" name="">
            <a:extLst xmlns:a="http://schemas.openxmlformats.org/drawingml/2006/main">
              <a:ext uri="{FF2B5EF4-FFF2-40B4-BE49-F238E27FC236}">
                <a16:creationId xmlns:a16="http://schemas.microsoft.com/office/drawing/2014/main" id="{2FF41AAC-927E-401A-9C2F-F6CB1DA67043}"/>
              </a:ext>
            </a:extLst>
          </p:cNvPr>
          <p:cNvSpPr>
            <a:spLocks xmlns:a="http://schemas.openxmlformats.org/drawingml/2006/main" noGrp="1"/>
          </p:cNvSpPr>
          <p:nvPr/>
        </p:nvSpPr>
        <p:spPr>
          <a:xfrm xmlns:a="http://schemas.openxmlformats.org/drawingml/2006/main">
            <a:off x="609600" y="180975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903"/>
          </a:bodyPr>
          <a:lstStyle xmlns:a="http://schemas.openxmlformats.org/drawingml/2006/main"/>
          <a:p xmlns:a="http://schemas.openxmlformats.org/drawingml/2006/main">
            <a:pPr algn="l">
              <a:defRPr sz="5700" b="1" i="0">
                <a:solidFill>
                  <a:srgbClr val="123F49"/>
                </a:solidFill>
                <a:latin typeface="Avenir Next"/>
                <a:ea typeface="Avenir Next"/>
                <a:cs typeface="Avenir Next"/>
              </a:defRPr>
            </a:pPr>
            <a:r>
              <a:rPr sz="5700" b="1" i="0">
                <a:solidFill>
                  <a:srgbClr val="123F49"/>
                </a:solidFill>
                <a:latin typeface="Avenir Next"/>
                <a:ea typeface="Avenir Next"/>
                <a:cs typeface="Avenir Next"/>
              </a:rPr>
              <a:t>Less to carry.</a:t>
            </a:r>
          </a:p>
          <a:p xmlns:a="http://schemas.openxmlformats.org/drawingml/2006/main">
            <a:pPr algn="l">
              <a:defRPr sz="5700" b="1" i="0">
                <a:solidFill>
                  <a:srgbClr val="123F49"/>
                </a:solidFill>
                <a:latin typeface="Avenir Next"/>
                <a:ea typeface="Avenir Next"/>
                <a:cs typeface="Avenir Next"/>
              </a:defRPr>
            </a:pPr>
            <a:r>
              <a:rPr sz="5700" b="1" i="0">
                <a:solidFill>
                  <a:srgbClr val="123F49"/>
                </a:solidFill>
                <a:latin typeface="Avenir Next"/>
                <a:ea typeface="Avenir Next"/>
                <a:cs typeface="Avenir Next"/>
              </a:rPr>
              <a:t>More care to give.</a:t>
            </a:r>
          </a:p>
        </p:txBody>
      </p:sp>
      <p:sp>
        <p:nvSpPr>
          <p:cNvPr id="9" name="">
            <a:extLst xmlns:a="http://schemas.openxmlformats.org/drawingml/2006/main">
              <a:ext uri="{FF2B5EF4-FFF2-40B4-BE49-F238E27FC236}">
                <a16:creationId xmlns:a16="http://schemas.microsoft.com/office/drawing/2014/main" id="{9218BD13-D719-4456-853B-E19565B9C0C5}"/>
              </a:ext>
            </a:extLst>
          </p:cNvPr>
          <p:cNvSpPr>
            <a:spLocks xmlns:a="http://schemas.openxmlformats.org/drawingml/2006/main" noGrp="1"/>
          </p:cNvSpPr>
          <p:nvPr/>
        </p:nvSpPr>
        <p:spPr>
          <a:xfrm xmlns:a="http://schemas.openxmlformats.org/drawingml/2006/main">
            <a:off x="609600" y="3905250"/>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0" i="0">
                <a:solidFill>
                  <a:srgbClr val="536870"/>
                </a:solidFill>
                <a:latin typeface="Avenir Next"/>
                <a:ea typeface="Avenir Next"/>
                <a:cs typeface="Avenir Next"/>
              </a:defRPr>
            </a:pPr>
            <a:r>
              <a:rPr sz="2100" b="0" i="0">
                <a:solidFill>
                  <a:srgbClr val="536870"/>
                </a:solidFill>
                <a:latin typeface="Avenir Next"/>
                <a:ea typeface="Avenir Next"/>
                <a:cs typeface="Avenir Next"/>
              </a:rPr>
              <a:t>A shared care picture. A clear next step.</a:t>
            </a:r>
          </a:p>
          <a:p xmlns:a="http://schemas.openxmlformats.org/drawingml/2006/main">
            <a:pPr algn="l">
              <a:defRPr sz="2100" b="0" i="0">
                <a:solidFill>
                  <a:srgbClr val="536870"/>
                </a:solidFill>
                <a:latin typeface="Avenir Next"/>
                <a:ea typeface="Avenir Next"/>
                <a:cs typeface="Avenir Next"/>
              </a:defRPr>
            </a:pPr>
            <a:r>
              <a:rPr sz="2100" b="0" i="0">
                <a:solidFill>
                  <a:srgbClr val="536870"/>
                </a:solidFill>
                <a:latin typeface="Avenir Next"/>
                <a:ea typeface="Avenir Next"/>
                <a:cs typeface="Avenir Next"/>
              </a:rPr>
              <a:t>An agent that helps while the caregiver stays in control.</a:t>
            </a:r>
          </a:p>
        </p:txBody>
      </p:sp>
      <p:sp>
        <p:nvSpPr>
          <p:cNvPr id="10" name="">
            <a:extLst xmlns:a="http://schemas.openxmlformats.org/drawingml/2006/main">
              <a:ext uri="{FF2B5EF4-FFF2-40B4-BE49-F238E27FC236}">
                <a16:creationId xmlns:a16="http://schemas.microsoft.com/office/drawing/2014/main" id="{E6175474-AC9F-4757-8053-FB8DAF354344}"/>
              </a:ext>
            </a:extLst>
          </p:cNvPr>
          <p:cNvSpPr>
            <a:spLocks xmlns:a="http://schemas.openxmlformats.org/drawingml/2006/main" noGrp="1"/>
          </p:cNvSpPr>
          <p:nvPr/>
        </p:nvSpPr>
        <p:spPr>
          <a:xfrm xmlns:a="http://schemas.openxmlformats.org/drawingml/2006/main">
            <a:off x="609600" y="5334000"/>
            <a:ext cx="11430000" cy="19050"/>
          </a:xfrm>
          <a:prstGeom xmlns:a="http://schemas.openxmlformats.org/drawingml/2006/main" prst="rect">
            <a:avLst/>
          </a:prstGeom>
          <a:solidFill xmlns:a="http://schemas.openxmlformats.org/drawingml/2006/main">
            <a:srgbClr val="B8D6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1AB9B1-CA99-4033-9F2C-46E7771468BA}"/>
              </a:ext>
            </a:extLst>
          </p:cNvPr>
          <p:cNvSpPr>
            <a:spLocks xmlns:a="http://schemas.openxmlformats.org/drawingml/2006/main" noGrp="1"/>
          </p:cNvSpPr>
          <p:nvPr/>
        </p:nvSpPr>
        <p:spPr>
          <a:xfrm xmlns:a="http://schemas.openxmlformats.org/drawingml/2006/main">
            <a:off x="609600" y="55816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23F49"/>
                </a:solidFill>
                <a:latin typeface="Avenir Next"/>
                <a:ea typeface="Avenir Next"/>
                <a:cs typeface="Avenir Next"/>
              </a:defRPr>
            </a:pPr>
            <a:r>
              <a:rPr sz="1650" b="0" i="0">
                <a:solidFill>
                  <a:srgbClr val="123F49"/>
                </a:solidFill>
                <a:latin typeface="Avenir Next"/>
                <a:ea typeface="Avenir Next"/>
                <a:cs typeface="Avenir Next"/>
              </a:rPr>
              <a:t>Care Plan</a:t>
            </a:r>
          </a:p>
        </p:txBody>
      </p:sp>
      <p:sp>
        <p:nvSpPr>
          <p:cNvPr id="12" name="">
            <a:extLst xmlns:a="http://schemas.openxmlformats.org/drawingml/2006/main">
              <a:ext uri="{FF2B5EF4-FFF2-40B4-BE49-F238E27FC236}">
                <a16:creationId xmlns:a16="http://schemas.microsoft.com/office/drawing/2014/main" id="{E6914B4A-3B6D-45BD-A3CF-FF04E2B9F705}"/>
              </a:ext>
            </a:extLst>
          </p:cNvPr>
          <p:cNvSpPr>
            <a:spLocks xmlns:a="http://schemas.openxmlformats.org/drawingml/2006/main" noGrp="1"/>
          </p:cNvSpPr>
          <p:nvPr/>
        </p:nvSpPr>
        <p:spPr>
          <a:xfrm xmlns:a="http://schemas.openxmlformats.org/drawingml/2006/main">
            <a:off x="2724150" y="55816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23F49"/>
                </a:solidFill>
                <a:latin typeface="Avenir Next"/>
                <a:ea typeface="Avenir Next"/>
                <a:cs typeface="Avenir Next"/>
              </a:defRPr>
            </a:pPr>
            <a:r>
              <a:rPr sz="1650" b="0" i="0">
                <a:solidFill>
                  <a:srgbClr val="123F49"/>
                </a:solidFill>
                <a:latin typeface="Avenir Next"/>
                <a:ea typeface="Avenir Next"/>
                <a:cs typeface="Avenir Next"/>
              </a:rPr>
              <a:t>Care Circle</a:t>
            </a:r>
          </a:p>
        </p:txBody>
      </p:sp>
      <p:sp>
        <p:nvSpPr>
          <p:cNvPr id="13" name="">
            <a:extLst xmlns:a="http://schemas.openxmlformats.org/drawingml/2006/main">
              <a:ext uri="{FF2B5EF4-FFF2-40B4-BE49-F238E27FC236}">
                <a16:creationId xmlns:a16="http://schemas.microsoft.com/office/drawing/2014/main" id="{DAF7192F-D571-4A8C-A5C9-C1D4D667DDC5}"/>
              </a:ext>
            </a:extLst>
          </p:cNvPr>
          <p:cNvSpPr>
            <a:spLocks xmlns:a="http://schemas.openxmlformats.org/drawingml/2006/main" noGrp="1"/>
          </p:cNvSpPr>
          <p:nvPr/>
        </p:nvSpPr>
        <p:spPr>
          <a:xfrm xmlns:a="http://schemas.openxmlformats.org/drawingml/2006/main">
            <a:off x="4857750" y="55816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23F49"/>
                </a:solidFill>
                <a:latin typeface="Avenir Next"/>
                <a:ea typeface="Avenir Next"/>
                <a:cs typeface="Avenir Next"/>
              </a:defRPr>
            </a:pPr>
            <a:r>
              <a:rPr sz="1650" b="0" i="0">
                <a:solidFill>
                  <a:srgbClr val="123F49"/>
                </a:solidFill>
                <a:latin typeface="Avenir Next"/>
                <a:ea typeface="Avenir Next"/>
                <a:cs typeface="Avenir Next"/>
              </a:rPr>
              <a:t>Care Organizer</a:t>
            </a:r>
          </a:p>
        </p:txBody>
      </p:sp>
      <p:sp>
        <p:nvSpPr>
          <p:cNvPr id="14" name="">
            <a:extLst xmlns:a="http://schemas.openxmlformats.org/drawingml/2006/main">
              <a:ext uri="{FF2B5EF4-FFF2-40B4-BE49-F238E27FC236}">
                <a16:creationId xmlns:a16="http://schemas.microsoft.com/office/drawing/2014/main" id="{40918663-196A-4D61-8670-368EBD96D25C}"/>
              </a:ext>
            </a:extLst>
          </p:cNvPr>
          <p:cNvSpPr>
            <a:spLocks xmlns:a="http://schemas.openxmlformats.org/drawingml/2006/main" noGrp="1"/>
          </p:cNvSpPr>
          <p:nvPr/>
        </p:nvSpPr>
        <p:spPr>
          <a:xfrm xmlns:a="http://schemas.openxmlformats.org/drawingml/2006/main">
            <a:off x="7286625" y="55816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23F49"/>
                </a:solidFill>
                <a:latin typeface="Avenir Next"/>
                <a:ea typeface="Avenir Next"/>
                <a:cs typeface="Avenir Next"/>
              </a:defRPr>
            </a:pPr>
            <a:r>
              <a:rPr sz="1650" b="0" i="0">
                <a:solidFill>
                  <a:srgbClr val="123F49"/>
                </a:solidFill>
                <a:latin typeface="Avenir Next"/>
                <a:ea typeface="Avenir Next"/>
                <a:cs typeface="Avenir Next"/>
              </a:rPr>
              <a:t>Care Handover</a:t>
            </a:r>
          </a:p>
        </p:txBody>
      </p:sp>
      <p:sp>
        <p:nvSpPr>
          <p:cNvPr id="15" name="">
            <a:extLst xmlns:a="http://schemas.openxmlformats.org/drawingml/2006/main">
              <a:ext uri="{FF2B5EF4-FFF2-40B4-BE49-F238E27FC236}">
                <a16:creationId xmlns:a16="http://schemas.microsoft.com/office/drawing/2014/main" id="{3E45D316-4346-4566-8FC5-8538C404E8F2}"/>
              </a:ext>
            </a:extLst>
          </p:cNvPr>
          <p:cNvSpPr>
            <a:spLocks xmlns:a="http://schemas.openxmlformats.org/drawingml/2006/main" noGrp="1"/>
          </p:cNvSpPr>
          <p:nvPr/>
        </p:nvSpPr>
        <p:spPr>
          <a:xfrm xmlns:a="http://schemas.openxmlformats.org/drawingml/2006/main">
            <a:off x="9715500" y="558165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23F49"/>
                </a:solidFill>
                <a:latin typeface="Avenir Next"/>
                <a:ea typeface="Avenir Next"/>
                <a:cs typeface="Avenir Next"/>
              </a:defRPr>
            </a:pPr>
            <a:r>
              <a:rPr sz="1650" b="0" i="0">
                <a:solidFill>
                  <a:srgbClr val="123F49"/>
                </a:solidFill>
                <a:latin typeface="Avenir Next"/>
                <a:ea typeface="Avenir Next"/>
                <a:cs typeface="Avenir Next"/>
              </a:rPr>
              <a:t>Grounded Agent</a:t>
            </a:r>
          </a:p>
        </p:txBody>
      </p:sp>
      <p:sp>
        <p:nvSpPr>
          <p:cNvPr id="16" name="">
            <a:extLst xmlns:a="http://schemas.openxmlformats.org/drawingml/2006/main">
              <a:ext uri="{FF2B5EF4-FFF2-40B4-BE49-F238E27FC236}">
                <a16:creationId xmlns:a16="http://schemas.microsoft.com/office/drawing/2014/main" id="{4E1D44A4-4640-42BA-86DD-64FBD9742DE6}"/>
              </a:ext>
            </a:extLst>
          </p:cNvPr>
          <p:cNvSpPr>
            <a:spLocks xmlns:a="http://schemas.openxmlformats.org/drawingml/2006/main" noGrp="1"/>
          </p:cNvSpPr>
          <p:nvPr/>
        </p:nvSpPr>
        <p:spPr>
          <a:xfrm xmlns:a="http://schemas.openxmlformats.org/drawingml/2006/main">
            <a:off x="609600" y="6477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defRPr sz="1200" b="0" i="0">
                <a:solidFill>
                  <a:srgbClr val="536870"/>
                </a:solidFill>
                <a:latin typeface="Avenir Next"/>
                <a:ea typeface="Avenir Next"/>
                <a:cs typeface="Avenir Next"/>
              </a:defRPr>
            </a:pPr>
            <a:r>
              <a:rPr sz="1200" b="0" i="0">
                <a:solidFill>
                  <a:srgbClr val="536870"/>
                </a:solidFill>
                <a:latin typeface="Avenir Next"/>
                <a:ea typeface="Avenir Next"/>
                <a:cs typeface="Avenir Next"/>
              </a:rPr>
              <a:t>Frincy Clement · Maneetta Antony · Tejaswini Venkata Raju · Shrijan Chipalu</a:t>
            </a:r>
          </a:p>
        </p:txBody>
      </p:sp>
    </p:spTree>
    <p:extLst>
      <p:ext uri="{BB962C8B-B14F-4D97-AF65-F5344CB8AC3E}">
        <p14:creationId xmlns:p14="http://schemas.microsoft.com/office/powerpoint/2010/main" val="235317209"/>
      </p:ext>
    </p:extLst>
  </p:cSld>
</p:sld>
</file>

<file path=ppt/slides/slide2.xml><?xml version="1.0" encoding="utf-8"?>
<p:sld xmlns:p="http://schemas.openxmlformats.org/presentationml/2006/main">
  <p:cSld>
    <p:bg>
      <p:bgPr>
        <a:solidFill xmlns:a="http://schemas.openxmlformats.org/drawingml/2006/main">
          <a:srgbClr val="E1F4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020C46E-1AA4-474B-9368-4B76D7CCAE6A}"/>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F61172-31F6-47F6-8CC4-1C98ED9122A5}"/>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DCC133A7-FCA5-42BB-B043-ED5B2CEB9A67}"/>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625C52EE-8576-4C9C-9B67-F0B3D335E572}"/>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THE PROBLEM · MEET MAYA</a:t>
            </a:r>
          </a:p>
        </p:txBody>
      </p:sp>
      <p:sp>
        <p:nvSpPr>
          <p:cNvPr id="5" name="">
            <a:extLst xmlns:a="http://schemas.openxmlformats.org/drawingml/2006/main">
              <a:ext uri="{FF2B5EF4-FFF2-40B4-BE49-F238E27FC236}">
                <a16:creationId xmlns:a16="http://schemas.microsoft.com/office/drawing/2014/main" id="{683D938C-0DF1-402A-98B0-91EE0D32EF6B}"/>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7F3AA6D9-E941-4C91-B7C1-579B08241183}"/>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02 / 16</a:t>
            </a:r>
          </a:p>
        </p:txBody>
      </p:sp>
      <p:sp>
        <p:nvSpPr>
          <p:cNvPr id="7" name="">
            <a:extLst xmlns:a="http://schemas.openxmlformats.org/drawingml/2006/main">
              <a:ext uri="{FF2B5EF4-FFF2-40B4-BE49-F238E27FC236}">
                <a16:creationId xmlns:a16="http://schemas.microsoft.com/office/drawing/2014/main" id="{2E9FD749-82ED-40D2-98F8-F80AACBF7FE4}"/>
              </a:ext>
            </a:extLst>
          </p:cNvPr>
          <p:cNvSpPr>
            <a:spLocks xmlns:a="http://schemas.openxmlformats.org/drawingml/2006/main" noGrp="1"/>
          </p:cNvSpPr>
          <p:nvPr/>
        </p:nvSpPr>
        <p:spPr>
          <a:xfrm xmlns:a="http://schemas.openxmlformats.org/drawingml/2006/main">
            <a:off x="609600" y="10477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71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ONE CAREGIVER. TOO MUCH TO REMEMBER.</a:t>
            </a:r>
          </a:p>
        </p:txBody>
      </p:sp>
      <p:sp>
        <p:nvSpPr>
          <p:cNvPr id="8" name="">
            <a:extLst xmlns:a="http://schemas.openxmlformats.org/drawingml/2006/main">
              <a:ext uri="{FF2B5EF4-FFF2-40B4-BE49-F238E27FC236}">
                <a16:creationId xmlns:a16="http://schemas.microsoft.com/office/drawing/2014/main" id="{DE9E988B-2617-4AAB-9CC3-0557D053A665}"/>
              </a:ext>
            </a:extLst>
          </p:cNvPr>
          <p:cNvSpPr>
            <a:spLocks xmlns:a="http://schemas.openxmlformats.org/drawingml/2006/main" noGrp="1"/>
          </p:cNvSpPr>
          <p:nvPr/>
        </p:nvSpPr>
        <p:spPr>
          <a:xfrm xmlns:a="http://schemas.openxmlformats.org/drawingml/2006/main">
            <a:off x="609600" y="14287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884"/>
          </a:bodyPr>
          <a:lstStyle xmlns:a="http://schemas.openxmlformats.org/drawingml/2006/main"/>
          <a:p xmlns:a="http://schemas.openxmlformats.org/drawingml/2006/main">
            <a:pPr algn="l">
              <a:defRPr sz="3975" b="1" i="0">
                <a:solidFill>
                  <a:srgbClr val="123F49"/>
                </a:solidFill>
                <a:latin typeface="Avenir Next"/>
                <a:ea typeface="Avenir Next"/>
                <a:cs typeface="Avenir Next"/>
              </a:defRPr>
            </a:pPr>
            <a:r>
              <a:rPr sz="3975" b="1" i="0">
                <a:solidFill>
                  <a:srgbClr val="123F49"/>
                </a:solidFill>
                <a:latin typeface="Avenir Next"/>
                <a:ea typeface="Avenir Next"/>
                <a:cs typeface="Avenir Next"/>
              </a:rPr>
              <a:t>Everyone has part of the story.</a:t>
            </a:r>
          </a:p>
          <a:p xmlns:a="http://schemas.openxmlformats.org/drawingml/2006/main">
            <a:pPr algn="l">
              <a:defRPr sz="3975" b="1" i="0">
                <a:solidFill>
                  <a:srgbClr val="123F49"/>
                </a:solidFill>
                <a:latin typeface="Avenir Next"/>
                <a:ea typeface="Avenir Next"/>
                <a:cs typeface="Avenir Next"/>
              </a:defRPr>
            </a:pPr>
            <a:r>
              <a:rPr sz="3975" b="1" i="0">
                <a:solidFill>
                  <a:srgbClr val="123F49"/>
                </a:solidFill>
                <a:latin typeface="Avenir Next"/>
                <a:ea typeface="Avenir Next"/>
                <a:cs typeface="Avenir Next"/>
              </a:rPr>
              <a:t>Maya holds it all together.</a:t>
            </a:r>
          </a:p>
        </p:txBody>
      </p:sp>
      <p:sp>
        <p:nvSpPr>
          <p:cNvPr id="9" name="">
            <a:extLst xmlns:a="http://schemas.openxmlformats.org/drawingml/2006/main">
              <a:ext uri="{FF2B5EF4-FFF2-40B4-BE49-F238E27FC236}">
                <a16:creationId xmlns:a16="http://schemas.microsoft.com/office/drawing/2014/main" id="{719BC6C2-8575-46FE-A171-40FBB00B5810}"/>
              </a:ext>
            </a:extLst>
          </p:cNvPr>
          <p:cNvSpPr>
            <a:spLocks xmlns:a="http://schemas.openxmlformats.org/drawingml/2006/main" noGrp="1"/>
          </p:cNvSpPr>
          <p:nvPr/>
        </p:nvSpPr>
        <p:spPr>
          <a:xfrm xmlns:a="http://schemas.openxmlformats.org/drawingml/2006/main">
            <a:off x="609600" y="3095625"/>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36870"/>
                </a:solidFill>
                <a:latin typeface="Avenir Next"/>
                <a:ea typeface="Avenir Next"/>
                <a:cs typeface="Avenir Next"/>
              </a:defRPr>
            </a:pPr>
            <a:r>
              <a:rPr sz="1650" b="0" i="0">
                <a:solidFill>
                  <a:srgbClr val="536870"/>
                </a:solidFill>
                <a:latin typeface="Avenir Next"/>
                <a:ea typeface="Avenir Next"/>
                <a:cs typeface="Avenir Next"/>
              </a:rPr>
              <a:t>She coordinates Alex’s care around work and family, remembering every change and resolving schedule conflicts again and again.</a:t>
            </a:r>
          </a:p>
        </p:txBody>
      </p:sp>
      <p:sp>
        <p:nvSpPr>
          <p:cNvPr id="10" name="">
            <a:extLst xmlns:a="http://schemas.openxmlformats.org/drawingml/2006/main">
              <a:ext uri="{FF2B5EF4-FFF2-40B4-BE49-F238E27FC236}">
                <a16:creationId xmlns:a16="http://schemas.microsoft.com/office/drawing/2014/main" id="{7CF88B0C-ABA0-4A8B-9C9A-099E2C1A22D3}"/>
              </a:ext>
            </a:extLst>
          </p:cNvPr>
          <p:cNvSpPr>
            <a:spLocks xmlns:a="http://schemas.openxmlformats.org/drawingml/2006/main" noGrp="1"/>
          </p:cNvSpPr>
          <p:nvPr/>
        </p:nvSpPr>
        <p:spPr>
          <a:xfrm xmlns:a="http://schemas.openxmlformats.org/drawingml/2006/main">
            <a:off x="609600" y="4333875"/>
            <a:ext cx="5810250" cy="1257300"/>
          </a:xfrm>
          <a:prstGeom xmlns:a="http://schemas.openxmlformats.org/drawingml/2006/main" prst="roundRect">
            <a:avLst>
              <a:gd name="adj" fmla="val 10606"/>
            </a:avLst>
          </a:prstGeom>
          <a:solidFill xmlns:a="http://schemas.openxmlformats.org/drawingml/2006/main">
            <a:srgbClr val="FFFFFF"/>
          </a:solidFill>
          <a:ln xmlns:a="http://schemas.openxmlformats.org/drawingml/2006/main" w="9525">
            <a:solidFill>
              <a:srgbClr val="B8D6D5"/>
            </a:solidFill>
          </a:ln>
        </p:spPr>
      </p:sp>
      <p:sp>
        <p:nvSpPr>
          <p:cNvPr id="11" name="">
            <a:extLst xmlns:a="http://schemas.openxmlformats.org/drawingml/2006/main">
              <a:ext uri="{FF2B5EF4-FFF2-40B4-BE49-F238E27FC236}">
                <a16:creationId xmlns:a16="http://schemas.microsoft.com/office/drawing/2014/main" id="{4C426496-A93D-4E63-B35C-6C4CBDBBB2B4}"/>
              </a:ext>
            </a:extLst>
          </p:cNvPr>
          <p:cNvSpPr>
            <a:spLocks xmlns:a="http://schemas.openxmlformats.org/drawingml/2006/main" noGrp="1"/>
          </p:cNvSpPr>
          <p:nvPr/>
        </p:nvSpPr>
        <p:spPr>
          <a:xfrm xmlns:a="http://schemas.openxmlformats.org/drawingml/2006/main">
            <a:off x="819150" y="450532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The invisible work of care</a:t>
            </a:r>
          </a:p>
        </p:txBody>
      </p:sp>
      <p:sp>
        <p:nvSpPr>
          <p:cNvPr id="12" name="">
            <a:extLst xmlns:a="http://schemas.openxmlformats.org/drawingml/2006/main">
              <a:ext uri="{FF2B5EF4-FFF2-40B4-BE49-F238E27FC236}">
                <a16:creationId xmlns:a16="http://schemas.microsoft.com/office/drawing/2014/main" id="{CA30256F-F327-448B-B9C7-89128E99063E}"/>
              </a:ext>
            </a:extLst>
          </p:cNvPr>
          <p:cNvSpPr>
            <a:spLocks xmlns:a="http://schemas.openxmlformats.org/drawingml/2006/main" noGrp="1"/>
          </p:cNvSpPr>
          <p:nvPr/>
        </p:nvSpPr>
        <p:spPr>
          <a:xfrm xmlns:a="http://schemas.openxmlformats.org/drawingml/2006/main">
            <a:off x="819150" y="4886325"/>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36870"/>
                </a:solidFill>
                <a:latin typeface="Avenir Next"/>
                <a:ea typeface="Avenir Next"/>
                <a:cs typeface="Avenir Next"/>
              </a:defRPr>
            </a:pPr>
            <a:r>
              <a:rPr sz="1425" b="0" i="0">
                <a:solidFill>
                  <a:srgbClr val="536870"/>
                </a:solidFill>
                <a:latin typeface="Avenir Next"/>
                <a:ea typeface="Avenir Next"/>
                <a:cs typeface="Avenir Next"/>
              </a:rPr>
              <a:t>Keep the information in her head. Spot the clash. Find cover. Update everyone.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36010ede84a40ed">
            <a:extLst>
              <a:ext uri="{96DAC541-7B7A-43D3-8B79-37D633B846F1}">
                <asvg:svgBlip xmlns:asvg="http://schemas.microsoft.com/office/drawing/2016/SVG/main" r:embed="R14b01722f76540da"/>
              </a:ext>
            </a:extLst>
          </a:blip>
          <a:stretch xmlns:a="http://schemas.openxmlformats.org/drawingml/2006/main"/>
        </p:blipFill>
        <p:spPr>
          <a:xfrm xmlns:a="http://schemas.openxmlformats.org/drawingml/2006/main">
            <a:off x="7334250" y="1095375"/>
            <a:ext cx="5476875" cy="5286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F28B9EB-3A49-4BCF-838E-05776DAE9398}"/>
              </a:ext>
            </a:extLst>
          </p:cNvPr>
          <p:cNvSpPr>
            <a:spLocks xmlns:a="http://schemas.openxmlformats.org/drawingml/2006/main" noGrp="1"/>
          </p:cNvSpPr>
          <p:nvPr/>
        </p:nvSpPr>
        <p:spPr>
          <a:xfrm xmlns:a="http://schemas.openxmlformats.org/drawingml/2006/main">
            <a:off x="8715375" y="64770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Illustrative persona and scenario</a:t>
            </a:r>
          </a:p>
        </p:txBody>
      </p:sp>
    </p:spTree>
    <p:extLst>
      <p:ext uri="{BB962C8B-B14F-4D97-AF65-F5344CB8AC3E}">
        <p14:creationId xmlns:p14="http://schemas.microsoft.com/office/powerpoint/2010/main" val="234999739"/>
      </p:ext>
    </p:extLst>
  </p:cSld>
</p:sld>
</file>

<file path=ppt/slides/slide3.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837537A-D184-4E10-B54A-9F30B1C0A842}"/>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0A733C-7B5F-4079-8E3F-5D2E538F5AFD}"/>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0908011F-0582-42DF-860A-E197309D62A5}"/>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F94F3493-81F8-4486-BDEC-1100699A112B}"/>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THE COORDINATION GAP</a:t>
            </a:r>
          </a:p>
        </p:txBody>
      </p:sp>
      <p:sp>
        <p:nvSpPr>
          <p:cNvPr id="5" name="">
            <a:extLst xmlns:a="http://schemas.openxmlformats.org/drawingml/2006/main">
              <a:ext uri="{FF2B5EF4-FFF2-40B4-BE49-F238E27FC236}">
                <a16:creationId xmlns:a16="http://schemas.microsoft.com/office/drawing/2014/main" id="{9EF379B9-43CA-44AF-BF35-3210C4605DCB}"/>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96432908-69DC-4D8A-82B4-C1FC3D07F7D4}"/>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03 / 16</a:t>
            </a:r>
          </a:p>
        </p:txBody>
      </p:sp>
      <p:sp>
        <p:nvSpPr>
          <p:cNvPr id="7" name="">
            <a:extLst xmlns:a="http://schemas.openxmlformats.org/drawingml/2006/main">
              <a:ext uri="{FF2B5EF4-FFF2-40B4-BE49-F238E27FC236}">
                <a16:creationId xmlns:a16="http://schemas.microsoft.com/office/drawing/2014/main" id="{3E4B716F-BD7A-46BF-99B9-9D53CDDD2564}"/>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THE PROBLEM</a:t>
            </a:r>
          </a:p>
        </p:txBody>
      </p:sp>
      <p:sp>
        <p:nvSpPr>
          <p:cNvPr id="8" name="">
            <a:extLst xmlns:a="http://schemas.openxmlformats.org/drawingml/2006/main">
              <a:ext uri="{FF2B5EF4-FFF2-40B4-BE49-F238E27FC236}">
                <a16:creationId xmlns:a16="http://schemas.microsoft.com/office/drawing/2014/main" id="{C6DD1FE4-2627-4AE6-B2C5-0FDDA1CD17A1}"/>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Care happens across people.</a:t>
            </a:r>
          </a:p>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The mental checklist stays with one.</a:t>
            </a:r>
          </a:p>
        </p:txBody>
      </p:sp>
      <p:sp>
        <p:nvSpPr>
          <p:cNvPr id="9" name="">
            <a:extLst xmlns:a="http://schemas.openxmlformats.org/drawingml/2006/main">
              <a:ext uri="{FF2B5EF4-FFF2-40B4-BE49-F238E27FC236}">
                <a16:creationId xmlns:a16="http://schemas.microsoft.com/office/drawing/2014/main" id="{93B09B44-52A9-4997-9F2A-4B34051319FC}"/>
              </a:ext>
            </a:extLst>
          </p:cNvPr>
          <p:cNvSpPr>
            <a:spLocks xmlns:a="http://schemas.openxmlformats.org/drawingml/2006/main" noGrp="1"/>
          </p:cNvSpPr>
          <p:nvPr/>
        </p:nvSpPr>
        <p:spPr>
          <a:xfrm xmlns:a="http://schemas.openxmlformats.org/drawingml/2006/main">
            <a:off x="609600" y="3143250"/>
            <a:ext cx="3714750" cy="2571750"/>
          </a:xfrm>
          <a:prstGeom xmlns:a="http://schemas.openxmlformats.org/drawingml/2006/main" prst="roundRect">
            <a:avLst>
              <a:gd name="adj" fmla="val 5185"/>
            </a:avLst>
          </a:prstGeom>
          <a:solidFill xmlns:a="http://schemas.openxmlformats.org/drawingml/2006/main">
            <a:srgbClr val="E1F4F1"/>
          </a:solidFill>
          <a:ln xmlns:a="http://schemas.openxmlformats.org/drawingml/2006/main" w="9525">
            <a:solidFill>
              <a:srgbClr val="B8D6D5"/>
            </a:solidFill>
          </a:ln>
        </p:spPr>
      </p:sp>
      <p:sp>
        <p:nvSpPr>
          <p:cNvPr id="10" name="">
            <a:extLst xmlns:a="http://schemas.openxmlformats.org/drawingml/2006/main">
              <a:ext uri="{FF2B5EF4-FFF2-40B4-BE49-F238E27FC236}">
                <a16:creationId xmlns:a16="http://schemas.microsoft.com/office/drawing/2014/main" id="{1109A7C1-2773-4D7C-A1FF-D648DDE497CF}"/>
              </a:ext>
            </a:extLst>
          </p:cNvPr>
          <p:cNvSpPr>
            <a:spLocks xmlns:a="http://schemas.openxmlformats.org/drawingml/2006/main" noGrp="1"/>
          </p:cNvSpPr>
          <p:nvPr/>
        </p:nvSpPr>
        <p:spPr>
          <a:xfrm xmlns:a="http://schemas.openxmlformats.org/drawingml/2006/main">
            <a:off x="819150" y="33147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574"/>
          </a:bodyPr>
          <a:lstStyle xmlns:a="http://schemas.openxmlformats.org/drawingml/2006/main"/>
          <a:p xmlns:a="http://schemas.openxmlformats.org/drawingml/2006/main">
            <a:pPr algn="l">
              <a:defRPr sz="2175" b="1" i="0">
                <a:solidFill>
                  <a:srgbClr val="123F49"/>
                </a:solidFill>
                <a:latin typeface="Avenir Next"/>
                <a:ea typeface="Avenir Next"/>
                <a:cs typeface="Avenir Next"/>
              </a:defRPr>
            </a:pPr>
            <a:r>
              <a:rPr sz="2175" b="1" i="0">
                <a:solidFill>
                  <a:srgbClr val="123F49"/>
                </a:solidFill>
                <a:latin typeface="Avenir Next"/>
                <a:ea typeface="Avenir Next"/>
                <a:cs typeface="Avenir Next"/>
              </a:rPr>
              <a:t>“I thought you were taking Alex tomorrow.”</a:t>
            </a:r>
          </a:p>
        </p:txBody>
      </p:sp>
      <p:sp>
        <p:nvSpPr>
          <p:cNvPr id="11" name="">
            <a:extLst xmlns:a="http://schemas.openxmlformats.org/drawingml/2006/main">
              <a:ext uri="{FF2B5EF4-FFF2-40B4-BE49-F238E27FC236}">
                <a16:creationId xmlns:a16="http://schemas.microsoft.com/office/drawing/2014/main" id="{771AD993-DCC7-4F2D-9CE5-0A52D336CBB6}"/>
              </a:ext>
            </a:extLst>
          </p:cNvPr>
          <p:cNvSpPr>
            <a:spLocks xmlns:a="http://schemas.openxmlformats.org/drawingml/2006/main" noGrp="1"/>
          </p:cNvSpPr>
          <p:nvPr/>
        </p:nvSpPr>
        <p:spPr>
          <a:xfrm xmlns:a="http://schemas.openxmlformats.org/drawingml/2006/main">
            <a:off x="819150" y="3695700"/>
            <a:ext cx="333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36870"/>
                </a:solidFill>
                <a:latin typeface="Avenir Next"/>
                <a:ea typeface="Avenir Next"/>
                <a:cs typeface="Avenir Next"/>
              </a:defRPr>
            </a:pPr>
            <a:r>
              <a:rPr sz="1425" b="0" i="0">
                <a:solidFill>
                  <a:srgbClr val="536870"/>
                </a:solidFill>
                <a:latin typeface="Avenir Next"/>
                <a:ea typeface="Avenir Next"/>
                <a:cs typeface="Avenir Next"/>
              </a:rPr>
              <a:t>A change in one place can leave the ride, reminder, or caregiver assignment pointing to the old plan.</a:t>
            </a:r>
          </a:p>
        </p:txBody>
      </p:sp>
      <p:sp>
        <p:nvSpPr>
          <p:cNvPr id="12" name="">
            <a:extLst xmlns:a="http://schemas.openxmlformats.org/drawingml/2006/main">
              <a:ext uri="{FF2B5EF4-FFF2-40B4-BE49-F238E27FC236}">
                <a16:creationId xmlns:a16="http://schemas.microsoft.com/office/drawing/2014/main" id="{18FF13C7-3E8E-4853-BC46-4767376B9F2A}"/>
              </a:ext>
            </a:extLst>
          </p:cNvPr>
          <p:cNvSpPr>
            <a:spLocks xmlns:a="http://schemas.openxmlformats.org/drawingml/2006/main" noGrp="1"/>
          </p:cNvSpPr>
          <p:nvPr/>
        </p:nvSpPr>
        <p:spPr>
          <a:xfrm xmlns:a="http://schemas.openxmlformats.org/drawingml/2006/main">
            <a:off x="4629150" y="3143250"/>
            <a:ext cx="3714750" cy="2571750"/>
          </a:xfrm>
          <a:prstGeom xmlns:a="http://schemas.openxmlformats.org/drawingml/2006/main" prst="roundRect">
            <a:avLst>
              <a:gd name="adj" fmla="val 5185"/>
            </a:avLst>
          </a:prstGeom>
          <a:solidFill xmlns:a="http://schemas.openxmlformats.org/drawingml/2006/main">
            <a:srgbClr val="EDE8FB"/>
          </a:solidFill>
          <a:ln xmlns:a="http://schemas.openxmlformats.org/drawingml/2006/main" w="9525">
            <a:solidFill>
              <a:srgbClr val="B8D6D5"/>
            </a:solidFill>
          </a:ln>
        </p:spPr>
      </p:sp>
      <p:sp>
        <p:nvSpPr>
          <p:cNvPr id="13" name="">
            <a:extLst xmlns:a="http://schemas.openxmlformats.org/drawingml/2006/main">
              <a:ext uri="{FF2B5EF4-FFF2-40B4-BE49-F238E27FC236}">
                <a16:creationId xmlns:a16="http://schemas.microsoft.com/office/drawing/2014/main" id="{16C23AB7-4EB4-4321-A2BD-9DB904EE9757}"/>
              </a:ext>
            </a:extLst>
          </p:cNvPr>
          <p:cNvSpPr>
            <a:spLocks xmlns:a="http://schemas.openxmlformats.org/drawingml/2006/main" noGrp="1"/>
          </p:cNvSpPr>
          <p:nvPr/>
        </p:nvSpPr>
        <p:spPr>
          <a:xfrm xmlns:a="http://schemas.openxmlformats.org/drawingml/2006/main">
            <a:off x="4838700" y="33147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Every handover costs attention</a:t>
            </a:r>
          </a:p>
        </p:txBody>
      </p:sp>
      <p:sp>
        <p:nvSpPr>
          <p:cNvPr id="14" name="">
            <a:extLst xmlns:a="http://schemas.openxmlformats.org/drawingml/2006/main">
              <a:ext uri="{FF2B5EF4-FFF2-40B4-BE49-F238E27FC236}">
                <a16:creationId xmlns:a16="http://schemas.microsoft.com/office/drawing/2014/main" id="{0586C850-B429-4EBF-9544-9EAB17BF0EAC}"/>
              </a:ext>
            </a:extLst>
          </p:cNvPr>
          <p:cNvSpPr>
            <a:spLocks xmlns:a="http://schemas.openxmlformats.org/drawingml/2006/main" noGrp="1"/>
          </p:cNvSpPr>
          <p:nvPr/>
        </p:nvSpPr>
        <p:spPr>
          <a:xfrm xmlns:a="http://schemas.openxmlformats.org/drawingml/2006/main">
            <a:off x="4838700" y="3695700"/>
            <a:ext cx="333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36870"/>
                </a:solidFill>
                <a:latin typeface="Avenir Next"/>
                <a:ea typeface="Avenir Next"/>
                <a:cs typeface="Avenir Next"/>
              </a:defRPr>
            </a:pPr>
            <a:r>
              <a:rPr sz="1425" b="0" i="0">
                <a:solidFill>
                  <a:srgbClr val="536870"/>
                </a:solidFill>
                <a:latin typeface="Avenir Next"/>
                <a:ea typeface="Avenir Next"/>
                <a:cs typeface="Avenir Next"/>
              </a:rPr>
              <a:t>The next caregiver needs current state, open risks, reliable contacts, and the exact items requiring review.</a:t>
            </a:r>
          </a:p>
        </p:txBody>
      </p:sp>
      <p:sp>
        <p:nvSpPr>
          <p:cNvPr id="15" name="">
            <a:extLst xmlns:a="http://schemas.openxmlformats.org/drawingml/2006/main">
              <a:ext uri="{FF2B5EF4-FFF2-40B4-BE49-F238E27FC236}">
                <a16:creationId xmlns:a16="http://schemas.microsoft.com/office/drawing/2014/main" id="{8071F1E3-A8E3-48C0-AB4B-241A0E0FA68C}"/>
              </a:ext>
            </a:extLst>
          </p:cNvPr>
          <p:cNvSpPr>
            <a:spLocks xmlns:a="http://schemas.openxmlformats.org/drawingml/2006/main" noGrp="1"/>
          </p:cNvSpPr>
          <p:nvPr/>
        </p:nvSpPr>
        <p:spPr>
          <a:xfrm xmlns:a="http://schemas.openxmlformats.org/drawingml/2006/main">
            <a:off x="8648700" y="3143250"/>
            <a:ext cx="3714750" cy="2571750"/>
          </a:xfrm>
          <a:prstGeom xmlns:a="http://schemas.openxmlformats.org/drawingml/2006/main" prst="roundRect">
            <a:avLst>
              <a:gd name="adj" fmla="val 5185"/>
            </a:avLst>
          </a:prstGeom>
          <a:solidFill xmlns:a="http://schemas.openxmlformats.org/drawingml/2006/main">
            <a:srgbClr val="FFD1AF"/>
          </a:solidFill>
          <a:ln xmlns:a="http://schemas.openxmlformats.org/drawingml/2006/main" w="9525">
            <a:solidFill>
              <a:srgbClr val="B8D6D5"/>
            </a:solidFill>
          </a:ln>
        </p:spPr>
      </p:sp>
      <p:sp>
        <p:nvSpPr>
          <p:cNvPr id="16" name="">
            <a:extLst xmlns:a="http://schemas.openxmlformats.org/drawingml/2006/main">
              <a:ext uri="{FF2B5EF4-FFF2-40B4-BE49-F238E27FC236}">
                <a16:creationId xmlns:a16="http://schemas.microsoft.com/office/drawing/2014/main" id="{C70B45B9-E232-494F-AAD5-9C84EF4F91A0}"/>
              </a:ext>
            </a:extLst>
          </p:cNvPr>
          <p:cNvSpPr>
            <a:spLocks xmlns:a="http://schemas.openxmlformats.org/drawingml/2006/main" noGrp="1"/>
          </p:cNvSpPr>
          <p:nvPr/>
        </p:nvSpPr>
        <p:spPr>
          <a:xfrm xmlns:a="http://schemas.openxmlformats.org/drawingml/2006/main">
            <a:off x="8858250" y="33147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More reminders are not enough</a:t>
            </a:r>
          </a:p>
        </p:txBody>
      </p:sp>
      <p:sp>
        <p:nvSpPr>
          <p:cNvPr id="17" name="">
            <a:extLst xmlns:a="http://schemas.openxmlformats.org/drawingml/2006/main">
              <a:ext uri="{FF2B5EF4-FFF2-40B4-BE49-F238E27FC236}">
                <a16:creationId xmlns:a16="http://schemas.microsoft.com/office/drawing/2014/main" id="{9A0551A1-5CA4-4971-8535-7A6C2B6D5A66}"/>
              </a:ext>
            </a:extLst>
          </p:cNvPr>
          <p:cNvSpPr>
            <a:spLocks xmlns:a="http://schemas.openxmlformats.org/drawingml/2006/main" noGrp="1"/>
          </p:cNvSpPr>
          <p:nvPr/>
        </p:nvSpPr>
        <p:spPr>
          <a:xfrm xmlns:a="http://schemas.openxmlformats.org/drawingml/2006/main">
            <a:off x="8858250" y="3695700"/>
            <a:ext cx="333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536870"/>
                </a:solidFill>
                <a:latin typeface="Avenir Next"/>
                <a:ea typeface="Avenir Next"/>
                <a:cs typeface="Avenir Next"/>
              </a:defRPr>
            </a:pPr>
            <a:r>
              <a:rPr sz="1425" b="0" i="0">
                <a:solidFill>
                  <a:srgbClr val="536870"/>
                </a:solidFill>
                <a:latin typeface="Avenir Next"/>
                <a:ea typeface="Avenir Next"/>
                <a:cs typeface="Avenir Next"/>
              </a:rPr>
              <a:t>The practical need is shared context, a named owner, a safe decision, and a visible outcome.</a:t>
            </a:r>
          </a:p>
        </p:txBody>
      </p:sp>
      <p:sp>
        <p:nvSpPr>
          <p:cNvPr id="18" name="">
            <a:extLst xmlns:a="http://schemas.openxmlformats.org/drawingml/2006/main">
              <a:ext uri="{FF2B5EF4-FFF2-40B4-BE49-F238E27FC236}">
                <a16:creationId xmlns:a16="http://schemas.microsoft.com/office/drawing/2014/main" id="{5EFFC7E2-C196-4813-9899-D4AE655E157C}"/>
              </a:ext>
            </a:extLst>
          </p:cNvPr>
          <p:cNvSpPr>
            <a:spLocks xmlns:a="http://schemas.openxmlformats.org/drawingml/2006/main" noGrp="1"/>
          </p:cNvSpPr>
          <p:nvPr/>
        </p:nvSpPr>
        <p:spPr>
          <a:xfrm xmlns:a="http://schemas.openxmlformats.org/drawingml/2006/main">
            <a:off x="1905000" y="6048375"/>
            <a:ext cx="9334500" cy="609600"/>
          </a:xfrm>
          <a:prstGeom xmlns:a="http://schemas.openxmlformats.org/drawingml/2006/main" prst="roundRect">
            <a:avLst>
              <a:gd name="adj" fmla="val 18750"/>
            </a:avLst>
          </a:prstGeom>
          <a:solidFill xmlns:a="http://schemas.openxmlformats.org/drawingml/2006/main">
            <a:srgbClr val="087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9BAD38F-4098-44AC-A2E0-0D036FCEEFFC}"/>
              </a:ext>
            </a:extLst>
          </p:cNvPr>
          <p:cNvSpPr>
            <a:spLocks xmlns:a="http://schemas.openxmlformats.org/drawingml/2006/main" noGrp="1"/>
          </p:cNvSpPr>
          <p:nvPr/>
        </p:nvSpPr>
        <p:spPr>
          <a:xfrm xmlns:a="http://schemas.openxmlformats.org/drawingml/2006/main">
            <a:off x="2190750" y="619125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652"/>
          </a:bodyPr>
          <a:lstStyle xmlns:a="http://schemas.openxmlformats.org/drawingml/2006/main"/>
          <a:p xmlns:a="http://schemas.openxmlformats.org/drawingml/2006/main">
            <a:pPr algn="ctr">
              <a:defRPr sz="1725" b="1" i="0">
                <a:solidFill>
                  <a:srgbClr val="FFFFFF"/>
                </a:solidFill>
                <a:latin typeface="Avenir Next"/>
                <a:ea typeface="Avenir Next"/>
                <a:cs typeface="Avenir Next"/>
              </a:defRPr>
            </a:pPr>
            <a:r>
              <a:rPr sz="1725" b="1" i="0">
                <a:solidFill>
                  <a:srgbClr val="FFFFFF"/>
                </a:solidFill>
                <a:latin typeface="Avenir Next"/>
                <a:ea typeface="Avenir Next"/>
                <a:cs typeface="Avenir Next"/>
              </a:rPr>
              <a:t>Enable Maya to coordinate the next step without rebuilding the whole picture.</a:t>
            </a:r>
          </a:p>
        </p:txBody>
      </p:sp>
    </p:spTree>
    <p:extLst>
      <p:ext uri="{BB962C8B-B14F-4D97-AF65-F5344CB8AC3E}">
        <p14:creationId xmlns:p14="http://schemas.microsoft.com/office/powerpoint/2010/main" val="474460984"/>
      </p:ext>
    </p:extLst>
  </p:cSld>
</p:sld>
</file>

<file path=ppt/slides/slide4.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44CBA05-3625-4EE7-82DB-D4937A9DA0A7}"/>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650FE0-1442-4546-B237-57D06A7338DC}"/>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D5AC1896-5B6C-4265-AF5E-14031C15ADED}"/>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867FD379-C63B-48DC-8DC1-279762FCEC09}"/>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MEET CARESTEAD</a:t>
            </a:r>
          </a:p>
        </p:txBody>
      </p:sp>
      <p:sp>
        <p:nvSpPr>
          <p:cNvPr id="5" name="">
            <a:extLst xmlns:a="http://schemas.openxmlformats.org/drawingml/2006/main">
              <a:ext uri="{FF2B5EF4-FFF2-40B4-BE49-F238E27FC236}">
                <a16:creationId xmlns:a16="http://schemas.microsoft.com/office/drawing/2014/main" id="{96B3E232-A8E2-4462-AB05-7C80579604D1}"/>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023DF6DB-0A51-41A1-8718-404741ADEB24}"/>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04 / 16</a:t>
            </a:r>
          </a:p>
        </p:txBody>
      </p:sp>
      <p:sp>
        <p:nvSpPr>
          <p:cNvPr id="7" name="">
            <a:extLst xmlns:a="http://schemas.openxmlformats.org/drawingml/2006/main">
              <a:ext uri="{FF2B5EF4-FFF2-40B4-BE49-F238E27FC236}">
                <a16:creationId xmlns:a16="http://schemas.microsoft.com/office/drawing/2014/main" id="{6485B90E-CA3A-46C8-B240-6A5A497ACA79}"/>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MEET CARESTEAD</a:t>
            </a:r>
          </a:p>
        </p:txBody>
      </p:sp>
      <p:sp>
        <p:nvSpPr>
          <p:cNvPr id="8" name="">
            <a:extLst xmlns:a="http://schemas.openxmlformats.org/drawingml/2006/main">
              <a:ext uri="{FF2B5EF4-FFF2-40B4-BE49-F238E27FC236}">
                <a16:creationId xmlns:a16="http://schemas.microsoft.com/office/drawing/2014/main" id="{B74DB8FB-CEE6-46FA-80E6-DA713FF1DFE5}"/>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You care. We plan.</a:t>
            </a:r>
          </a:p>
        </p:txBody>
      </p:sp>
      <p:sp>
        <p:nvSpPr>
          <p:cNvPr id="9" name="">
            <a:extLst xmlns:a="http://schemas.openxmlformats.org/drawingml/2006/main">
              <a:ext uri="{FF2B5EF4-FFF2-40B4-BE49-F238E27FC236}">
                <a16:creationId xmlns:a16="http://schemas.microsoft.com/office/drawing/2014/main" id="{6935CD26-7130-4320-8601-977247A7E330}"/>
              </a:ext>
            </a:extLst>
          </p:cNvPr>
          <p:cNvSpPr>
            <a:spLocks xmlns:a="http://schemas.openxmlformats.org/drawingml/2006/main" noGrp="1"/>
          </p:cNvSpPr>
          <p:nvPr/>
        </p:nvSpPr>
        <p:spPr>
          <a:xfrm xmlns:a="http://schemas.openxmlformats.org/drawingml/2006/main">
            <a:off x="609600" y="2524125"/>
            <a:ext cx="1152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536870"/>
                </a:solidFill>
                <a:latin typeface="Avenir Next"/>
                <a:ea typeface="Avenir Next"/>
                <a:cs typeface="Avenir Next"/>
              </a:defRPr>
            </a:pPr>
            <a:r>
              <a:rPr sz="1575" b="0" i="0">
                <a:solidFill>
                  <a:srgbClr val="536870"/>
                </a:solidFill>
                <a:latin typeface="Avenir Next"/>
                <a:ea typeface="Avenir Next"/>
                <a:cs typeface="Avenir Next"/>
              </a:rPr>
              <a:t>One place for the plan, people, evidence, and next safe step.</a:t>
            </a:r>
          </a:p>
        </p:txBody>
      </p:sp>
      <p:sp>
        <p:nvSpPr>
          <p:cNvPr id="10" name="">
            <a:extLst xmlns:a="http://schemas.openxmlformats.org/drawingml/2006/main">
              <a:ext uri="{FF2B5EF4-FFF2-40B4-BE49-F238E27FC236}">
                <a16:creationId xmlns:a16="http://schemas.microsoft.com/office/drawing/2014/main" id="{97AE1086-C0E3-4781-BDEF-EE41A1601FAC}"/>
              </a:ext>
            </a:extLst>
          </p:cNvPr>
          <p:cNvSpPr>
            <a:spLocks xmlns:a="http://schemas.openxmlformats.org/drawingml/2006/main" noGrp="1"/>
          </p:cNvSpPr>
          <p:nvPr/>
        </p:nvSpPr>
        <p:spPr>
          <a:xfrm xmlns:a="http://schemas.openxmlformats.org/drawingml/2006/main">
            <a:off x="609600" y="3000375"/>
            <a:ext cx="4524375" cy="866775"/>
          </a:xfrm>
          <a:prstGeom xmlns:a="http://schemas.openxmlformats.org/drawingml/2006/main" prst="roundRect">
            <a:avLst>
              <a:gd name="adj" fmla="val 15385"/>
            </a:avLst>
          </a:prstGeom>
          <a:solidFill xmlns:a="http://schemas.openxmlformats.org/drawingml/2006/main">
            <a:srgbClr val="E1F4F1"/>
          </a:solidFill>
          <a:ln xmlns:a="http://schemas.openxmlformats.org/drawingml/2006/main" w="9525">
            <a:solidFill>
              <a:srgbClr val="B8D6D5"/>
            </a:solidFill>
          </a:ln>
        </p:spPr>
      </p:sp>
      <p:sp>
        <p:nvSpPr>
          <p:cNvPr id="11" name="">
            <a:extLst xmlns:a="http://schemas.openxmlformats.org/drawingml/2006/main">
              <a:ext uri="{FF2B5EF4-FFF2-40B4-BE49-F238E27FC236}">
                <a16:creationId xmlns:a16="http://schemas.microsoft.com/office/drawing/2014/main" id="{44585927-5A85-4078-8A0A-46C730E509A6}"/>
              </a:ext>
            </a:extLst>
          </p:cNvPr>
          <p:cNvSpPr>
            <a:spLocks xmlns:a="http://schemas.openxmlformats.org/drawingml/2006/main" noGrp="1"/>
          </p:cNvSpPr>
          <p:nvPr/>
        </p:nvSpPr>
        <p:spPr>
          <a:xfrm xmlns:a="http://schemas.openxmlformats.org/drawingml/2006/main">
            <a:off x="876300" y="31432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Care Plan</a:t>
            </a:r>
          </a:p>
        </p:txBody>
      </p:sp>
      <p:sp>
        <p:nvSpPr>
          <p:cNvPr id="12" name="">
            <a:extLst xmlns:a="http://schemas.openxmlformats.org/drawingml/2006/main">
              <a:ext uri="{FF2B5EF4-FFF2-40B4-BE49-F238E27FC236}">
                <a16:creationId xmlns:a16="http://schemas.microsoft.com/office/drawing/2014/main" id="{718EA8AF-E118-4DF6-9BB4-1AC5E794DF51}"/>
              </a:ext>
            </a:extLst>
          </p:cNvPr>
          <p:cNvSpPr>
            <a:spLocks xmlns:a="http://schemas.openxmlformats.org/drawingml/2006/main" noGrp="1"/>
          </p:cNvSpPr>
          <p:nvPr/>
        </p:nvSpPr>
        <p:spPr>
          <a:xfrm xmlns:a="http://schemas.openxmlformats.org/drawingml/2006/main">
            <a:off x="876300" y="3448050"/>
            <a:ext cx="3952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58"/>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Reusable templates plus person-specific preferences, routines, goals, and supports.</a:t>
            </a:r>
          </a:p>
        </p:txBody>
      </p:sp>
      <p:sp>
        <p:nvSpPr>
          <p:cNvPr id="13" name="">
            <a:extLst xmlns:a="http://schemas.openxmlformats.org/drawingml/2006/main">
              <a:ext uri="{FF2B5EF4-FFF2-40B4-BE49-F238E27FC236}">
                <a16:creationId xmlns:a16="http://schemas.microsoft.com/office/drawing/2014/main" id="{A17C9B16-A674-40E1-BCFC-3EA38F8D2502}"/>
              </a:ext>
            </a:extLst>
          </p:cNvPr>
          <p:cNvSpPr>
            <a:spLocks xmlns:a="http://schemas.openxmlformats.org/drawingml/2006/main" noGrp="1"/>
          </p:cNvSpPr>
          <p:nvPr/>
        </p:nvSpPr>
        <p:spPr>
          <a:xfrm xmlns:a="http://schemas.openxmlformats.org/drawingml/2006/main">
            <a:off x="609600" y="3962400"/>
            <a:ext cx="4524375" cy="866775"/>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D6D5"/>
            </a:solidFill>
          </a:ln>
        </p:spPr>
      </p:sp>
      <p:sp>
        <p:nvSpPr>
          <p:cNvPr id="14" name="">
            <a:extLst xmlns:a="http://schemas.openxmlformats.org/drawingml/2006/main">
              <a:ext uri="{FF2B5EF4-FFF2-40B4-BE49-F238E27FC236}">
                <a16:creationId xmlns:a16="http://schemas.microsoft.com/office/drawing/2014/main" id="{B3655E47-3852-4CCC-A628-387AB8D77855}"/>
              </a:ext>
            </a:extLst>
          </p:cNvPr>
          <p:cNvSpPr>
            <a:spLocks xmlns:a="http://schemas.openxmlformats.org/drawingml/2006/main" noGrp="1"/>
          </p:cNvSpPr>
          <p:nvPr/>
        </p:nvSpPr>
        <p:spPr>
          <a:xfrm xmlns:a="http://schemas.openxmlformats.org/drawingml/2006/main">
            <a:off x="876300" y="4105275"/>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Care Circle</a:t>
            </a:r>
          </a:p>
        </p:txBody>
      </p:sp>
      <p:sp>
        <p:nvSpPr>
          <p:cNvPr id="15" name="">
            <a:extLst xmlns:a="http://schemas.openxmlformats.org/drawingml/2006/main">
              <a:ext uri="{FF2B5EF4-FFF2-40B4-BE49-F238E27FC236}">
                <a16:creationId xmlns:a16="http://schemas.microsoft.com/office/drawing/2014/main" id="{ED810765-7B18-4136-BBDC-59AA5F07C58E}"/>
              </a:ext>
            </a:extLst>
          </p:cNvPr>
          <p:cNvSpPr>
            <a:spLocks xmlns:a="http://schemas.openxmlformats.org/drawingml/2006/main" noGrp="1"/>
          </p:cNvSpPr>
          <p:nvPr/>
        </p:nvSpPr>
        <p:spPr>
          <a:xfrm xmlns:a="http://schemas.openxmlformats.org/drawingml/2006/main">
            <a:off x="876300" y="4410075"/>
            <a:ext cx="3952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481"/>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Roles, contacts, invitations, responsibility owners, and trusted support.</a:t>
            </a:r>
          </a:p>
        </p:txBody>
      </p:sp>
      <p:sp>
        <p:nvSpPr>
          <p:cNvPr id="16" name="">
            <a:extLst xmlns:a="http://schemas.openxmlformats.org/drawingml/2006/main">
              <a:ext uri="{FF2B5EF4-FFF2-40B4-BE49-F238E27FC236}">
                <a16:creationId xmlns:a16="http://schemas.microsoft.com/office/drawing/2014/main" id="{B0039E30-794C-4863-8132-C06D0D61E932}"/>
              </a:ext>
            </a:extLst>
          </p:cNvPr>
          <p:cNvSpPr>
            <a:spLocks xmlns:a="http://schemas.openxmlformats.org/drawingml/2006/main" noGrp="1"/>
          </p:cNvSpPr>
          <p:nvPr/>
        </p:nvSpPr>
        <p:spPr>
          <a:xfrm xmlns:a="http://schemas.openxmlformats.org/drawingml/2006/main">
            <a:off x="609600" y="4924425"/>
            <a:ext cx="4524375" cy="866775"/>
          </a:xfrm>
          <a:prstGeom xmlns:a="http://schemas.openxmlformats.org/drawingml/2006/main" prst="roundRect">
            <a:avLst>
              <a:gd name="adj" fmla="val 15385"/>
            </a:avLst>
          </a:prstGeom>
          <a:solidFill xmlns:a="http://schemas.openxmlformats.org/drawingml/2006/main">
            <a:srgbClr val="E1F4F1"/>
          </a:solidFill>
          <a:ln xmlns:a="http://schemas.openxmlformats.org/drawingml/2006/main" w="9525">
            <a:solidFill>
              <a:srgbClr val="B8D6D5"/>
            </a:solidFill>
          </a:ln>
        </p:spPr>
      </p:sp>
      <p:sp>
        <p:nvSpPr>
          <p:cNvPr id="17" name="">
            <a:extLst xmlns:a="http://schemas.openxmlformats.org/drawingml/2006/main">
              <a:ext uri="{FF2B5EF4-FFF2-40B4-BE49-F238E27FC236}">
                <a16:creationId xmlns:a16="http://schemas.microsoft.com/office/drawing/2014/main" id="{CDED78DE-0BC1-4B27-9446-671320B5D059}"/>
              </a:ext>
            </a:extLst>
          </p:cNvPr>
          <p:cNvSpPr>
            <a:spLocks xmlns:a="http://schemas.openxmlformats.org/drawingml/2006/main" noGrp="1"/>
          </p:cNvSpPr>
          <p:nvPr/>
        </p:nvSpPr>
        <p:spPr>
          <a:xfrm xmlns:a="http://schemas.openxmlformats.org/drawingml/2006/main">
            <a:off x="876300" y="506730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Care Organizer</a:t>
            </a:r>
          </a:p>
        </p:txBody>
      </p:sp>
      <p:sp>
        <p:nvSpPr>
          <p:cNvPr id="18" name="">
            <a:extLst xmlns:a="http://schemas.openxmlformats.org/drawingml/2006/main">
              <a:ext uri="{FF2B5EF4-FFF2-40B4-BE49-F238E27FC236}">
                <a16:creationId xmlns:a16="http://schemas.microsoft.com/office/drawing/2014/main" id="{55CF40BD-0F9E-41C1-B418-EC20610D0BAA}"/>
              </a:ext>
            </a:extLst>
          </p:cNvPr>
          <p:cNvSpPr>
            <a:spLocks xmlns:a="http://schemas.openxmlformats.org/drawingml/2006/main" noGrp="1"/>
          </p:cNvSpPr>
          <p:nvPr/>
        </p:nvSpPr>
        <p:spPr>
          <a:xfrm xmlns:a="http://schemas.openxmlformats.org/drawingml/2006/main">
            <a:off x="876300" y="5372100"/>
            <a:ext cx="3952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58"/>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Plan breaks, activities, coverage, transport, and dependencies in one flow.</a:t>
            </a:r>
          </a:p>
        </p:txBody>
      </p:sp>
      <p:sp>
        <p:nvSpPr>
          <p:cNvPr id="19" name="">
            <a:extLst xmlns:a="http://schemas.openxmlformats.org/drawingml/2006/main">
              <a:ext uri="{FF2B5EF4-FFF2-40B4-BE49-F238E27FC236}">
                <a16:creationId xmlns:a16="http://schemas.microsoft.com/office/drawing/2014/main" id="{4F53D2DB-1C83-4422-B502-6F71D6D5B2EC}"/>
              </a:ext>
            </a:extLst>
          </p:cNvPr>
          <p:cNvSpPr>
            <a:spLocks xmlns:a="http://schemas.openxmlformats.org/drawingml/2006/main" noGrp="1"/>
          </p:cNvSpPr>
          <p:nvPr/>
        </p:nvSpPr>
        <p:spPr>
          <a:xfrm xmlns:a="http://schemas.openxmlformats.org/drawingml/2006/main">
            <a:off x="609600" y="5886450"/>
            <a:ext cx="4524375" cy="866775"/>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D6D5"/>
            </a:solidFill>
          </a:ln>
        </p:spPr>
      </p:sp>
      <p:sp>
        <p:nvSpPr>
          <p:cNvPr id="20" name="">
            <a:extLst xmlns:a="http://schemas.openxmlformats.org/drawingml/2006/main">
              <a:ext uri="{FF2B5EF4-FFF2-40B4-BE49-F238E27FC236}">
                <a16:creationId xmlns:a16="http://schemas.microsoft.com/office/drawing/2014/main" id="{2D454855-C5BB-4032-871D-6F660AC3B884}"/>
              </a:ext>
            </a:extLst>
          </p:cNvPr>
          <p:cNvSpPr>
            <a:spLocks xmlns:a="http://schemas.openxmlformats.org/drawingml/2006/main" noGrp="1"/>
          </p:cNvSpPr>
          <p:nvPr/>
        </p:nvSpPr>
        <p:spPr>
          <a:xfrm xmlns:a="http://schemas.openxmlformats.org/drawingml/2006/main">
            <a:off x="876300" y="6029325"/>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Care Handover</a:t>
            </a:r>
          </a:p>
        </p:txBody>
      </p:sp>
      <p:sp>
        <p:nvSpPr>
          <p:cNvPr id="21" name="">
            <a:extLst xmlns:a="http://schemas.openxmlformats.org/drawingml/2006/main">
              <a:ext uri="{FF2B5EF4-FFF2-40B4-BE49-F238E27FC236}">
                <a16:creationId xmlns:a16="http://schemas.microsoft.com/office/drawing/2014/main" id="{7102FDF1-2569-478F-AA30-7241F8DCB153}"/>
              </a:ext>
            </a:extLst>
          </p:cNvPr>
          <p:cNvSpPr>
            <a:spLocks xmlns:a="http://schemas.openxmlformats.org/drawingml/2006/main" noGrp="1"/>
          </p:cNvSpPr>
          <p:nvPr/>
        </p:nvSpPr>
        <p:spPr>
          <a:xfrm xmlns:a="http://schemas.openxmlformats.org/drawingml/2006/main">
            <a:off x="876300" y="6334125"/>
            <a:ext cx="3952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304"/>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 concise live brief: current state, changes, risks, contacts, and watch items.</a:t>
            </a:r>
          </a:p>
        </p:txBody>
      </p:sp>
      <p:sp>
        <p:nvSpPr>
          <p:cNvPr id="22" name="">
            <a:extLst xmlns:a="http://schemas.openxmlformats.org/drawingml/2006/main">
              <a:ext uri="{FF2B5EF4-FFF2-40B4-BE49-F238E27FC236}">
                <a16:creationId xmlns:a16="http://schemas.microsoft.com/office/drawing/2014/main" id="{D7FDF409-F633-4AA4-9940-5F35F52A7471}"/>
              </a:ext>
            </a:extLst>
          </p:cNvPr>
          <p:cNvSpPr>
            <a:spLocks xmlns:a="http://schemas.openxmlformats.org/drawingml/2006/main" noGrp="1"/>
          </p:cNvSpPr>
          <p:nvPr/>
        </p:nvSpPr>
        <p:spPr>
          <a:xfrm xmlns:a="http://schemas.openxmlformats.org/drawingml/2006/main">
            <a:off x="5524500" y="2952750"/>
            <a:ext cx="7477125" cy="4048125"/>
          </a:xfrm>
          <a:prstGeom xmlns:a="http://schemas.openxmlformats.org/drawingml/2006/main" prst="roundRect">
            <a:avLst>
              <a:gd name="adj" fmla="val 2824"/>
            </a:avLst>
          </a:prstGeom>
          <a:solidFill xmlns:a="http://schemas.openxmlformats.org/drawingml/2006/main">
            <a:srgbClr val="FFFFFF"/>
          </a:solidFill>
          <a:ln xmlns:a="http://schemas.openxmlformats.org/drawingml/2006/main" w="9525">
            <a:solidFill>
              <a:srgbClr val="B8D6D5"/>
            </a:solid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e1a63e25ec5430f"/>
          <a:stretch xmlns:a="http://schemas.openxmlformats.org/drawingml/2006/main"/>
        </p:blipFill>
        <p:spPr>
          <a:xfrm xmlns:a="http://schemas.openxmlformats.org/drawingml/2006/main">
            <a:off x="6657023" y="3105150"/>
            <a:ext cx="5212080" cy="3619500"/>
          </a:xfrm>
          <a:prstGeom xmlns:a="http://schemas.openxmlformats.org/drawingml/2006/main" prst="roundRect">
            <a:avLst>
              <a:gd name="adj" fmla="val 2105"/>
            </a:avLst>
          </a:prstGeom>
        </p:spPr>
      </p:pic>
      <p:sp>
        <p:nvSpPr>
          <p:cNvPr id="24" name="">
            <a:extLst xmlns:a="http://schemas.openxmlformats.org/drawingml/2006/main">
              <a:ext uri="{FF2B5EF4-FFF2-40B4-BE49-F238E27FC236}">
                <a16:creationId xmlns:a16="http://schemas.microsoft.com/office/drawing/2014/main" id="{5305C96D-7487-45DF-87C8-E150B89B010E}"/>
              </a:ext>
            </a:extLst>
          </p:cNvPr>
          <p:cNvSpPr>
            <a:spLocks xmlns:a="http://schemas.openxmlformats.org/drawingml/2006/main" noGrp="1"/>
          </p:cNvSpPr>
          <p:nvPr/>
        </p:nvSpPr>
        <p:spPr>
          <a:xfrm xmlns:a="http://schemas.openxmlformats.org/drawingml/2006/main">
            <a:off x="5953125" y="6734175"/>
            <a:ext cx="6619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ct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Current product view: recipient profile, latest care state, review items, and handover context</a:t>
            </a:r>
          </a:p>
        </p:txBody>
      </p:sp>
    </p:spTree>
    <p:extLst>
      <p:ext uri="{BB962C8B-B14F-4D97-AF65-F5344CB8AC3E}">
        <p14:creationId xmlns:p14="http://schemas.microsoft.com/office/powerpoint/2010/main" val="1518429840"/>
      </p:ext>
    </p:extLst>
  </p:cSld>
</p:sld>
</file>

<file path=ppt/slides/slide5.xml><?xml version="1.0" encoding="utf-8"?>
<p:sld xmlns:p="http://schemas.openxmlformats.org/presentationml/2006/main">
  <p:cSld>
    <p:bg>
      <p:bgPr>
        <a:solidFill xmlns:a="http://schemas.openxmlformats.org/drawingml/2006/main">
          <a:srgbClr val="E1F4F1"/>
        </a:solidFill>
      </p:bgPr>
    </p:bg>
    <p:spTree>
      <p:nvGrpSpPr>
        <p:cNvPr id="1" name=""/>
        <p:cNvGrpSpPr/>
        <p:nvPr/>
      </p:nvGrpSpPr>
      <p:grpSpPr>
        <a:xfrm xmlns:a="http://schemas.openxmlformats.org/drawingml/2006/main"/>
      </p:grpSpPr>
      <p:sp>
        <p:nvSpPr>
          <p:cNvPr id="84" name="">
            <a:extLst xmlns:a="http://schemas.openxmlformats.org/drawingml/2006/main">
              <a:ext uri="{FF2B5EF4-FFF2-40B4-BE49-F238E27FC236}">
                <a16:creationId xmlns:a16="http://schemas.microsoft.com/office/drawing/2014/main" id="{90428354-35A0-46C6-83F2-D3988F90260E}"/>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92D5E3-A47A-41F6-A5A3-6E1B8163BB63}"/>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7AF0C255-E8D7-402D-8C79-5ED620507A4E}"/>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8CD36E65-C67B-4140-941D-E0B1FD19DC23}"/>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CORE PRODUCT FEATURES</a:t>
            </a:r>
          </a:p>
        </p:txBody>
      </p:sp>
      <p:sp>
        <p:nvSpPr>
          <p:cNvPr id="5" name="">
            <a:extLst xmlns:a="http://schemas.openxmlformats.org/drawingml/2006/main">
              <a:ext uri="{FF2B5EF4-FFF2-40B4-BE49-F238E27FC236}">
                <a16:creationId xmlns:a16="http://schemas.microsoft.com/office/drawing/2014/main" id="{84E57EC3-5C1C-4C86-9558-DE0C8B185C87}"/>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E1BF7D4A-F167-4D85-8D5D-43406FB4ACDA}"/>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05 / 16</a:t>
            </a:r>
          </a:p>
        </p:txBody>
      </p:sp>
      <p:sp>
        <p:nvSpPr>
          <p:cNvPr id="7" name="">
            <a:extLst xmlns:a="http://schemas.openxmlformats.org/drawingml/2006/main">
              <a:ext uri="{FF2B5EF4-FFF2-40B4-BE49-F238E27FC236}">
                <a16:creationId xmlns:a16="http://schemas.microsoft.com/office/drawing/2014/main" id="{1196D737-55E9-433E-B42E-0755C8BDCD65}"/>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PRODUCT MAP</a:t>
            </a:r>
          </a:p>
        </p:txBody>
      </p:sp>
      <p:sp>
        <p:nvSpPr>
          <p:cNvPr id="8" name="">
            <a:extLst xmlns:a="http://schemas.openxmlformats.org/drawingml/2006/main">
              <a:ext uri="{FF2B5EF4-FFF2-40B4-BE49-F238E27FC236}">
                <a16:creationId xmlns:a16="http://schemas.microsoft.com/office/drawing/2014/main" id="{0371099B-8D12-45B3-B1E7-A799A9403D38}"/>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The complete Carestead workspace.</a:t>
            </a:r>
          </a:p>
        </p:txBody>
      </p:sp>
      <p:sp>
        <p:nvSpPr>
          <p:cNvPr id="9" name="">
            <a:extLst xmlns:a="http://schemas.openxmlformats.org/drawingml/2006/main">
              <a:ext uri="{FF2B5EF4-FFF2-40B4-BE49-F238E27FC236}">
                <a16:creationId xmlns:a16="http://schemas.microsoft.com/office/drawing/2014/main" id="{27DF14A6-749E-4D83-8CF4-9A4CDCCD645C}"/>
              </a:ext>
            </a:extLst>
          </p:cNvPr>
          <p:cNvSpPr>
            <a:spLocks xmlns:a="http://schemas.openxmlformats.org/drawingml/2006/main" noGrp="1"/>
          </p:cNvSpPr>
          <p:nvPr/>
        </p:nvSpPr>
        <p:spPr>
          <a:xfrm xmlns:a="http://schemas.openxmlformats.org/drawingml/2006/main">
            <a:off x="609600" y="2524125"/>
            <a:ext cx="1152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536870"/>
                </a:solidFill>
                <a:latin typeface="Avenir Next"/>
                <a:ea typeface="Avenir Next"/>
                <a:cs typeface="Avenir Next"/>
              </a:defRPr>
            </a:pPr>
            <a:r>
              <a:rPr sz="1575" b="0" i="0">
                <a:solidFill>
                  <a:srgbClr val="536870"/>
                </a:solidFill>
                <a:latin typeface="Avenir Next"/>
                <a:ea typeface="Avenir Next"/>
                <a:cs typeface="Avenir Next"/>
              </a:rPr>
              <a:t>A person-centered care model connects context, coordination, people, actions, and governance.</a:t>
            </a:r>
          </a:p>
        </p:txBody>
      </p:sp>
      <p:sp>
        <p:nvSpPr>
          <p:cNvPr id="10" name="">
            <a:extLst xmlns:a="http://schemas.openxmlformats.org/drawingml/2006/main">
              <a:ext uri="{FF2B5EF4-FFF2-40B4-BE49-F238E27FC236}">
                <a16:creationId xmlns:a16="http://schemas.microsoft.com/office/drawing/2014/main" id="{A0968B4B-319D-4723-B977-68F6DBFA60A5}"/>
              </a:ext>
            </a:extLst>
          </p:cNvPr>
          <p:cNvSpPr>
            <a:spLocks xmlns:a="http://schemas.openxmlformats.org/drawingml/2006/main" noGrp="1"/>
          </p:cNvSpPr>
          <p:nvPr/>
        </p:nvSpPr>
        <p:spPr>
          <a:xfrm xmlns:a="http://schemas.openxmlformats.org/drawingml/2006/main">
            <a:off x="457200" y="3143250"/>
            <a:ext cx="2971800" cy="32385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B8D6D5"/>
            </a:solidFill>
          </a:ln>
        </p:spPr>
      </p:sp>
      <p:sp>
        <p:nvSpPr>
          <p:cNvPr id="11" name="">
            <a:extLst xmlns:a="http://schemas.openxmlformats.org/drawingml/2006/main">
              <a:ext uri="{FF2B5EF4-FFF2-40B4-BE49-F238E27FC236}">
                <a16:creationId xmlns:a16="http://schemas.microsoft.com/office/drawing/2014/main" id="{D37CFB7F-EF06-415E-BFEA-1690A8EB9B58}"/>
              </a:ext>
            </a:extLst>
          </p:cNvPr>
          <p:cNvSpPr>
            <a:spLocks xmlns:a="http://schemas.openxmlformats.org/drawingml/2006/main" noGrp="1"/>
          </p:cNvSpPr>
          <p:nvPr/>
        </p:nvSpPr>
        <p:spPr>
          <a:xfrm xmlns:a="http://schemas.openxmlformats.org/drawingml/2006/main">
            <a:off x="457200" y="3143250"/>
            <a:ext cx="2971800" cy="609600"/>
          </a:xfrm>
          <a:prstGeom xmlns:a="http://schemas.openxmlformats.org/drawingml/2006/main" prst="roundRect">
            <a:avLst>
              <a:gd name="adj" fmla="val 25000"/>
            </a:avLst>
          </a:prstGeom>
          <a:solidFill xmlns:a="http://schemas.openxmlformats.org/drawingml/2006/main">
            <a:srgbClr val="173F3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486661-9B8B-4A68-9A64-14356468F900}"/>
              </a:ext>
            </a:extLst>
          </p:cNvPr>
          <p:cNvSpPr>
            <a:spLocks xmlns:a="http://schemas.openxmlformats.org/drawingml/2006/main" noGrp="1"/>
          </p:cNvSpPr>
          <p:nvPr/>
        </p:nvSpPr>
        <p:spPr>
          <a:xfrm xmlns:a="http://schemas.openxmlformats.org/drawingml/2006/main">
            <a:off x="628650" y="3305175"/>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Understand the person</a:t>
            </a:r>
          </a:p>
        </p:txBody>
      </p:sp>
      <p:sp>
        <p:nvSpPr>
          <p:cNvPr id="13" name="">
            <a:extLst xmlns:a="http://schemas.openxmlformats.org/drawingml/2006/main">
              <a:ext uri="{FF2B5EF4-FFF2-40B4-BE49-F238E27FC236}">
                <a16:creationId xmlns:a16="http://schemas.microsoft.com/office/drawing/2014/main" id="{A6927A02-EF54-4A1E-8843-33E0D64A388B}"/>
              </a:ext>
            </a:extLst>
          </p:cNvPr>
          <p:cNvSpPr>
            <a:spLocks xmlns:a="http://schemas.openxmlformats.org/drawingml/2006/main" noGrp="1"/>
          </p:cNvSpPr>
          <p:nvPr/>
        </p:nvSpPr>
        <p:spPr>
          <a:xfrm xmlns:a="http://schemas.openxmlformats.org/drawingml/2006/main">
            <a:off x="666750" y="4029075"/>
            <a:ext cx="247650" cy="2476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71CAE48-3504-4D8A-BE74-A4329BD488F9}"/>
              </a:ext>
            </a:extLst>
          </p:cNvPr>
          <p:cNvSpPr>
            <a:spLocks xmlns:a="http://schemas.openxmlformats.org/drawingml/2006/main" noGrp="1"/>
          </p:cNvSpPr>
          <p:nvPr/>
        </p:nvSpPr>
        <p:spPr>
          <a:xfrm xmlns:a="http://schemas.openxmlformats.org/drawingml/2006/main">
            <a:off x="666750" y="40290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904"/>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t>
            </a:r>
          </a:p>
        </p:txBody>
      </p:sp>
      <p:sp>
        <p:nvSpPr>
          <p:cNvPr id="15" name="">
            <a:extLst xmlns:a="http://schemas.openxmlformats.org/drawingml/2006/main">
              <a:ext uri="{FF2B5EF4-FFF2-40B4-BE49-F238E27FC236}">
                <a16:creationId xmlns:a16="http://schemas.microsoft.com/office/drawing/2014/main" id="{C76CB86D-4F61-42C5-B8B3-43FC12285E2A}"/>
              </a:ext>
            </a:extLst>
          </p:cNvPr>
          <p:cNvSpPr>
            <a:spLocks xmlns:a="http://schemas.openxmlformats.org/drawingml/2006/main" noGrp="1"/>
          </p:cNvSpPr>
          <p:nvPr/>
        </p:nvSpPr>
        <p:spPr>
          <a:xfrm xmlns:a="http://schemas.openxmlformats.org/drawingml/2006/main">
            <a:off x="1009650" y="40005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Overview + profile</a:t>
            </a:r>
          </a:p>
        </p:txBody>
      </p:sp>
      <p:sp>
        <p:nvSpPr>
          <p:cNvPr id="16" name="">
            <a:extLst xmlns:a="http://schemas.openxmlformats.org/drawingml/2006/main">
              <a:ext uri="{FF2B5EF4-FFF2-40B4-BE49-F238E27FC236}">
                <a16:creationId xmlns:a16="http://schemas.microsoft.com/office/drawing/2014/main" id="{D8274D17-190C-4FB2-AF17-127839034BA8}"/>
              </a:ext>
            </a:extLst>
          </p:cNvPr>
          <p:cNvSpPr>
            <a:spLocks xmlns:a="http://schemas.openxmlformats.org/drawingml/2006/main" noGrp="1"/>
          </p:cNvSpPr>
          <p:nvPr/>
        </p:nvSpPr>
        <p:spPr>
          <a:xfrm xmlns:a="http://schemas.openxmlformats.org/drawingml/2006/main">
            <a:off x="666750" y="4371975"/>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D3A75A2-B867-4917-BB80-D0AEEDD1B014}"/>
              </a:ext>
            </a:extLst>
          </p:cNvPr>
          <p:cNvSpPr>
            <a:spLocks xmlns:a="http://schemas.openxmlformats.org/drawingml/2006/main" noGrp="1"/>
          </p:cNvSpPr>
          <p:nvPr/>
        </p:nvSpPr>
        <p:spPr>
          <a:xfrm xmlns:a="http://schemas.openxmlformats.org/drawingml/2006/main">
            <a:off x="666750" y="4572000"/>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91870F-6287-44EC-977D-11B1430F7539}"/>
              </a:ext>
            </a:extLst>
          </p:cNvPr>
          <p:cNvSpPr>
            <a:spLocks xmlns:a="http://schemas.openxmlformats.org/drawingml/2006/main" noGrp="1"/>
          </p:cNvSpPr>
          <p:nvPr/>
        </p:nvSpPr>
        <p:spPr>
          <a:xfrm xmlns:a="http://schemas.openxmlformats.org/drawingml/2006/main">
            <a:off x="666750" y="457200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19" name="">
            <a:extLst xmlns:a="http://schemas.openxmlformats.org/drawingml/2006/main">
              <a:ext uri="{FF2B5EF4-FFF2-40B4-BE49-F238E27FC236}">
                <a16:creationId xmlns:a16="http://schemas.microsoft.com/office/drawing/2014/main" id="{2BF7C390-BA35-4219-8278-3B66EA0804A1}"/>
              </a:ext>
            </a:extLst>
          </p:cNvPr>
          <p:cNvSpPr>
            <a:spLocks xmlns:a="http://schemas.openxmlformats.org/drawingml/2006/main" noGrp="1"/>
          </p:cNvSpPr>
          <p:nvPr/>
        </p:nvSpPr>
        <p:spPr>
          <a:xfrm xmlns:a="http://schemas.openxmlformats.org/drawingml/2006/main">
            <a:off x="1009650" y="4543425"/>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Care Plan + templates</a:t>
            </a:r>
          </a:p>
        </p:txBody>
      </p:sp>
      <p:sp>
        <p:nvSpPr>
          <p:cNvPr id="20" name="">
            <a:extLst xmlns:a="http://schemas.openxmlformats.org/drawingml/2006/main">
              <a:ext uri="{FF2B5EF4-FFF2-40B4-BE49-F238E27FC236}">
                <a16:creationId xmlns:a16="http://schemas.microsoft.com/office/drawing/2014/main" id="{8C05C6E0-E301-41E4-B5CD-63C532B0E885}"/>
              </a:ext>
            </a:extLst>
          </p:cNvPr>
          <p:cNvSpPr>
            <a:spLocks xmlns:a="http://schemas.openxmlformats.org/drawingml/2006/main" noGrp="1"/>
          </p:cNvSpPr>
          <p:nvPr/>
        </p:nvSpPr>
        <p:spPr>
          <a:xfrm xmlns:a="http://schemas.openxmlformats.org/drawingml/2006/main">
            <a:off x="666750" y="4914900"/>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3F060F7-CAC3-49A6-A2F4-82BC24EC77ED}"/>
              </a:ext>
            </a:extLst>
          </p:cNvPr>
          <p:cNvSpPr>
            <a:spLocks xmlns:a="http://schemas.openxmlformats.org/drawingml/2006/main" noGrp="1"/>
          </p:cNvSpPr>
          <p:nvPr/>
        </p:nvSpPr>
        <p:spPr>
          <a:xfrm xmlns:a="http://schemas.openxmlformats.org/drawingml/2006/main">
            <a:off x="666750" y="5114925"/>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B3EEB63-F612-4EDB-8DA3-C873D4EF8B5D}"/>
              </a:ext>
            </a:extLst>
          </p:cNvPr>
          <p:cNvSpPr>
            <a:spLocks xmlns:a="http://schemas.openxmlformats.org/drawingml/2006/main" noGrp="1"/>
          </p:cNvSpPr>
          <p:nvPr/>
        </p:nvSpPr>
        <p:spPr>
          <a:xfrm xmlns:a="http://schemas.openxmlformats.org/drawingml/2006/main">
            <a:off x="666750" y="51149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23" name="">
            <a:extLst xmlns:a="http://schemas.openxmlformats.org/drawingml/2006/main">
              <a:ext uri="{FF2B5EF4-FFF2-40B4-BE49-F238E27FC236}">
                <a16:creationId xmlns:a16="http://schemas.microsoft.com/office/drawing/2014/main" id="{9C1361A3-1119-484F-BED6-AA05CF4186C3}"/>
              </a:ext>
            </a:extLst>
          </p:cNvPr>
          <p:cNvSpPr>
            <a:spLocks xmlns:a="http://schemas.openxmlformats.org/drawingml/2006/main" noGrp="1"/>
          </p:cNvSpPr>
          <p:nvPr/>
        </p:nvSpPr>
        <p:spPr>
          <a:xfrm xmlns:a="http://schemas.openxmlformats.org/drawingml/2006/main">
            <a:off x="1009650" y="508635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Preferences + routines</a:t>
            </a:r>
          </a:p>
        </p:txBody>
      </p:sp>
      <p:sp>
        <p:nvSpPr>
          <p:cNvPr id="24" name="">
            <a:extLst xmlns:a="http://schemas.openxmlformats.org/drawingml/2006/main">
              <a:ext uri="{FF2B5EF4-FFF2-40B4-BE49-F238E27FC236}">
                <a16:creationId xmlns:a16="http://schemas.microsoft.com/office/drawing/2014/main" id="{89287761-067A-46F4-B39D-13BF499FF350}"/>
              </a:ext>
            </a:extLst>
          </p:cNvPr>
          <p:cNvSpPr>
            <a:spLocks xmlns:a="http://schemas.openxmlformats.org/drawingml/2006/main" noGrp="1"/>
          </p:cNvSpPr>
          <p:nvPr/>
        </p:nvSpPr>
        <p:spPr>
          <a:xfrm xmlns:a="http://schemas.openxmlformats.org/drawingml/2006/main">
            <a:off x="666750" y="5457825"/>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E7D9D47-B670-416C-82A7-92A076B8FD12}"/>
              </a:ext>
            </a:extLst>
          </p:cNvPr>
          <p:cNvSpPr>
            <a:spLocks xmlns:a="http://schemas.openxmlformats.org/drawingml/2006/main" noGrp="1"/>
          </p:cNvSpPr>
          <p:nvPr/>
        </p:nvSpPr>
        <p:spPr>
          <a:xfrm xmlns:a="http://schemas.openxmlformats.org/drawingml/2006/main">
            <a:off x="666750" y="5657850"/>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B124D7A-A8DB-452B-B539-454A93347725}"/>
              </a:ext>
            </a:extLst>
          </p:cNvPr>
          <p:cNvSpPr>
            <a:spLocks xmlns:a="http://schemas.openxmlformats.org/drawingml/2006/main" noGrp="1"/>
          </p:cNvSpPr>
          <p:nvPr/>
        </p:nvSpPr>
        <p:spPr>
          <a:xfrm xmlns:a="http://schemas.openxmlformats.org/drawingml/2006/main">
            <a:off x="666750" y="565785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27" name="">
            <a:extLst xmlns:a="http://schemas.openxmlformats.org/drawingml/2006/main">
              <a:ext uri="{FF2B5EF4-FFF2-40B4-BE49-F238E27FC236}">
                <a16:creationId xmlns:a16="http://schemas.microsoft.com/office/drawing/2014/main" id="{80A4B731-7B18-45EE-80AA-A00E364B2412}"/>
              </a:ext>
            </a:extLst>
          </p:cNvPr>
          <p:cNvSpPr>
            <a:spLocks xmlns:a="http://schemas.openxmlformats.org/drawingml/2006/main" noGrp="1"/>
          </p:cNvSpPr>
          <p:nvPr/>
        </p:nvSpPr>
        <p:spPr>
          <a:xfrm xmlns:a="http://schemas.openxmlformats.org/drawingml/2006/main">
            <a:off x="1009650" y="5629275"/>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Memory + current risks</a:t>
            </a:r>
          </a:p>
        </p:txBody>
      </p:sp>
      <p:sp>
        <p:nvSpPr>
          <p:cNvPr id="28" name="">
            <a:extLst xmlns:a="http://schemas.openxmlformats.org/drawingml/2006/main">
              <a:ext uri="{FF2B5EF4-FFF2-40B4-BE49-F238E27FC236}">
                <a16:creationId xmlns:a16="http://schemas.microsoft.com/office/drawing/2014/main" id="{A3979D43-530C-4065-89A7-6A91DC12C0E0}"/>
              </a:ext>
            </a:extLst>
          </p:cNvPr>
          <p:cNvSpPr>
            <a:spLocks xmlns:a="http://schemas.openxmlformats.org/drawingml/2006/main" noGrp="1"/>
          </p:cNvSpPr>
          <p:nvPr/>
        </p:nvSpPr>
        <p:spPr>
          <a:xfrm xmlns:a="http://schemas.openxmlformats.org/drawingml/2006/main">
            <a:off x="3695700" y="3143250"/>
            <a:ext cx="2971800" cy="3238500"/>
          </a:xfrm>
          <a:prstGeom xmlns:a="http://schemas.openxmlformats.org/drawingml/2006/main" prst="roundRect">
            <a:avLst>
              <a:gd name="adj" fmla="val 5128"/>
            </a:avLst>
          </a:prstGeom>
          <a:solidFill xmlns:a="http://schemas.openxmlformats.org/drawingml/2006/main">
            <a:srgbClr val="F4FBFA"/>
          </a:solidFill>
          <a:ln xmlns:a="http://schemas.openxmlformats.org/drawingml/2006/main" w="9525">
            <a:solidFill>
              <a:srgbClr val="B8D6D5"/>
            </a:solidFill>
          </a:ln>
        </p:spPr>
      </p:sp>
      <p:sp>
        <p:nvSpPr>
          <p:cNvPr id="29" name="">
            <a:extLst xmlns:a="http://schemas.openxmlformats.org/drawingml/2006/main">
              <a:ext uri="{FF2B5EF4-FFF2-40B4-BE49-F238E27FC236}">
                <a16:creationId xmlns:a16="http://schemas.microsoft.com/office/drawing/2014/main" id="{A3291D63-F924-405F-9EB6-28869CD39E65}"/>
              </a:ext>
            </a:extLst>
          </p:cNvPr>
          <p:cNvSpPr>
            <a:spLocks xmlns:a="http://schemas.openxmlformats.org/drawingml/2006/main" noGrp="1"/>
          </p:cNvSpPr>
          <p:nvPr/>
        </p:nvSpPr>
        <p:spPr>
          <a:xfrm xmlns:a="http://schemas.openxmlformats.org/drawingml/2006/main">
            <a:off x="3695700" y="3143250"/>
            <a:ext cx="2971800" cy="609600"/>
          </a:xfrm>
          <a:prstGeom xmlns:a="http://schemas.openxmlformats.org/drawingml/2006/main" prst="roundRect">
            <a:avLst>
              <a:gd name="adj" fmla="val 25000"/>
            </a:avLst>
          </a:prstGeom>
          <a:solidFill xmlns:a="http://schemas.openxmlformats.org/drawingml/2006/main">
            <a:srgbClr val="173F31"/>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F07B25C-A313-4EA4-815F-AEE8D010DE32}"/>
              </a:ext>
            </a:extLst>
          </p:cNvPr>
          <p:cNvSpPr>
            <a:spLocks xmlns:a="http://schemas.openxmlformats.org/drawingml/2006/main" noGrp="1"/>
          </p:cNvSpPr>
          <p:nvPr/>
        </p:nvSpPr>
        <p:spPr>
          <a:xfrm xmlns:a="http://schemas.openxmlformats.org/drawingml/2006/main">
            <a:off x="3867150" y="3305175"/>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Coordinate care</a:t>
            </a:r>
          </a:p>
        </p:txBody>
      </p:sp>
      <p:sp>
        <p:nvSpPr>
          <p:cNvPr id="31" name="">
            <a:extLst xmlns:a="http://schemas.openxmlformats.org/drawingml/2006/main">
              <a:ext uri="{FF2B5EF4-FFF2-40B4-BE49-F238E27FC236}">
                <a16:creationId xmlns:a16="http://schemas.microsoft.com/office/drawing/2014/main" id="{2F670147-2E48-4C2D-9A31-1BAEBA93ED9D}"/>
              </a:ext>
            </a:extLst>
          </p:cNvPr>
          <p:cNvSpPr>
            <a:spLocks xmlns:a="http://schemas.openxmlformats.org/drawingml/2006/main" noGrp="1"/>
          </p:cNvSpPr>
          <p:nvPr/>
        </p:nvSpPr>
        <p:spPr>
          <a:xfrm xmlns:a="http://schemas.openxmlformats.org/drawingml/2006/main">
            <a:off x="3905250" y="4029075"/>
            <a:ext cx="247650" cy="2476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6CA308B-6CC6-404B-9F18-E0641919E6ED}"/>
              </a:ext>
            </a:extLst>
          </p:cNvPr>
          <p:cNvSpPr>
            <a:spLocks xmlns:a="http://schemas.openxmlformats.org/drawingml/2006/main" noGrp="1"/>
          </p:cNvSpPr>
          <p:nvPr/>
        </p:nvSpPr>
        <p:spPr>
          <a:xfrm xmlns:a="http://schemas.openxmlformats.org/drawingml/2006/main">
            <a:off x="3905250" y="40290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904"/>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t>
            </a:r>
          </a:p>
        </p:txBody>
      </p:sp>
      <p:sp>
        <p:nvSpPr>
          <p:cNvPr id="33" name="">
            <a:extLst xmlns:a="http://schemas.openxmlformats.org/drawingml/2006/main">
              <a:ext uri="{FF2B5EF4-FFF2-40B4-BE49-F238E27FC236}">
                <a16:creationId xmlns:a16="http://schemas.microsoft.com/office/drawing/2014/main" id="{7003F12C-BF4F-48CB-8793-BF5AC6DB95F3}"/>
              </a:ext>
            </a:extLst>
          </p:cNvPr>
          <p:cNvSpPr>
            <a:spLocks xmlns:a="http://schemas.openxmlformats.org/drawingml/2006/main" noGrp="1"/>
          </p:cNvSpPr>
          <p:nvPr/>
        </p:nvSpPr>
        <p:spPr>
          <a:xfrm xmlns:a="http://schemas.openxmlformats.org/drawingml/2006/main">
            <a:off x="4248150" y="40005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Responsibilities</a:t>
            </a:r>
          </a:p>
        </p:txBody>
      </p:sp>
      <p:sp>
        <p:nvSpPr>
          <p:cNvPr id="34" name="">
            <a:extLst xmlns:a="http://schemas.openxmlformats.org/drawingml/2006/main">
              <a:ext uri="{FF2B5EF4-FFF2-40B4-BE49-F238E27FC236}">
                <a16:creationId xmlns:a16="http://schemas.microsoft.com/office/drawing/2014/main" id="{F637953E-966B-4206-AF72-2C4F82598ECB}"/>
              </a:ext>
            </a:extLst>
          </p:cNvPr>
          <p:cNvSpPr>
            <a:spLocks xmlns:a="http://schemas.openxmlformats.org/drawingml/2006/main" noGrp="1"/>
          </p:cNvSpPr>
          <p:nvPr/>
        </p:nvSpPr>
        <p:spPr>
          <a:xfrm xmlns:a="http://schemas.openxmlformats.org/drawingml/2006/main">
            <a:off x="3905250" y="4371975"/>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92A6DB0-A501-4277-BA65-08B07FD766CF}"/>
              </a:ext>
            </a:extLst>
          </p:cNvPr>
          <p:cNvSpPr>
            <a:spLocks xmlns:a="http://schemas.openxmlformats.org/drawingml/2006/main" noGrp="1"/>
          </p:cNvSpPr>
          <p:nvPr/>
        </p:nvSpPr>
        <p:spPr>
          <a:xfrm xmlns:a="http://schemas.openxmlformats.org/drawingml/2006/main">
            <a:off x="3905250" y="4572000"/>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09C8D34-B44B-41D4-A8F0-D77E587CD1BB}"/>
              </a:ext>
            </a:extLst>
          </p:cNvPr>
          <p:cNvSpPr>
            <a:spLocks xmlns:a="http://schemas.openxmlformats.org/drawingml/2006/main" noGrp="1"/>
          </p:cNvSpPr>
          <p:nvPr/>
        </p:nvSpPr>
        <p:spPr>
          <a:xfrm xmlns:a="http://schemas.openxmlformats.org/drawingml/2006/main">
            <a:off x="3905250" y="457200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37" name="">
            <a:extLst xmlns:a="http://schemas.openxmlformats.org/drawingml/2006/main">
              <a:ext uri="{FF2B5EF4-FFF2-40B4-BE49-F238E27FC236}">
                <a16:creationId xmlns:a16="http://schemas.microsoft.com/office/drawing/2014/main" id="{360A6448-A24E-4123-8AED-86D3D9922904}"/>
              </a:ext>
            </a:extLst>
          </p:cNvPr>
          <p:cNvSpPr>
            <a:spLocks xmlns:a="http://schemas.openxmlformats.org/drawingml/2006/main" noGrp="1"/>
          </p:cNvSpPr>
          <p:nvPr/>
        </p:nvSpPr>
        <p:spPr>
          <a:xfrm xmlns:a="http://schemas.openxmlformats.org/drawingml/2006/main">
            <a:off x="4248150" y="4543425"/>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Care Organizer</a:t>
            </a:r>
          </a:p>
        </p:txBody>
      </p:sp>
      <p:sp>
        <p:nvSpPr>
          <p:cNvPr id="38" name="">
            <a:extLst xmlns:a="http://schemas.openxmlformats.org/drawingml/2006/main">
              <a:ext uri="{FF2B5EF4-FFF2-40B4-BE49-F238E27FC236}">
                <a16:creationId xmlns:a16="http://schemas.microsoft.com/office/drawing/2014/main" id="{606529FE-9595-4DA1-9C46-560CA682F86F}"/>
              </a:ext>
            </a:extLst>
          </p:cNvPr>
          <p:cNvSpPr>
            <a:spLocks xmlns:a="http://schemas.openxmlformats.org/drawingml/2006/main" noGrp="1"/>
          </p:cNvSpPr>
          <p:nvPr/>
        </p:nvSpPr>
        <p:spPr>
          <a:xfrm xmlns:a="http://schemas.openxmlformats.org/drawingml/2006/main">
            <a:off x="3905250" y="4914900"/>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E8CEDA7-1122-403B-A300-11C6B1A6D4EB}"/>
              </a:ext>
            </a:extLst>
          </p:cNvPr>
          <p:cNvSpPr>
            <a:spLocks xmlns:a="http://schemas.openxmlformats.org/drawingml/2006/main" noGrp="1"/>
          </p:cNvSpPr>
          <p:nvPr/>
        </p:nvSpPr>
        <p:spPr>
          <a:xfrm xmlns:a="http://schemas.openxmlformats.org/drawingml/2006/main">
            <a:off x="3905250" y="5114925"/>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593AD68-0D4D-47C2-8E22-6737BD7E9939}"/>
              </a:ext>
            </a:extLst>
          </p:cNvPr>
          <p:cNvSpPr>
            <a:spLocks xmlns:a="http://schemas.openxmlformats.org/drawingml/2006/main" noGrp="1"/>
          </p:cNvSpPr>
          <p:nvPr/>
        </p:nvSpPr>
        <p:spPr>
          <a:xfrm xmlns:a="http://schemas.openxmlformats.org/drawingml/2006/main">
            <a:off x="3905250" y="51149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41" name="">
            <a:extLst xmlns:a="http://schemas.openxmlformats.org/drawingml/2006/main">
              <a:ext uri="{FF2B5EF4-FFF2-40B4-BE49-F238E27FC236}">
                <a16:creationId xmlns:a16="http://schemas.microsoft.com/office/drawing/2014/main" id="{07F47349-A38F-4BCB-A2F5-E4422D51986D}"/>
              </a:ext>
            </a:extLst>
          </p:cNvPr>
          <p:cNvSpPr>
            <a:spLocks xmlns:a="http://schemas.openxmlformats.org/drawingml/2006/main" noGrp="1"/>
          </p:cNvSpPr>
          <p:nvPr/>
        </p:nvSpPr>
        <p:spPr>
          <a:xfrm xmlns:a="http://schemas.openxmlformats.org/drawingml/2006/main">
            <a:off x="4248150" y="508635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Calendar scheduling</a:t>
            </a:r>
          </a:p>
        </p:txBody>
      </p:sp>
      <p:sp>
        <p:nvSpPr>
          <p:cNvPr id="42" name="">
            <a:extLst xmlns:a="http://schemas.openxmlformats.org/drawingml/2006/main">
              <a:ext uri="{FF2B5EF4-FFF2-40B4-BE49-F238E27FC236}">
                <a16:creationId xmlns:a16="http://schemas.microsoft.com/office/drawing/2014/main" id="{347352A7-FC2E-497A-89E8-C254E4CEADAD}"/>
              </a:ext>
            </a:extLst>
          </p:cNvPr>
          <p:cNvSpPr>
            <a:spLocks xmlns:a="http://schemas.openxmlformats.org/drawingml/2006/main" noGrp="1"/>
          </p:cNvSpPr>
          <p:nvPr/>
        </p:nvSpPr>
        <p:spPr>
          <a:xfrm xmlns:a="http://schemas.openxmlformats.org/drawingml/2006/main">
            <a:off x="3905250" y="5457825"/>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EA40AD1-866D-4D9C-B60A-5698098745F7}"/>
              </a:ext>
            </a:extLst>
          </p:cNvPr>
          <p:cNvSpPr>
            <a:spLocks xmlns:a="http://schemas.openxmlformats.org/drawingml/2006/main" noGrp="1"/>
          </p:cNvSpPr>
          <p:nvPr/>
        </p:nvSpPr>
        <p:spPr>
          <a:xfrm xmlns:a="http://schemas.openxmlformats.org/drawingml/2006/main">
            <a:off x="3905250" y="5657850"/>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D7D0960-FAD8-48E4-AD1D-7090B17A4A76}"/>
              </a:ext>
            </a:extLst>
          </p:cNvPr>
          <p:cNvSpPr>
            <a:spLocks xmlns:a="http://schemas.openxmlformats.org/drawingml/2006/main" noGrp="1"/>
          </p:cNvSpPr>
          <p:nvPr/>
        </p:nvSpPr>
        <p:spPr>
          <a:xfrm xmlns:a="http://schemas.openxmlformats.org/drawingml/2006/main">
            <a:off x="3905250" y="565785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45" name="">
            <a:extLst xmlns:a="http://schemas.openxmlformats.org/drawingml/2006/main">
              <a:ext uri="{FF2B5EF4-FFF2-40B4-BE49-F238E27FC236}">
                <a16:creationId xmlns:a16="http://schemas.microsoft.com/office/drawing/2014/main" id="{F305AA70-8F83-4872-BBE2-355FB102DDE8}"/>
              </a:ext>
            </a:extLst>
          </p:cNvPr>
          <p:cNvSpPr>
            <a:spLocks xmlns:a="http://schemas.openxmlformats.org/drawingml/2006/main" noGrp="1"/>
          </p:cNvSpPr>
          <p:nvPr/>
        </p:nvSpPr>
        <p:spPr>
          <a:xfrm xmlns:a="http://schemas.openxmlformats.org/drawingml/2006/main">
            <a:off x="4248150" y="5629275"/>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Timeline + activity log</a:t>
            </a:r>
          </a:p>
        </p:txBody>
      </p:sp>
      <p:sp>
        <p:nvSpPr>
          <p:cNvPr id="46" name="">
            <a:extLst xmlns:a="http://schemas.openxmlformats.org/drawingml/2006/main">
              <a:ext uri="{FF2B5EF4-FFF2-40B4-BE49-F238E27FC236}">
                <a16:creationId xmlns:a16="http://schemas.microsoft.com/office/drawing/2014/main" id="{CCDE95A6-6850-4529-A9DD-B638C64AB53A}"/>
              </a:ext>
            </a:extLst>
          </p:cNvPr>
          <p:cNvSpPr>
            <a:spLocks xmlns:a="http://schemas.openxmlformats.org/drawingml/2006/main" noGrp="1"/>
          </p:cNvSpPr>
          <p:nvPr/>
        </p:nvSpPr>
        <p:spPr>
          <a:xfrm xmlns:a="http://schemas.openxmlformats.org/drawingml/2006/main">
            <a:off x="6934200" y="3143250"/>
            <a:ext cx="2971800" cy="32385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B8D6D5"/>
            </a:solidFill>
          </a:ln>
        </p:spPr>
      </p:sp>
      <p:sp>
        <p:nvSpPr>
          <p:cNvPr id="47" name="">
            <a:extLst xmlns:a="http://schemas.openxmlformats.org/drawingml/2006/main">
              <a:ext uri="{FF2B5EF4-FFF2-40B4-BE49-F238E27FC236}">
                <a16:creationId xmlns:a16="http://schemas.microsoft.com/office/drawing/2014/main" id="{2240534C-BF7C-4F5D-869D-AEA0C8D6313F}"/>
              </a:ext>
            </a:extLst>
          </p:cNvPr>
          <p:cNvSpPr>
            <a:spLocks xmlns:a="http://schemas.openxmlformats.org/drawingml/2006/main" noGrp="1"/>
          </p:cNvSpPr>
          <p:nvPr/>
        </p:nvSpPr>
        <p:spPr>
          <a:xfrm xmlns:a="http://schemas.openxmlformats.org/drawingml/2006/main">
            <a:off x="6934200" y="3143250"/>
            <a:ext cx="2971800" cy="609600"/>
          </a:xfrm>
          <a:prstGeom xmlns:a="http://schemas.openxmlformats.org/drawingml/2006/main" prst="roundRect">
            <a:avLst>
              <a:gd name="adj" fmla="val 25000"/>
            </a:avLst>
          </a:prstGeom>
          <a:solidFill xmlns:a="http://schemas.openxmlformats.org/drawingml/2006/main">
            <a:srgbClr val="173F31"/>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FA25B22-584F-4B97-B44D-80D752ADD030}"/>
              </a:ext>
            </a:extLst>
          </p:cNvPr>
          <p:cNvSpPr>
            <a:spLocks xmlns:a="http://schemas.openxmlformats.org/drawingml/2006/main" noGrp="1"/>
          </p:cNvSpPr>
          <p:nvPr/>
        </p:nvSpPr>
        <p:spPr>
          <a:xfrm xmlns:a="http://schemas.openxmlformats.org/drawingml/2006/main">
            <a:off x="7105650" y="3305175"/>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People + handover</a:t>
            </a:r>
          </a:p>
        </p:txBody>
      </p:sp>
      <p:sp>
        <p:nvSpPr>
          <p:cNvPr id="49" name="">
            <a:extLst xmlns:a="http://schemas.openxmlformats.org/drawingml/2006/main">
              <a:ext uri="{FF2B5EF4-FFF2-40B4-BE49-F238E27FC236}">
                <a16:creationId xmlns:a16="http://schemas.microsoft.com/office/drawing/2014/main" id="{9AFFE091-A694-4E06-AD48-7DB8E5A3BF8E}"/>
              </a:ext>
            </a:extLst>
          </p:cNvPr>
          <p:cNvSpPr>
            <a:spLocks xmlns:a="http://schemas.openxmlformats.org/drawingml/2006/main" noGrp="1"/>
          </p:cNvSpPr>
          <p:nvPr/>
        </p:nvSpPr>
        <p:spPr>
          <a:xfrm xmlns:a="http://schemas.openxmlformats.org/drawingml/2006/main">
            <a:off x="7143750" y="4029075"/>
            <a:ext cx="247650" cy="2476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865B777-89BF-4EC4-8B50-8168778F077C}"/>
              </a:ext>
            </a:extLst>
          </p:cNvPr>
          <p:cNvSpPr>
            <a:spLocks xmlns:a="http://schemas.openxmlformats.org/drawingml/2006/main" noGrp="1"/>
          </p:cNvSpPr>
          <p:nvPr/>
        </p:nvSpPr>
        <p:spPr>
          <a:xfrm xmlns:a="http://schemas.openxmlformats.org/drawingml/2006/main">
            <a:off x="7143750" y="40290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904"/>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t>
            </a:r>
          </a:p>
        </p:txBody>
      </p:sp>
      <p:sp>
        <p:nvSpPr>
          <p:cNvPr id="51" name="">
            <a:extLst xmlns:a="http://schemas.openxmlformats.org/drawingml/2006/main">
              <a:ext uri="{FF2B5EF4-FFF2-40B4-BE49-F238E27FC236}">
                <a16:creationId xmlns:a16="http://schemas.microsoft.com/office/drawing/2014/main" id="{4920EC52-6914-4A34-A6B1-B1964DCDFAFD}"/>
              </a:ext>
            </a:extLst>
          </p:cNvPr>
          <p:cNvSpPr>
            <a:spLocks xmlns:a="http://schemas.openxmlformats.org/drawingml/2006/main" noGrp="1"/>
          </p:cNvSpPr>
          <p:nvPr/>
        </p:nvSpPr>
        <p:spPr>
          <a:xfrm xmlns:a="http://schemas.openxmlformats.org/drawingml/2006/main">
            <a:off x="7486650" y="40005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Care Circle + roles</a:t>
            </a:r>
          </a:p>
        </p:txBody>
      </p:sp>
      <p:sp>
        <p:nvSpPr>
          <p:cNvPr id="52" name="">
            <a:extLst xmlns:a="http://schemas.openxmlformats.org/drawingml/2006/main">
              <a:ext uri="{FF2B5EF4-FFF2-40B4-BE49-F238E27FC236}">
                <a16:creationId xmlns:a16="http://schemas.microsoft.com/office/drawing/2014/main" id="{CC9FA79C-E3EA-49F0-83A0-965559869F55}"/>
              </a:ext>
            </a:extLst>
          </p:cNvPr>
          <p:cNvSpPr>
            <a:spLocks xmlns:a="http://schemas.openxmlformats.org/drawingml/2006/main" noGrp="1"/>
          </p:cNvSpPr>
          <p:nvPr/>
        </p:nvSpPr>
        <p:spPr>
          <a:xfrm xmlns:a="http://schemas.openxmlformats.org/drawingml/2006/main">
            <a:off x="7143750" y="4371975"/>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E6C48382-5C31-4945-909C-823EF984DD5A}"/>
              </a:ext>
            </a:extLst>
          </p:cNvPr>
          <p:cNvSpPr>
            <a:spLocks xmlns:a="http://schemas.openxmlformats.org/drawingml/2006/main" noGrp="1"/>
          </p:cNvSpPr>
          <p:nvPr/>
        </p:nvSpPr>
        <p:spPr>
          <a:xfrm xmlns:a="http://schemas.openxmlformats.org/drawingml/2006/main">
            <a:off x="7143750" y="4572000"/>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D41833E0-BA20-41CA-9063-36366A77F90B}"/>
              </a:ext>
            </a:extLst>
          </p:cNvPr>
          <p:cNvSpPr>
            <a:spLocks xmlns:a="http://schemas.openxmlformats.org/drawingml/2006/main" noGrp="1"/>
          </p:cNvSpPr>
          <p:nvPr/>
        </p:nvSpPr>
        <p:spPr>
          <a:xfrm xmlns:a="http://schemas.openxmlformats.org/drawingml/2006/main">
            <a:off x="7143750" y="457200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55" name="">
            <a:extLst xmlns:a="http://schemas.openxmlformats.org/drawingml/2006/main">
              <a:ext uri="{FF2B5EF4-FFF2-40B4-BE49-F238E27FC236}">
                <a16:creationId xmlns:a16="http://schemas.microsoft.com/office/drawing/2014/main" id="{63D6F43B-06E8-4132-B387-758D8ED25A1B}"/>
              </a:ext>
            </a:extLst>
          </p:cNvPr>
          <p:cNvSpPr>
            <a:spLocks xmlns:a="http://schemas.openxmlformats.org/drawingml/2006/main" noGrp="1"/>
          </p:cNvSpPr>
          <p:nvPr/>
        </p:nvSpPr>
        <p:spPr>
          <a:xfrm xmlns:a="http://schemas.openxmlformats.org/drawingml/2006/main">
            <a:off x="7486650" y="4543425"/>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53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Contacts + support systems</a:t>
            </a:r>
          </a:p>
        </p:txBody>
      </p:sp>
      <p:sp>
        <p:nvSpPr>
          <p:cNvPr id="56" name="">
            <a:extLst xmlns:a="http://schemas.openxmlformats.org/drawingml/2006/main">
              <a:ext uri="{FF2B5EF4-FFF2-40B4-BE49-F238E27FC236}">
                <a16:creationId xmlns:a16="http://schemas.microsoft.com/office/drawing/2014/main" id="{221C723A-3DF2-428A-93D6-7CB679F0B684}"/>
              </a:ext>
            </a:extLst>
          </p:cNvPr>
          <p:cNvSpPr>
            <a:spLocks xmlns:a="http://schemas.openxmlformats.org/drawingml/2006/main" noGrp="1"/>
          </p:cNvSpPr>
          <p:nvPr/>
        </p:nvSpPr>
        <p:spPr>
          <a:xfrm xmlns:a="http://schemas.openxmlformats.org/drawingml/2006/main">
            <a:off x="7143750" y="4914900"/>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461ACF6-4B3D-4C9A-9D1D-1A3090B79316}"/>
              </a:ext>
            </a:extLst>
          </p:cNvPr>
          <p:cNvSpPr>
            <a:spLocks xmlns:a="http://schemas.openxmlformats.org/drawingml/2006/main" noGrp="1"/>
          </p:cNvSpPr>
          <p:nvPr/>
        </p:nvSpPr>
        <p:spPr>
          <a:xfrm xmlns:a="http://schemas.openxmlformats.org/drawingml/2006/main">
            <a:off x="7143750" y="5114925"/>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622CACE-247F-47D2-8238-8207B5545224}"/>
              </a:ext>
            </a:extLst>
          </p:cNvPr>
          <p:cNvSpPr>
            <a:spLocks xmlns:a="http://schemas.openxmlformats.org/drawingml/2006/main" noGrp="1"/>
          </p:cNvSpPr>
          <p:nvPr/>
        </p:nvSpPr>
        <p:spPr>
          <a:xfrm xmlns:a="http://schemas.openxmlformats.org/drawingml/2006/main">
            <a:off x="7143750" y="51149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59" name="">
            <a:extLst xmlns:a="http://schemas.openxmlformats.org/drawingml/2006/main">
              <a:ext uri="{FF2B5EF4-FFF2-40B4-BE49-F238E27FC236}">
                <a16:creationId xmlns:a16="http://schemas.microsoft.com/office/drawing/2014/main" id="{9353AB3D-AFF6-4C63-8231-EE6E8F773F45}"/>
              </a:ext>
            </a:extLst>
          </p:cNvPr>
          <p:cNvSpPr>
            <a:spLocks xmlns:a="http://schemas.openxmlformats.org/drawingml/2006/main" noGrp="1"/>
          </p:cNvSpPr>
          <p:nvPr/>
        </p:nvSpPr>
        <p:spPr>
          <a:xfrm xmlns:a="http://schemas.openxmlformats.org/drawingml/2006/main">
            <a:off x="7486650" y="508635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Live Handover</a:t>
            </a:r>
          </a:p>
        </p:txBody>
      </p:sp>
      <p:sp>
        <p:nvSpPr>
          <p:cNvPr id="60" name="">
            <a:extLst xmlns:a="http://schemas.openxmlformats.org/drawingml/2006/main">
              <a:ext uri="{FF2B5EF4-FFF2-40B4-BE49-F238E27FC236}">
                <a16:creationId xmlns:a16="http://schemas.microsoft.com/office/drawing/2014/main" id="{EF0A141F-D964-454A-AD84-EB9B008ADE21}"/>
              </a:ext>
            </a:extLst>
          </p:cNvPr>
          <p:cNvSpPr>
            <a:spLocks xmlns:a="http://schemas.openxmlformats.org/drawingml/2006/main" noGrp="1"/>
          </p:cNvSpPr>
          <p:nvPr/>
        </p:nvSpPr>
        <p:spPr>
          <a:xfrm xmlns:a="http://schemas.openxmlformats.org/drawingml/2006/main">
            <a:off x="7143750" y="5457825"/>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7AA2A54-2949-4834-9890-B688855E08EB}"/>
              </a:ext>
            </a:extLst>
          </p:cNvPr>
          <p:cNvSpPr>
            <a:spLocks xmlns:a="http://schemas.openxmlformats.org/drawingml/2006/main" noGrp="1"/>
          </p:cNvSpPr>
          <p:nvPr/>
        </p:nvSpPr>
        <p:spPr>
          <a:xfrm xmlns:a="http://schemas.openxmlformats.org/drawingml/2006/main">
            <a:off x="7143750" y="5657850"/>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609F7F86-AE02-4D1E-B938-0238E1A2087C}"/>
              </a:ext>
            </a:extLst>
          </p:cNvPr>
          <p:cNvSpPr>
            <a:spLocks xmlns:a="http://schemas.openxmlformats.org/drawingml/2006/main" noGrp="1"/>
          </p:cNvSpPr>
          <p:nvPr/>
        </p:nvSpPr>
        <p:spPr>
          <a:xfrm xmlns:a="http://schemas.openxmlformats.org/drawingml/2006/main">
            <a:off x="7143750" y="565785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63" name="">
            <a:extLst xmlns:a="http://schemas.openxmlformats.org/drawingml/2006/main">
              <a:ext uri="{FF2B5EF4-FFF2-40B4-BE49-F238E27FC236}">
                <a16:creationId xmlns:a16="http://schemas.microsoft.com/office/drawing/2014/main" id="{B3D76C41-E384-4CAB-B1A8-8D26651E56B3}"/>
              </a:ext>
            </a:extLst>
          </p:cNvPr>
          <p:cNvSpPr>
            <a:spLocks xmlns:a="http://schemas.openxmlformats.org/drawingml/2006/main" noGrp="1"/>
          </p:cNvSpPr>
          <p:nvPr/>
        </p:nvSpPr>
        <p:spPr>
          <a:xfrm xmlns:a="http://schemas.openxmlformats.org/drawingml/2006/main">
            <a:off x="7486650" y="5629275"/>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Notifications</a:t>
            </a:r>
          </a:p>
        </p:txBody>
      </p:sp>
      <p:sp>
        <p:nvSpPr>
          <p:cNvPr id="64" name="">
            <a:extLst xmlns:a="http://schemas.openxmlformats.org/drawingml/2006/main">
              <a:ext uri="{FF2B5EF4-FFF2-40B4-BE49-F238E27FC236}">
                <a16:creationId xmlns:a16="http://schemas.microsoft.com/office/drawing/2014/main" id="{03276E75-BE83-42C7-B13B-8FA3BD4F956D}"/>
              </a:ext>
            </a:extLst>
          </p:cNvPr>
          <p:cNvSpPr>
            <a:spLocks xmlns:a="http://schemas.openxmlformats.org/drawingml/2006/main" noGrp="1"/>
          </p:cNvSpPr>
          <p:nvPr/>
        </p:nvSpPr>
        <p:spPr>
          <a:xfrm xmlns:a="http://schemas.openxmlformats.org/drawingml/2006/main">
            <a:off x="10172700" y="3143250"/>
            <a:ext cx="2971800" cy="3238500"/>
          </a:xfrm>
          <a:prstGeom xmlns:a="http://schemas.openxmlformats.org/drawingml/2006/main" prst="roundRect">
            <a:avLst>
              <a:gd name="adj" fmla="val 5128"/>
            </a:avLst>
          </a:prstGeom>
          <a:solidFill xmlns:a="http://schemas.openxmlformats.org/drawingml/2006/main">
            <a:srgbClr val="FFF0E4"/>
          </a:solidFill>
          <a:ln xmlns:a="http://schemas.openxmlformats.org/drawingml/2006/main" w="9525">
            <a:solidFill>
              <a:srgbClr val="B8D6D5"/>
            </a:solidFill>
          </a:ln>
        </p:spPr>
      </p:sp>
      <p:sp>
        <p:nvSpPr>
          <p:cNvPr id="65" name="">
            <a:extLst xmlns:a="http://schemas.openxmlformats.org/drawingml/2006/main">
              <a:ext uri="{FF2B5EF4-FFF2-40B4-BE49-F238E27FC236}">
                <a16:creationId xmlns:a16="http://schemas.microsoft.com/office/drawing/2014/main" id="{86EAC55C-7248-4EBA-84D6-A3EA9C995018}"/>
              </a:ext>
            </a:extLst>
          </p:cNvPr>
          <p:cNvSpPr>
            <a:spLocks xmlns:a="http://schemas.openxmlformats.org/drawingml/2006/main" noGrp="1"/>
          </p:cNvSpPr>
          <p:nvPr/>
        </p:nvSpPr>
        <p:spPr>
          <a:xfrm xmlns:a="http://schemas.openxmlformats.org/drawingml/2006/main">
            <a:off x="10172700" y="3143250"/>
            <a:ext cx="2971800" cy="609600"/>
          </a:xfrm>
          <a:prstGeom xmlns:a="http://schemas.openxmlformats.org/drawingml/2006/main" prst="roundRect">
            <a:avLst>
              <a:gd name="adj" fmla="val 25000"/>
            </a:avLst>
          </a:prstGeom>
          <a:solidFill xmlns:a="http://schemas.openxmlformats.org/drawingml/2006/main">
            <a:srgbClr val="B65A3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4315A9DE-4B03-4750-B0FF-AB94495669E6}"/>
              </a:ext>
            </a:extLst>
          </p:cNvPr>
          <p:cNvSpPr>
            <a:spLocks xmlns:a="http://schemas.openxmlformats.org/drawingml/2006/main" noGrp="1"/>
          </p:cNvSpPr>
          <p:nvPr/>
        </p:nvSpPr>
        <p:spPr>
          <a:xfrm xmlns:a="http://schemas.openxmlformats.org/drawingml/2006/main">
            <a:off x="10344150" y="3305175"/>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Agent + governance</a:t>
            </a:r>
          </a:p>
        </p:txBody>
      </p:sp>
      <p:sp>
        <p:nvSpPr>
          <p:cNvPr id="67" name="">
            <a:extLst xmlns:a="http://schemas.openxmlformats.org/drawingml/2006/main">
              <a:ext uri="{FF2B5EF4-FFF2-40B4-BE49-F238E27FC236}">
                <a16:creationId xmlns:a16="http://schemas.microsoft.com/office/drawing/2014/main" id="{FC16A739-9130-4B41-867A-63D83829809C}"/>
              </a:ext>
            </a:extLst>
          </p:cNvPr>
          <p:cNvSpPr>
            <a:spLocks xmlns:a="http://schemas.openxmlformats.org/drawingml/2006/main" noGrp="1"/>
          </p:cNvSpPr>
          <p:nvPr/>
        </p:nvSpPr>
        <p:spPr>
          <a:xfrm xmlns:a="http://schemas.openxmlformats.org/drawingml/2006/main">
            <a:off x="10382250" y="4029075"/>
            <a:ext cx="247650" cy="2476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EBD27ABA-050E-48DF-AD0B-98D33598F247}"/>
              </a:ext>
            </a:extLst>
          </p:cNvPr>
          <p:cNvSpPr>
            <a:spLocks xmlns:a="http://schemas.openxmlformats.org/drawingml/2006/main" noGrp="1"/>
          </p:cNvSpPr>
          <p:nvPr/>
        </p:nvSpPr>
        <p:spPr>
          <a:xfrm xmlns:a="http://schemas.openxmlformats.org/drawingml/2006/main">
            <a:off x="10382250" y="40290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904"/>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t>
            </a:r>
          </a:p>
        </p:txBody>
      </p:sp>
      <p:sp>
        <p:nvSpPr>
          <p:cNvPr id="69" name="">
            <a:extLst xmlns:a="http://schemas.openxmlformats.org/drawingml/2006/main">
              <a:ext uri="{FF2B5EF4-FFF2-40B4-BE49-F238E27FC236}">
                <a16:creationId xmlns:a16="http://schemas.microsoft.com/office/drawing/2014/main" id="{8554C806-9E02-4670-83FC-34CB98AA7846}"/>
              </a:ext>
            </a:extLst>
          </p:cNvPr>
          <p:cNvSpPr>
            <a:spLocks xmlns:a="http://schemas.openxmlformats.org/drawingml/2006/main" noGrp="1"/>
          </p:cNvSpPr>
          <p:nvPr/>
        </p:nvSpPr>
        <p:spPr>
          <a:xfrm xmlns:a="http://schemas.openxmlformats.org/drawingml/2006/main">
            <a:off x="10725150" y="40005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Grounded chat + voice</a:t>
            </a:r>
          </a:p>
        </p:txBody>
      </p:sp>
      <p:sp>
        <p:nvSpPr>
          <p:cNvPr id="70" name="">
            <a:extLst xmlns:a="http://schemas.openxmlformats.org/drawingml/2006/main">
              <a:ext uri="{FF2B5EF4-FFF2-40B4-BE49-F238E27FC236}">
                <a16:creationId xmlns:a16="http://schemas.microsoft.com/office/drawing/2014/main" id="{194BF660-C385-4D44-8BC1-295DD2D9CBC6}"/>
              </a:ext>
            </a:extLst>
          </p:cNvPr>
          <p:cNvSpPr>
            <a:spLocks xmlns:a="http://schemas.openxmlformats.org/drawingml/2006/main" noGrp="1"/>
          </p:cNvSpPr>
          <p:nvPr/>
        </p:nvSpPr>
        <p:spPr>
          <a:xfrm xmlns:a="http://schemas.openxmlformats.org/drawingml/2006/main">
            <a:off x="10382250" y="4371975"/>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7E79C835-7CA7-46CB-8C5E-46A242BBBC0D}"/>
              </a:ext>
            </a:extLst>
          </p:cNvPr>
          <p:cNvSpPr>
            <a:spLocks xmlns:a="http://schemas.openxmlformats.org/drawingml/2006/main" noGrp="1"/>
          </p:cNvSpPr>
          <p:nvPr/>
        </p:nvSpPr>
        <p:spPr>
          <a:xfrm xmlns:a="http://schemas.openxmlformats.org/drawingml/2006/main">
            <a:off x="10382250" y="4572000"/>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DE18F2DF-97A5-4E59-BDDE-36914C47C025}"/>
              </a:ext>
            </a:extLst>
          </p:cNvPr>
          <p:cNvSpPr>
            <a:spLocks xmlns:a="http://schemas.openxmlformats.org/drawingml/2006/main" noGrp="1"/>
          </p:cNvSpPr>
          <p:nvPr/>
        </p:nvSpPr>
        <p:spPr>
          <a:xfrm xmlns:a="http://schemas.openxmlformats.org/drawingml/2006/main">
            <a:off x="10382250" y="457200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73" name="">
            <a:extLst xmlns:a="http://schemas.openxmlformats.org/drawingml/2006/main">
              <a:ext uri="{FF2B5EF4-FFF2-40B4-BE49-F238E27FC236}">
                <a16:creationId xmlns:a16="http://schemas.microsoft.com/office/drawing/2014/main" id="{C85D705C-434B-40C6-8B69-0DCD01929076}"/>
              </a:ext>
            </a:extLst>
          </p:cNvPr>
          <p:cNvSpPr>
            <a:spLocks xmlns:a="http://schemas.openxmlformats.org/drawingml/2006/main" noGrp="1"/>
          </p:cNvSpPr>
          <p:nvPr/>
        </p:nvSpPr>
        <p:spPr>
          <a:xfrm xmlns:a="http://schemas.openxmlformats.org/drawingml/2006/main">
            <a:off x="10725150" y="4543425"/>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79"/>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Document + image intake</a:t>
            </a:r>
          </a:p>
        </p:txBody>
      </p:sp>
      <p:sp>
        <p:nvSpPr>
          <p:cNvPr id="74" name="">
            <a:extLst xmlns:a="http://schemas.openxmlformats.org/drawingml/2006/main">
              <a:ext uri="{FF2B5EF4-FFF2-40B4-BE49-F238E27FC236}">
                <a16:creationId xmlns:a16="http://schemas.microsoft.com/office/drawing/2014/main" id="{B9EB3C43-338A-47CB-8D93-D445B838EE3C}"/>
              </a:ext>
            </a:extLst>
          </p:cNvPr>
          <p:cNvSpPr>
            <a:spLocks xmlns:a="http://schemas.openxmlformats.org/drawingml/2006/main" noGrp="1"/>
          </p:cNvSpPr>
          <p:nvPr/>
        </p:nvSpPr>
        <p:spPr>
          <a:xfrm xmlns:a="http://schemas.openxmlformats.org/drawingml/2006/main">
            <a:off x="10382250" y="4914900"/>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8EBAA812-B5BF-4048-96B9-33C5D59FE789}"/>
              </a:ext>
            </a:extLst>
          </p:cNvPr>
          <p:cNvSpPr>
            <a:spLocks xmlns:a="http://schemas.openxmlformats.org/drawingml/2006/main" noGrp="1"/>
          </p:cNvSpPr>
          <p:nvPr/>
        </p:nvSpPr>
        <p:spPr>
          <a:xfrm xmlns:a="http://schemas.openxmlformats.org/drawingml/2006/main">
            <a:off x="10382250" y="5114925"/>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14C8C990-5AF8-482D-AE6E-64B9B3ADB29C}"/>
              </a:ext>
            </a:extLst>
          </p:cNvPr>
          <p:cNvSpPr>
            <a:spLocks xmlns:a="http://schemas.openxmlformats.org/drawingml/2006/main" noGrp="1"/>
          </p:cNvSpPr>
          <p:nvPr/>
        </p:nvSpPr>
        <p:spPr>
          <a:xfrm xmlns:a="http://schemas.openxmlformats.org/drawingml/2006/main">
            <a:off x="10382250" y="51149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77" name="">
            <a:extLst xmlns:a="http://schemas.openxmlformats.org/drawingml/2006/main">
              <a:ext uri="{FF2B5EF4-FFF2-40B4-BE49-F238E27FC236}">
                <a16:creationId xmlns:a16="http://schemas.microsoft.com/office/drawing/2014/main" id="{13D1DF15-027B-4F69-8B38-2FBAC5B12F2E}"/>
              </a:ext>
            </a:extLst>
          </p:cNvPr>
          <p:cNvSpPr>
            <a:spLocks xmlns:a="http://schemas.openxmlformats.org/drawingml/2006/main" noGrp="1"/>
          </p:cNvSpPr>
          <p:nvPr/>
        </p:nvSpPr>
        <p:spPr>
          <a:xfrm xmlns:a="http://schemas.openxmlformats.org/drawingml/2006/main">
            <a:off x="10725150" y="508635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Integrations</a:t>
            </a:r>
          </a:p>
        </p:txBody>
      </p:sp>
      <p:sp>
        <p:nvSpPr>
          <p:cNvPr id="78" name="">
            <a:extLst xmlns:a="http://schemas.openxmlformats.org/drawingml/2006/main">
              <a:ext uri="{FF2B5EF4-FFF2-40B4-BE49-F238E27FC236}">
                <a16:creationId xmlns:a16="http://schemas.microsoft.com/office/drawing/2014/main" id="{271736AA-8369-4753-BA98-B6C60427F651}"/>
              </a:ext>
            </a:extLst>
          </p:cNvPr>
          <p:cNvSpPr>
            <a:spLocks xmlns:a="http://schemas.openxmlformats.org/drawingml/2006/main" noGrp="1"/>
          </p:cNvSpPr>
          <p:nvPr/>
        </p:nvSpPr>
        <p:spPr>
          <a:xfrm xmlns:a="http://schemas.openxmlformats.org/drawingml/2006/main">
            <a:off x="10382250" y="5457825"/>
            <a:ext cx="2524125" cy="9525"/>
          </a:xfrm>
          <a:prstGeom xmlns:a="http://schemas.openxmlformats.org/drawingml/2006/main" prst="rect">
            <a:avLst/>
          </a:prstGeom>
          <a:solidFill xmlns:a="http://schemas.openxmlformats.org/drawingml/2006/main">
            <a:srgbClr val="D9E5E0"/>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0BDDBD14-DE6D-4892-A179-73BBCDD00A7E}"/>
              </a:ext>
            </a:extLst>
          </p:cNvPr>
          <p:cNvSpPr>
            <a:spLocks xmlns:a="http://schemas.openxmlformats.org/drawingml/2006/main" noGrp="1"/>
          </p:cNvSpPr>
          <p:nvPr/>
        </p:nvSpPr>
        <p:spPr>
          <a:xfrm xmlns:a="http://schemas.openxmlformats.org/drawingml/2006/main">
            <a:off x="10382250" y="5657850"/>
            <a:ext cx="247650" cy="247650"/>
          </a:xfrm>
          <a:prstGeom xmlns:a="http://schemas.openxmlformats.org/drawingml/2006/main" prst="ellipse">
            <a:avLst/>
          </a:prstGeom>
          <a:solidFill xmlns:a="http://schemas.openxmlformats.org/drawingml/2006/main">
            <a:srgbClr val="DCE9DF"/>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B824A00F-1979-4DE2-9638-077B96BEB78C}"/>
              </a:ext>
            </a:extLst>
          </p:cNvPr>
          <p:cNvSpPr>
            <a:spLocks xmlns:a="http://schemas.openxmlformats.org/drawingml/2006/main" noGrp="1"/>
          </p:cNvSpPr>
          <p:nvPr/>
        </p:nvSpPr>
        <p:spPr>
          <a:xfrm xmlns:a="http://schemas.openxmlformats.org/drawingml/2006/main">
            <a:off x="10382250" y="5657850"/>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896"/>
          </a:bodyPr>
          <a:lstStyle xmlns:a="http://schemas.openxmlformats.org/drawingml/2006/main"/>
          <a:p xmlns:a="http://schemas.openxmlformats.org/drawingml/2006/main">
            <a:pPr algn="ctr">
              <a:defRPr sz="975" b="1" i="0">
                <a:solidFill>
                  <a:srgbClr val="173F31"/>
                </a:solidFill>
                <a:latin typeface="Avenir Next"/>
                <a:ea typeface="Avenir Next"/>
                <a:cs typeface="Avenir Next"/>
              </a:defRPr>
            </a:pPr>
            <a:r>
              <a:rPr sz="975" b="1" i="0">
                <a:solidFill>
                  <a:srgbClr val="173F31"/>
                </a:solidFill>
                <a:latin typeface="Avenir Next"/>
                <a:ea typeface="Avenir Next"/>
                <a:cs typeface="Avenir Next"/>
              </a:rPr>
              <a:t>✓</a:t>
            </a:r>
          </a:p>
        </p:txBody>
      </p:sp>
      <p:sp>
        <p:nvSpPr>
          <p:cNvPr id="81" name="">
            <a:extLst xmlns:a="http://schemas.openxmlformats.org/drawingml/2006/main">
              <a:ext uri="{FF2B5EF4-FFF2-40B4-BE49-F238E27FC236}">
                <a16:creationId xmlns:a16="http://schemas.microsoft.com/office/drawing/2014/main" id="{7679E364-38D6-4E02-ACF7-A1B4557027EE}"/>
              </a:ext>
            </a:extLst>
          </p:cNvPr>
          <p:cNvSpPr>
            <a:spLocks xmlns:a="http://schemas.openxmlformats.org/drawingml/2006/main" noGrp="1"/>
          </p:cNvSpPr>
          <p:nvPr/>
        </p:nvSpPr>
        <p:spPr>
          <a:xfrm xmlns:a="http://schemas.openxmlformats.org/drawingml/2006/main">
            <a:off x="10725150" y="5629275"/>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03"/>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Consent + privacy + evals</a:t>
            </a:r>
          </a:p>
        </p:txBody>
      </p:sp>
      <p:sp>
        <p:nvSpPr>
          <p:cNvPr id="82" name="">
            <a:extLst xmlns:a="http://schemas.openxmlformats.org/drawingml/2006/main">
              <a:ext uri="{FF2B5EF4-FFF2-40B4-BE49-F238E27FC236}">
                <a16:creationId xmlns:a16="http://schemas.microsoft.com/office/drawing/2014/main" id="{8E0356F5-BEA7-455E-BA78-65C667CCAA23}"/>
              </a:ext>
            </a:extLst>
          </p:cNvPr>
          <p:cNvSpPr>
            <a:spLocks xmlns:a="http://schemas.openxmlformats.org/drawingml/2006/main" noGrp="1"/>
          </p:cNvSpPr>
          <p:nvPr/>
        </p:nvSpPr>
        <p:spPr>
          <a:xfrm xmlns:a="http://schemas.openxmlformats.org/drawingml/2006/main">
            <a:off x="2047875" y="6572250"/>
            <a:ext cx="9620250" cy="438150"/>
          </a:xfrm>
          <a:prstGeom xmlns:a="http://schemas.openxmlformats.org/drawingml/2006/main" prst="roundRect">
            <a:avLst>
              <a:gd name="adj" fmla="val 26087"/>
            </a:avLst>
          </a:prstGeom>
          <a:solidFill xmlns:a="http://schemas.openxmlformats.org/drawingml/2006/main">
            <a:srgbClr val="087F8C"/>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FB882016-B6D6-4968-90D2-3B92BCDF1677}"/>
              </a:ext>
            </a:extLst>
          </p:cNvPr>
          <p:cNvSpPr>
            <a:spLocks xmlns:a="http://schemas.openxmlformats.org/drawingml/2006/main" noGrp="1"/>
          </p:cNvSpPr>
          <p:nvPr/>
        </p:nvSpPr>
        <p:spPr>
          <a:xfrm xmlns:a="http://schemas.openxmlformats.org/drawingml/2006/main">
            <a:off x="2238375" y="6677025"/>
            <a:ext cx="923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Foundation: sign-in and roles · recipient scope · export and deletion · approval history · audit trail</a:t>
            </a:r>
          </a:p>
        </p:txBody>
      </p:sp>
    </p:spTree>
    <p:extLst>
      <p:ext uri="{BB962C8B-B14F-4D97-AF65-F5344CB8AC3E}">
        <p14:creationId xmlns:p14="http://schemas.microsoft.com/office/powerpoint/2010/main" val="1835525462"/>
      </p:ext>
    </p:extLst>
  </p:cSld>
</p:sld>
</file>

<file path=ppt/slides/slide6.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4A0EE6-3505-4A22-808C-9E0F743543BE}"/>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379388-F7BE-47B3-820C-85A98C8C2C82}"/>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304BC5D1-8539-4D21-BB67-EB9A5E0ADCFB}"/>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3B9BA964-978F-4A30-A6BE-D8CBE8931D6B}"/>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PROTOTYPE JOURNEY</a:t>
            </a:r>
          </a:p>
        </p:txBody>
      </p:sp>
      <p:sp>
        <p:nvSpPr>
          <p:cNvPr id="5" name="">
            <a:extLst xmlns:a="http://schemas.openxmlformats.org/drawingml/2006/main">
              <a:ext uri="{FF2B5EF4-FFF2-40B4-BE49-F238E27FC236}">
                <a16:creationId xmlns:a16="http://schemas.microsoft.com/office/drawing/2014/main" id="{EC48C4CC-D4A1-44A7-9D10-9566D5FEBFEC}"/>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7CFC8E2C-256E-4EBB-A68D-63DE684C1B27}"/>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06 / 16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15708a74b1041b9"/>
          <a:stretch xmlns:a="http://schemas.openxmlformats.org/drawingml/2006/main"/>
        </p:blipFill>
        <p:spPr>
          <a:xfrm xmlns:a="http://schemas.openxmlformats.org/drawingml/2006/main">
            <a:off x="1100667" y="781050"/>
            <a:ext cx="11514667" cy="6477000"/>
          </a:xfrm>
          <a:prstGeom xmlns:a="http://schemas.openxmlformats.org/drawingml/2006/main" prst="rect">
            <a:avLst/>
          </a:prstGeom>
        </p:spPr>
      </p:pic>
    </p:spTree>
    <p:extLst>
      <p:ext uri="{BB962C8B-B14F-4D97-AF65-F5344CB8AC3E}">
        <p14:creationId xmlns:p14="http://schemas.microsoft.com/office/powerpoint/2010/main" val="1883713422"/>
      </p:ext>
    </p:extLst>
  </p:cSld>
</p:sld>
</file>

<file path=ppt/slides/slide7.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14E3243-E517-49EC-B208-AC634A6FDC5D}"/>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1A8033-D28E-493C-84C7-C72BCD2FBD95}"/>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D10E855D-AC0E-4188-B650-94FF0F285F39}"/>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9A8C3518-4266-4910-8FC5-18E13D62E603}"/>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AGENT CAPABILITY TYPES</a:t>
            </a:r>
          </a:p>
        </p:txBody>
      </p:sp>
      <p:sp>
        <p:nvSpPr>
          <p:cNvPr id="5" name="">
            <a:extLst xmlns:a="http://schemas.openxmlformats.org/drawingml/2006/main">
              <a:ext uri="{FF2B5EF4-FFF2-40B4-BE49-F238E27FC236}">
                <a16:creationId xmlns:a16="http://schemas.microsoft.com/office/drawing/2014/main" id="{90D1BD2B-CEA6-4B8D-9BDB-DC2DBFDD492E}"/>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AEDFA0AE-BD9F-46C2-B17B-FB57A4692B00}"/>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07 / 16</a:t>
            </a:r>
          </a:p>
        </p:txBody>
      </p:sp>
      <p:sp>
        <p:nvSpPr>
          <p:cNvPr id="7" name="">
            <a:extLst xmlns:a="http://schemas.openxmlformats.org/drawingml/2006/main">
              <a:ext uri="{FF2B5EF4-FFF2-40B4-BE49-F238E27FC236}">
                <a16:creationId xmlns:a16="http://schemas.microsoft.com/office/drawing/2014/main" id="{22226FBF-FB03-49F5-B679-E1C26576DC72}"/>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AGENTIC DESIGN</a:t>
            </a:r>
          </a:p>
        </p:txBody>
      </p:sp>
      <p:sp>
        <p:nvSpPr>
          <p:cNvPr id="8" name="">
            <a:extLst xmlns:a="http://schemas.openxmlformats.org/drawingml/2006/main">
              <a:ext uri="{FF2B5EF4-FFF2-40B4-BE49-F238E27FC236}">
                <a16:creationId xmlns:a16="http://schemas.microsoft.com/office/drawing/2014/main" id="{719EA90A-DCA1-4EF7-BA31-B158AAD6776A}"/>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Not every workflow uses AI the same way.</a:t>
            </a:r>
          </a:p>
        </p:txBody>
      </p:sp>
      <p:sp>
        <p:nvSpPr>
          <p:cNvPr id="9" name="">
            <a:extLst xmlns:a="http://schemas.openxmlformats.org/drawingml/2006/main">
              <a:ext uri="{FF2B5EF4-FFF2-40B4-BE49-F238E27FC236}">
                <a16:creationId xmlns:a16="http://schemas.microsoft.com/office/drawing/2014/main" id="{21485E28-B587-4B7A-976F-BAB32ABCA7A2}"/>
              </a:ext>
            </a:extLst>
          </p:cNvPr>
          <p:cNvSpPr>
            <a:spLocks xmlns:a="http://schemas.openxmlformats.org/drawingml/2006/main" noGrp="1"/>
          </p:cNvSpPr>
          <p:nvPr/>
        </p:nvSpPr>
        <p:spPr>
          <a:xfrm xmlns:a="http://schemas.openxmlformats.org/drawingml/2006/main">
            <a:off x="609600" y="2524125"/>
            <a:ext cx="1152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536870"/>
                </a:solidFill>
                <a:latin typeface="Avenir Next"/>
                <a:ea typeface="Avenir Next"/>
                <a:cs typeface="Avenir Next"/>
              </a:defRPr>
            </a:pPr>
            <a:r>
              <a:rPr sz="1575" b="0" i="0">
                <a:solidFill>
                  <a:srgbClr val="536870"/>
                </a:solidFill>
                <a:latin typeface="Avenir Next"/>
                <a:ea typeface="Avenir Next"/>
                <a:cs typeface="Avenir Next"/>
              </a:rPr>
              <a:t>Carestead applies model intelligence selectively and keeps safety-critical control in deterministic code.</a:t>
            </a:r>
          </a:p>
        </p:txBody>
      </p:sp>
      <p:sp>
        <p:nvSpPr>
          <p:cNvPr id="10" name="">
            <a:extLst xmlns:a="http://schemas.openxmlformats.org/drawingml/2006/main">
              <a:ext uri="{FF2B5EF4-FFF2-40B4-BE49-F238E27FC236}">
                <a16:creationId xmlns:a16="http://schemas.microsoft.com/office/drawing/2014/main" id="{9CA686F5-50BF-4DFD-8B51-B979031AFD3B}"/>
              </a:ext>
            </a:extLst>
          </p:cNvPr>
          <p:cNvSpPr>
            <a:spLocks xmlns:a="http://schemas.openxmlformats.org/drawingml/2006/main" noGrp="1"/>
          </p:cNvSpPr>
          <p:nvPr/>
        </p:nvSpPr>
        <p:spPr>
          <a:xfrm xmlns:a="http://schemas.openxmlformats.org/drawingml/2006/main">
            <a:off x="609600" y="3143250"/>
            <a:ext cx="5857875" cy="1524000"/>
          </a:xfrm>
          <a:prstGeom xmlns:a="http://schemas.openxmlformats.org/drawingml/2006/main" prst="roundRect">
            <a:avLst>
              <a:gd name="adj" fmla="val 8750"/>
            </a:avLst>
          </a:prstGeom>
          <a:solidFill xmlns:a="http://schemas.openxmlformats.org/drawingml/2006/main">
            <a:srgbClr val="E1F4F1"/>
          </a:solidFill>
          <a:ln xmlns:a="http://schemas.openxmlformats.org/drawingml/2006/main" w="9525">
            <a:solidFill>
              <a:srgbClr val="B8D6D5"/>
            </a:solidFill>
          </a:ln>
        </p:spPr>
      </p:sp>
      <p:sp>
        <p:nvSpPr>
          <p:cNvPr id="11" name="">
            <a:extLst xmlns:a="http://schemas.openxmlformats.org/drawingml/2006/main">
              <a:ext uri="{FF2B5EF4-FFF2-40B4-BE49-F238E27FC236}">
                <a16:creationId xmlns:a16="http://schemas.microsoft.com/office/drawing/2014/main" id="{77CB2C74-9689-48BB-9648-F763EF66C781}"/>
              </a:ext>
            </a:extLst>
          </p:cNvPr>
          <p:cNvSpPr>
            <a:spLocks xmlns:a="http://schemas.openxmlformats.org/drawingml/2006/main" noGrp="1"/>
          </p:cNvSpPr>
          <p:nvPr/>
        </p:nvSpPr>
        <p:spPr>
          <a:xfrm xmlns:a="http://schemas.openxmlformats.org/drawingml/2006/main">
            <a:off x="819150" y="3314700"/>
            <a:ext cx="538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6"/>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LLM-assisted workflow</a:t>
            </a:r>
          </a:p>
        </p:txBody>
      </p:sp>
      <p:sp>
        <p:nvSpPr>
          <p:cNvPr id="12" name="">
            <a:extLst xmlns:a="http://schemas.openxmlformats.org/drawingml/2006/main">
              <a:ext uri="{FF2B5EF4-FFF2-40B4-BE49-F238E27FC236}">
                <a16:creationId xmlns:a16="http://schemas.microsoft.com/office/drawing/2014/main" id="{7BD1CEFF-BC89-42C2-9F0A-3D55FFA4683D}"/>
              </a:ext>
            </a:extLst>
          </p:cNvPr>
          <p:cNvSpPr>
            <a:spLocks xmlns:a="http://schemas.openxmlformats.org/drawingml/2006/main" noGrp="1"/>
          </p:cNvSpPr>
          <p:nvPr/>
        </p:nvSpPr>
        <p:spPr>
          <a:xfrm xmlns:a="http://schemas.openxmlformats.org/drawingml/2006/main">
            <a:off x="819150" y="376237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087F8C"/>
                </a:solidFill>
                <a:latin typeface="Avenir Next"/>
                <a:ea typeface="Avenir Next"/>
                <a:cs typeface="Avenir Next"/>
              </a:defRPr>
            </a:pPr>
            <a:r>
              <a:rPr sz="900" b="1" i="0">
                <a:solidFill>
                  <a:srgbClr val="087F8C"/>
                </a:solidFill>
                <a:latin typeface="Avenir Next"/>
                <a:ea typeface="Avenir Next"/>
                <a:cs typeface="Avenir Next"/>
              </a:rPr>
              <a:t>MODEL</a:t>
            </a:r>
          </a:p>
        </p:txBody>
      </p:sp>
      <p:sp>
        <p:nvSpPr>
          <p:cNvPr id="13" name="">
            <a:extLst xmlns:a="http://schemas.openxmlformats.org/drawingml/2006/main">
              <a:ext uri="{FF2B5EF4-FFF2-40B4-BE49-F238E27FC236}">
                <a16:creationId xmlns:a16="http://schemas.microsoft.com/office/drawing/2014/main" id="{B2779513-6576-49C5-BA3F-5E5533F04ABD}"/>
              </a:ext>
            </a:extLst>
          </p:cNvPr>
          <p:cNvSpPr>
            <a:spLocks xmlns:a="http://schemas.openxmlformats.org/drawingml/2006/main" noGrp="1"/>
          </p:cNvSpPr>
          <p:nvPr/>
        </p:nvSpPr>
        <p:spPr>
          <a:xfrm xmlns:a="http://schemas.openxmlformats.org/drawingml/2006/main">
            <a:off x="1847850" y="3733800"/>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123F49"/>
                </a:solidFill>
                <a:latin typeface="Avenir Next"/>
                <a:ea typeface="Avenir Next"/>
                <a:cs typeface="Avenir Next"/>
              </a:defRPr>
            </a:pPr>
            <a:r>
              <a:rPr sz="1200" b="0" i="0">
                <a:solidFill>
                  <a:srgbClr val="123F49"/>
                </a:solidFill>
                <a:latin typeface="Avenir Next"/>
                <a:ea typeface="Avenir Next"/>
                <a:cs typeface="Avenir Next"/>
              </a:rPr>
              <a:t>Extracts, summarizes, ranks, or drafts.</a:t>
            </a:r>
          </a:p>
        </p:txBody>
      </p:sp>
      <p:sp>
        <p:nvSpPr>
          <p:cNvPr id="14" name="">
            <a:extLst xmlns:a="http://schemas.openxmlformats.org/drawingml/2006/main">
              <a:ext uri="{FF2B5EF4-FFF2-40B4-BE49-F238E27FC236}">
                <a16:creationId xmlns:a16="http://schemas.microsoft.com/office/drawing/2014/main" id="{FB046022-4B9D-4526-9EA9-887E27EDFB6E}"/>
              </a:ext>
            </a:extLst>
          </p:cNvPr>
          <p:cNvSpPr>
            <a:spLocks xmlns:a="http://schemas.openxmlformats.org/drawingml/2006/main" noGrp="1"/>
          </p:cNvSpPr>
          <p:nvPr/>
        </p:nvSpPr>
        <p:spPr>
          <a:xfrm xmlns:a="http://schemas.openxmlformats.org/drawingml/2006/main">
            <a:off x="819150" y="414337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087F8C"/>
                </a:solidFill>
                <a:latin typeface="Avenir Next"/>
                <a:ea typeface="Avenir Next"/>
                <a:cs typeface="Avenir Next"/>
              </a:defRPr>
            </a:pPr>
            <a:r>
              <a:rPr sz="900" b="1" i="0">
                <a:solidFill>
                  <a:srgbClr val="087F8C"/>
                </a:solidFill>
                <a:latin typeface="Avenir Next"/>
                <a:ea typeface="Avenir Next"/>
                <a:cs typeface="Avenir Next"/>
              </a:rPr>
              <a:t>CONTROL LAYER</a:t>
            </a:r>
          </a:p>
        </p:txBody>
      </p:sp>
      <p:sp>
        <p:nvSpPr>
          <p:cNvPr id="15" name="">
            <a:extLst xmlns:a="http://schemas.openxmlformats.org/drawingml/2006/main">
              <a:ext uri="{FF2B5EF4-FFF2-40B4-BE49-F238E27FC236}">
                <a16:creationId xmlns:a16="http://schemas.microsoft.com/office/drawing/2014/main" id="{B15BBDC4-C583-423E-8480-2D02D30DA812}"/>
              </a:ext>
            </a:extLst>
          </p:cNvPr>
          <p:cNvSpPr>
            <a:spLocks xmlns:a="http://schemas.openxmlformats.org/drawingml/2006/main" noGrp="1"/>
          </p:cNvSpPr>
          <p:nvPr/>
        </p:nvSpPr>
        <p:spPr>
          <a:xfrm xmlns:a="http://schemas.openxmlformats.org/drawingml/2006/main">
            <a:off x="1847850" y="41052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36870"/>
                </a:solidFill>
                <a:latin typeface="Avenir Next"/>
                <a:ea typeface="Avenir Next"/>
                <a:cs typeface="Avenir Next"/>
              </a:defRPr>
            </a:pPr>
            <a:r>
              <a:rPr sz="1200" b="0" i="0">
                <a:solidFill>
                  <a:srgbClr val="536870"/>
                </a:solidFill>
                <a:latin typeface="Avenir Next"/>
                <a:ea typeface="Avenir Next"/>
                <a:cs typeface="Avenir Next"/>
              </a:rPr>
              <a:t>Validates, clarifies, scopes, and saves after review.</a:t>
            </a:r>
          </a:p>
        </p:txBody>
      </p:sp>
      <p:sp>
        <p:nvSpPr>
          <p:cNvPr id="16" name="">
            <a:extLst xmlns:a="http://schemas.openxmlformats.org/drawingml/2006/main">
              <a:ext uri="{FF2B5EF4-FFF2-40B4-BE49-F238E27FC236}">
                <a16:creationId xmlns:a16="http://schemas.microsoft.com/office/drawing/2014/main" id="{A75EDED1-8DE8-455A-9443-0A470CF58C35}"/>
              </a:ext>
            </a:extLst>
          </p:cNvPr>
          <p:cNvSpPr>
            <a:spLocks xmlns:a="http://schemas.openxmlformats.org/drawingml/2006/main" noGrp="1"/>
          </p:cNvSpPr>
          <p:nvPr/>
        </p:nvSpPr>
        <p:spPr>
          <a:xfrm xmlns:a="http://schemas.openxmlformats.org/drawingml/2006/main">
            <a:off x="6848475" y="3143250"/>
            <a:ext cx="5857875" cy="1524000"/>
          </a:xfrm>
          <a:prstGeom xmlns:a="http://schemas.openxmlformats.org/drawingml/2006/main" prst="roundRect">
            <a:avLst>
              <a:gd name="adj" fmla="val 8750"/>
            </a:avLst>
          </a:prstGeom>
          <a:solidFill xmlns:a="http://schemas.openxmlformats.org/drawingml/2006/main">
            <a:srgbClr val="FFD1AF"/>
          </a:solidFill>
          <a:ln xmlns:a="http://schemas.openxmlformats.org/drawingml/2006/main" w="9525">
            <a:solidFill>
              <a:srgbClr val="B8D6D5"/>
            </a:solidFill>
          </a:ln>
        </p:spPr>
      </p:sp>
      <p:sp>
        <p:nvSpPr>
          <p:cNvPr id="17" name="">
            <a:extLst xmlns:a="http://schemas.openxmlformats.org/drawingml/2006/main">
              <a:ext uri="{FF2B5EF4-FFF2-40B4-BE49-F238E27FC236}">
                <a16:creationId xmlns:a16="http://schemas.microsoft.com/office/drawing/2014/main" id="{0C9CA4F7-AF51-4175-BAB2-EECB68D0A263}"/>
              </a:ext>
            </a:extLst>
          </p:cNvPr>
          <p:cNvSpPr>
            <a:spLocks xmlns:a="http://schemas.openxmlformats.org/drawingml/2006/main" noGrp="1"/>
          </p:cNvSpPr>
          <p:nvPr/>
        </p:nvSpPr>
        <p:spPr>
          <a:xfrm xmlns:a="http://schemas.openxmlformats.org/drawingml/2006/main">
            <a:off x="7058025" y="3314700"/>
            <a:ext cx="538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6"/>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Full agentic workflow</a:t>
            </a:r>
          </a:p>
        </p:txBody>
      </p:sp>
      <p:sp>
        <p:nvSpPr>
          <p:cNvPr id="18" name="">
            <a:extLst xmlns:a="http://schemas.openxmlformats.org/drawingml/2006/main">
              <a:ext uri="{FF2B5EF4-FFF2-40B4-BE49-F238E27FC236}">
                <a16:creationId xmlns:a16="http://schemas.microsoft.com/office/drawing/2014/main" id="{C97A0372-1B8D-4CEA-A675-662EB7DCA117}"/>
              </a:ext>
            </a:extLst>
          </p:cNvPr>
          <p:cNvSpPr>
            <a:spLocks xmlns:a="http://schemas.openxmlformats.org/drawingml/2006/main" noGrp="1"/>
          </p:cNvSpPr>
          <p:nvPr/>
        </p:nvSpPr>
        <p:spPr>
          <a:xfrm xmlns:a="http://schemas.openxmlformats.org/drawingml/2006/main">
            <a:off x="7058025" y="376237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087F8C"/>
                </a:solidFill>
                <a:latin typeface="Avenir Next"/>
                <a:ea typeface="Avenir Next"/>
                <a:cs typeface="Avenir Next"/>
              </a:defRPr>
            </a:pPr>
            <a:r>
              <a:rPr sz="900" b="1" i="0">
                <a:solidFill>
                  <a:srgbClr val="087F8C"/>
                </a:solidFill>
                <a:latin typeface="Avenir Next"/>
                <a:ea typeface="Avenir Next"/>
                <a:cs typeface="Avenir Next"/>
              </a:rPr>
              <a:t>MODEL</a:t>
            </a:r>
          </a:p>
        </p:txBody>
      </p:sp>
      <p:sp>
        <p:nvSpPr>
          <p:cNvPr id="19" name="">
            <a:extLst xmlns:a="http://schemas.openxmlformats.org/drawingml/2006/main">
              <a:ext uri="{FF2B5EF4-FFF2-40B4-BE49-F238E27FC236}">
                <a16:creationId xmlns:a16="http://schemas.microsoft.com/office/drawing/2014/main" id="{1614B5D5-EF9F-4937-A376-5C56AD82AD0E}"/>
              </a:ext>
            </a:extLst>
          </p:cNvPr>
          <p:cNvSpPr>
            <a:spLocks xmlns:a="http://schemas.openxmlformats.org/drawingml/2006/main" noGrp="1"/>
          </p:cNvSpPr>
          <p:nvPr/>
        </p:nvSpPr>
        <p:spPr>
          <a:xfrm xmlns:a="http://schemas.openxmlformats.org/drawingml/2006/main">
            <a:off x="8086725" y="3733800"/>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123F49"/>
                </a:solidFill>
                <a:latin typeface="Avenir Next"/>
                <a:ea typeface="Avenir Next"/>
                <a:cs typeface="Avenir Next"/>
              </a:defRPr>
            </a:pPr>
            <a:r>
              <a:rPr sz="1200" b="0" i="0">
                <a:solidFill>
                  <a:srgbClr val="123F49"/>
                </a:solidFill>
                <a:latin typeface="Avenir Next"/>
                <a:ea typeface="Avenir Next"/>
                <a:cs typeface="Avenir Next"/>
              </a:rPr>
              <a:t>Interprets the goal and explains options.</a:t>
            </a:r>
          </a:p>
        </p:txBody>
      </p:sp>
      <p:sp>
        <p:nvSpPr>
          <p:cNvPr id="20" name="">
            <a:extLst xmlns:a="http://schemas.openxmlformats.org/drawingml/2006/main">
              <a:ext uri="{FF2B5EF4-FFF2-40B4-BE49-F238E27FC236}">
                <a16:creationId xmlns:a16="http://schemas.microsoft.com/office/drawing/2014/main" id="{B35E3165-3881-4504-BA9D-982BC31540D5}"/>
              </a:ext>
            </a:extLst>
          </p:cNvPr>
          <p:cNvSpPr>
            <a:spLocks xmlns:a="http://schemas.openxmlformats.org/drawingml/2006/main" noGrp="1"/>
          </p:cNvSpPr>
          <p:nvPr/>
        </p:nvSpPr>
        <p:spPr>
          <a:xfrm xmlns:a="http://schemas.openxmlformats.org/drawingml/2006/main">
            <a:off x="7058025" y="414337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087F8C"/>
                </a:solidFill>
                <a:latin typeface="Avenir Next"/>
                <a:ea typeface="Avenir Next"/>
                <a:cs typeface="Avenir Next"/>
              </a:defRPr>
            </a:pPr>
            <a:r>
              <a:rPr sz="900" b="1" i="0">
                <a:solidFill>
                  <a:srgbClr val="087F8C"/>
                </a:solidFill>
                <a:latin typeface="Avenir Next"/>
                <a:ea typeface="Avenir Next"/>
                <a:cs typeface="Avenir Next"/>
              </a:rPr>
              <a:t>CONTROL LAYER</a:t>
            </a:r>
          </a:p>
        </p:txBody>
      </p:sp>
      <p:sp>
        <p:nvSpPr>
          <p:cNvPr id="21" name="">
            <a:extLst xmlns:a="http://schemas.openxmlformats.org/drawingml/2006/main">
              <a:ext uri="{FF2B5EF4-FFF2-40B4-BE49-F238E27FC236}">
                <a16:creationId xmlns:a16="http://schemas.microsoft.com/office/drawing/2014/main" id="{49127A3C-1315-4ADC-85D2-937CEBAC04B3}"/>
              </a:ext>
            </a:extLst>
          </p:cNvPr>
          <p:cNvSpPr>
            <a:spLocks xmlns:a="http://schemas.openxmlformats.org/drawingml/2006/main" noGrp="1"/>
          </p:cNvSpPr>
          <p:nvPr/>
        </p:nvSpPr>
        <p:spPr>
          <a:xfrm xmlns:a="http://schemas.openxmlformats.org/drawingml/2006/main">
            <a:off x="8086725" y="41052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36870"/>
                </a:solidFill>
                <a:latin typeface="Avenir Next"/>
                <a:ea typeface="Avenir Next"/>
                <a:cs typeface="Avenir Next"/>
              </a:defRPr>
            </a:pPr>
            <a:r>
              <a:rPr sz="1200" b="0" i="0">
                <a:solidFill>
                  <a:srgbClr val="536870"/>
                </a:solidFill>
                <a:latin typeface="Avenir Next"/>
                <a:ea typeface="Avenir Next"/>
                <a:cs typeface="Avenir Next"/>
              </a:rPr>
              <a:t>Retrieves, plans, calls tools, requests approval, and verifies.</a:t>
            </a:r>
          </a:p>
        </p:txBody>
      </p:sp>
      <p:sp>
        <p:nvSpPr>
          <p:cNvPr id="22" name="">
            <a:extLst xmlns:a="http://schemas.openxmlformats.org/drawingml/2006/main">
              <a:ext uri="{FF2B5EF4-FFF2-40B4-BE49-F238E27FC236}">
                <a16:creationId xmlns:a16="http://schemas.microsoft.com/office/drawing/2014/main" id="{7595AE46-E636-4744-A3C7-DEC4ADB6F8CA}"/>
              </a:ext>
            </a:extLst>
          </p:cNvPr>
          <p:cNvSpPr>
            <a:spLocks xmlns:a="http://schemas.openxmlformats.org/drawingml/2006/main" noGrp="1"/>
          </p:cNvSpPr>
          <p:nvPr/>
        </p:nvSpPr>
        <p:spPr>
          <a:xfrm xmlns:a="http://schemas.openxmlformats.org/drawingml/2006/main">
            <a:off x="609600" y="4905375"/>
            <a:ext cx="5857875" cy="1524000"/>
          </a:xfrm>
          <a:prstGeom xmlns:a="http://schemas.openxmlformats.org/drawingml/2006/main" prst="roundRect">
            <a:avLst>
              <a:gd name="adj" fmla="val 8750"/>
            </a:avLst>
          </a:prstGeom>
          <a:solidFill xmlns:a="http://schemas.openxmlformats.org/drawingml/2006/main">
            <a:srgbClr val="FFFFFF"/>
          </a:solidFill>
          <a:ln xmlns:a="http://schemas.openxmlformats.org/drawingml/2006/main" w="9525">
            <a:solidFill>
              <a:srgbClr val="B8D6D5"/>
            </a:solidFill>
          </a:ln>
        </p:spPr>
      </p:sp>
      <p:sp>
        <p:nvSpPr>
          <p:cNvPr id="23" name="">
            <a:extLst xmlns:a="http://schemas.openxmlformats.org/drawingml/2006/main">
              <a:ext uri="{FF2B5EF4-FFF2-40B4-BE49-F238E27FC236}">
                <a16:creationId xmlns:a16="http://schemas.microsoft.com/office/drawing/2014/main" id="{675C3D57-7EF8-4ACA-ADB7-04A930672175}"/>
              </a:ext>
            </a:extLst>
          </p:cNvPr>
          <p:cNvSpPr>
            <a:spLocks xmlns:a="http://schemas.openxmlformats.org/drawingml/2006/main" noGrp="1"/>
          </p:cNvSpPr>
          <p:nvPr/>
        </p:nvSpPr>
        <p:spPr>
          <a:xfrm xmlns:a="http://schemas.openxmlformats.org/drawingml/2006/main">
            <a:off x="819150" y="5076825"/>
            <a:ext cx="538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6"/>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Grounded read-only</a:t>
            </a:r>
          </a:p>
        </p:txBody>
      </p:sp>
      <p:sp>
        <p:nvSpPr>
          <p:cNvPr id="24" name="">
            <a:extLst xmlns:a="http://schemas.openxmlformats.org/drawingml/2006/main">
              <a:ext uri="{FF2B5EF4-FFF2-40B4-BE49-F238E27FC236}">
                <a16:creationId xmlns:a16="http://schemas.microsoft.com/office/drawing/2014/main" id="{64C4E8B8-7449-41E0-8164-5CCAD76147E4}"/>
              </a:ext>
            </a:extLst>
          </p:cNvPr>
          <p:cNvSpPr>
            <a:spLocks xmlns:a="http://schemas.openxmlformats.org/drawingml/2006/main" noGrp="1"/>
          </p:cNvSpPr>
          <p:nvPr/>
        </p:nvSpPr>
        <p:spPr>
          <a:xfrm xmlns:a="http://schemas.openxmlformats.org/drawingml/2006/main">
            <a:off x="819150" y="55245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087F8C"/>
                </a:solidFill>
                <a:latin typeface="Avenir Next"/>
                <a:ea typeface="Avenir Next"/>
                <a:cs typeface="Avenir Next"/>
              </a:defRPr>
            </a:pPr>
            <a:r>
              <a:rPr sz="900" b="1" i="0">
                <a:solidFill>
                  <a:srgbClr val="087F8C"/>
                </a:solidFill>
                <a:latin typeface="Avenir Next"/>
                <a:ea typeface="Avenir Next"/>
                <a:cs typeface="Avenir Next"/>
              </a:rPr>
              <a:t>MODEL</a:t>
            </a:r>
          </a:p>
        </p:txBody>
      </p:sp>
      <p:sp>
        <p:nvSpPr>
          <p:cNvPr id="25" name="">
            <a:extLst xmlns:a="http://schemas.openxmlformats.org/drawingml/2006/main">
              <a:ext uri="{FF2B5EF4-FFF2-40B4-BE49-F238E27FC236}">
                <a16:creationId xmlns:a16="http://schemas.microsoft.com/office/drawing/2014/main" id="{5F5B0452-9063-41F6-A8AB-E5E0937EB82A}"/>
              </a:ext>
            </a:extLst>
          </p:cNvPr>
          <p:cNvSpPr>
            <a:spLocks xmlns:a="http://schemas.openxmlformats.org/drawingml/2006/main" noGrp="1"/>
          </p:cNvSpPr>
          <p:nvPr/>
        </p:nvSpPr>
        <p:spPr>
          <a:xfrm xmlns:a="http://schemas.openxmlformats.org/drawingml/2006/main">
            <a:off x="1847850" y="54959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123F49"/>
                </a:solidFill>
                <a:latin typeface="Avenir Next"/>
                <a:ea typeface="Avenir Next"/>
                <a:cs typeface="Avenir Next"/>
              </a:defRPr>
            </a:pPr>
            <a:r>
              <a:rPr sz="1200" b="0" i="0">
                <a:solidFill>
                  <a:srgbClr val="123F49"/>
                </a:solidFill>
                <a:latin typeface="Avenir Next"/>
                <a:ea typeface="Avenir Next"/>
                <a:cs typeface="Avenir Next"/>
              </a:rPr>
              <a:t>Produces an evidence-backed answer or summary.</a:t>
            </a:r>
          </a:p>
        </p:txBody>
      </p:sp>
      <p:sp>
        <p:nvSpPr>
          <p:cNvPr id="26" name="">
            <a:extLst xmlns:a="http://schemas.openxmlformats.org/drawingml/2006/main">
              <a:ext uri="{FF2B5EF4-FFF2-40B4-BE49-F238E27FC236}">
                <a16:creationId xmlns:a16="http://schemas.microsoft.com/office/drawing/2014/main" id="{8A426B81-AA90-452A-87A0-A3E6CE208414}"/>
              </a:ext>
            </a:extLst>
          </p:cNvPr>
          <p:cNvSpPr>
            <a:spLocks xmlns:a="http://schemas.openxmlformats.org/drawingml/2006/main" noGrp="1"/>
          </p:cNvSpPr>
          <p:nvPr/>
        </p:nvSpPr>
        <p:spPr>
          <a:xfrm xmlns:a="http://schemas.openxmlformats.org/drawingml/2006/main">
            <a:off x="819150" y="59055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087F8C"/>
                </a:solidFill>
                <a:latin typeface="Avenir Next"/>
                <a:ea typeface="Avenir Next"/>
                <a:cs typeface="Avenir Next"/>
              </a:defRPr>
            </a:pPr>
            <a:r>
              <a:rPr sz="900" b="1" i="0">
                <a:solidFill>
                  <a:srgbClr val="087F8C"/>
                </a:solidFill>
                <a:latin typeface="Avenir Next"/>
                <a:ea typeface="Avenir Next"/>
                <a:cs typeface="Avenir Next"/>
              </a:rPr>
              <a:t>CONTROL LAYER</a:t>
            </a:r>
          </a:p>
        </p:txBody>
      </p:sp>
      <p:sp>
        <p:nvSpPr>
          <p:cNvPr id="27" name="">
            <a:extLst xmlns:a="http://schemas.openxmlformats.org/drawingml/2006/main">
              <a:ext uri="{FF2B5EF4-FFF2-40B4-BE49-F238E27FC236}">
                <a16:creationId xmlns:a16="http://schemas.microsoft.com/office/drawing/2014/main" id="{1F35879A-9DF2-45F1-8909-5F2EA885584D}"/>
              </a:ext>
            </a:extLst>
          </p:cNvPr>
          <p:cNvSpPr>
            <a:spLocks xmlns:a="http://schemas.openxmlformats.org/drawingml/2006/main" noGrp="1"/>
          </p:cNvSpPr>
          <p:nvPr/>
        </p:nvSpPr>
        <p:spPr>
          <a:xfrm xmlns:a="http://schemas.openxmlformats.org/drawingml/2006/main">
            <a:off x="1847850" y="58674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36870"/>
                </a:solidFill>
                <a:latin typeface="Avenir Next"/>
                <a:ea typeface="Avenir Next"/>
                <a:cs typeface="Avenir Next"/>
              </a:defRPr>
            </a:pPr>
            <a:r>
              <a:rPr sz="1200" b="0" i="0">
                <a:solidFill>
                  <a:srgbClr val="536870"/>
                </a:solidFill>
                <a:latin typeface="Avenir Next"/>
                <a:ea typeface="Avenir Next"/>
                <a:cs typeface="Avenir Next"/>
              </a:rPr>
              <a:t>Retrieves recipient-scoped records and checks citations.</a:t>
            </a:r>
          </a:p>
        </p:txBody>
      </p:sp>
      <p:sp>
        <p:nvSpPr>
          <p:cNvPr id="28" name="">
            <a:extLst xmlns:a="http://schemas.openxmlformats.org/drawingml/2006/main">
              <a:ext uri="{FF2B5EF4-FFF2-40B4-BE49-F238E27FC236}">
                <a16:creationId xmlns:a16="http://schemas.microsoft.com/office/drawing/2014/main" id="{75674CA0-2881-4CB6-A1FE-7C938DB58C0E}"/>
              </a:ext>
            </a:extLst>
          </p:cNvPr>
          <p:cNvSpPr>
            <a:spLocks xmlns:a="http://schemas.openxmlformats.org/drawingml/2006/main" noGrp="1"/>
          </p:cNvSpPr>
          <p:nvPr/>
        </p:nvSpPr>
        <p:spPr>
          <a:xfrm xmlns:a="http://schemas.openxmlformats.org/drawingml/2006/main">
            <a:off x="6848475" y="4905375"/>
            <a:ext cx="5857875" cy="1524000"/>
          </a:xfrm>
          <a:prstGeom xmlns:a="http://schemas.openxmlformats.org/drawingml/2006/main" prst="roundRect">
            <a:avLst>
              <a:gd name="adj" fmla="val 8750"/>
            </a:avLst>
          </a:prstGeom>
          <a:solidFill xmlns:a="http://schemas.openxmlformats.org/drawingml/2006/main">
            <a:srgbClr val="EEF3EF"/>
          </a:solidFill>
          <a:ln xmlns:a="http://schemas.openxmlformats.org/drawingml/2006/main" w="9525">
            <a:solidFill>
              <a:srgbClr val="B8D6D5"/>
            </a:solidFill>
          </a:ln>
        </p:spPr>
      </p:sp>
      <p:sp>
        <p:nvSpPr>
          <p:cNvPr id="29" name="">
            <a:extLst xmlns:a="http://schemas.openxmlformats.org/drawingml/2006/main">
              <a:ext uri="{FF2B5EF4-FFF2-40B4-BE49-F238E27FC236}">
                <a16:creationId xmlns:a16="http://schemas.microsoft.com/office/drawing/2014/main" id="{45324C7E-9FE6-43CE-BBA9-D58423142A27}"/>
              </a:ext>
            </a:extLst>
          </p:cNvPr>
          <p:cNvSpPr>
            <a:spLocks xmlns:a="http://schemas.openxmlformats.org/drawingml/2006/main" noGrp="1"/>
          </p:cNvSpPr>
          <p:nvPr/>
        </p:nvSpPr>
        <p:spPr>
          <a:xfrm xmlns:a="http://schemas.openxmlformats.org/drawingml/2006/main">
            <a:off x="7058025" y="5076825"/>
            <a:ext cx="538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6"/>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Deterministic agent</a:t>
            </a:r>
          </a:p>
        </p:txBody>
      </p:sp>
      <p:sp>
        <p:nvSpPr>
          <p:cNvPr id="30" name="">
            <a:extLst xmlns:a="http://schemas.openxmlformats.org/drawingml/2006/main">
              <a:ext uri="{FF2B5EF4-FFF2-40B4-BE49-F238E27FC236}">
                <a16:creationId xmlns:a16="http://schemas.microsoft.com/office/drawing/2014/main" id="{2932EBA3-A61A-40A3-8536-A0D96D4C05C8}"/>
              </a:ext>
            </a:extLst>
          </p:cNvPr>
          <p:cNvSpPr>
            <a:spLocks xmlns:a="http://schemas.openxmlformats.org/drawingml/2006/main" noGrp="1"/>
          </p:cNvSpPr>
          <p:nvPr/>
        </p:nvSpPr>
        <p:spPr>
          <a:xfrm xmlns:a="http://schemas.openxmlformats.org/drawingml/2006/main">
            <a:off x="7058025" y="55245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087F8C"/>
                </a:solidFill>
                <a:latin typeface="Avenir Next"/>
                <a:ea typeface="Avenir Next"/>
                <a:cs typeface="Avenir Next"/>
              </a:defRPr>
            </a:pPr>
            <a:r>
              <a:rPr sz="900" b="1" i="0">
                <a:solidFill>
                  <a:srgbClr val="087F8C"/>
                </a:solidFill>
                <a:latin typeface="Avenir Next"/>
                <a:ea typeface="Avenir Next"/>
                <a:cs typeface="Avenir Next"/>
              </a:rPr>
              <a:t>MODEL</a:t>
            </a:r>
          </a:p>
        </p:txBody>
      </p:sp>
      <p:sp>
        <p:nvSpPr>
          <p:cNvPr id="31" name="">
            <a:extLst xmlns:a="http://schemas.openxmlformats.org/drawingml/2006/main">
              <a:ext uri="{FF2B5EF4-FFF2-40B4-BE49-F238E27FC236}">
                <a16:creationId xmlns:a16="http://schemas.microsoft.com/office/drawing/2014/main" id="{66C0A246-A70E-45FA-A647-77118CF4099E}"/>
              </a:ext>
            </a:extLst>
          </p:cNvPr>
          <p:cNvSpPr>
            <a:spLocks xmlns:a="http://schemas.openxmlformats.org/drawingml/2006/main" noGrp="1"/>
          </p:cNvSpPr>
          <p:nvPr/>
        </p:nvSpPr>
        <p:spPr>
          <a:xfrm xmlns:a="http://schemas.openxmlformats.org/drawingml/2006/main">
            <a:off x="8086725" y="54959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123F49"/>
                </a:solidFill>
                <a:latin typeface="Avenir Next"/>
                <a:ea typeface="Avenir Next"/>
                <a:cs typeface="Avenir Next"/>
              </a:defRPr>
            </a:pPr>
            <a:r>
              <a:rPr sz="1200" b="0" i="0">
                <a:solidFill>
                  <a:srgbClr val="123F49"/>
                </a:solidFill>
                <a:latin typeface="Avenir Next"/>
                <a:ea typeface="Avenir Next"/>
                <a:cs typeface="Avenir Next"/>
              </a:rPr>
              <a:t>Optional explanation only.</a:t>
            </a:r>
          </a:p>
        </p:txBody>
      </p:sp>
      <p:sp>
        <p:nvSpPr>
          <p:cNvPr id="32" name="">
            <a:extLst xmlns:a="http://schemas.openxmlformats.org/drawingml/2006/main">
              <a:ext uri="{FF2B5EF4-FFF2-40B4-BE49-F238E27FC236}">
                <a16:creationId xmlns:a16="http://schemas.microsoft.com/office/drawing/2014/main" id="{03A778E7-BA7D-4107-8C71-20C38E8D2BFD}"/>
              </a:ext>
            </a:extLst>
          </p:cNvPr>
          <p:cNvSpPr>
            <a:spLocks xmlns:a="http://schemas.openxmlformats.org/drawingml/2006/main" noGrp="1"/>
          </p:cNvSpPr>
          <p:nvPr/>
        </p:nvSpPr>
        <p:spPr>
          <a:xfrm xmlns:a="http://schemas.openxmlformats.org/drawingml/2006/main">
            <a:off x="7058025" y="59055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087F8C"/>
                </a:solidFill>
                <a:latin typeface="Avenir Next"/>
                <a:ea typeface="Avenir Next"/>
                <a:cs typeface="Avenir Next"/>
              </a:defRPr>
            </a:pPr>
            <a:r>
              <a:rPr sz="900" b="1" i="0">
                <a:solidFill>
                  <a:srgbClr val="087F8C"/>
                </a:solidFill>
                <a:latin typeface="Avenir Next"/>
                <a:ea typeface="Avenir Next"/>
                <a:cs typeface="Avenir Next"/>
              </a:rPr>
              <a:t>CONTROL LAYER</a:t>
            </a:r>
          </a:p>
        </p:txBody>
      </p:sp>
      <p:sp>
        <p:nvSpPr>
          <p:cNvPr id="33" name="">
            <a:extLst xmlns:a="http://schemas.openxmlformats.org/drawingml/2006/main">
              <a:ext uri="{FF2B5EF4-FFF2-40B4-BE49-F238E27FC236}">
                <a16:creationId xmlns:a16="http://schemas.microsoft.com/office/drawing/2014/main" id="{5B098D5B-765C-443E-99DE-1629660B909D}"/>
              </a:ext>
            </a:extLst>
          </p:cNvPr>
          <p:cNvSpPr>
            <a:spLocks xmlns:a="http://schemas.openxmlformats.org/drawingml/2006/main" noGrp="1"/>
          </p:cNvSpPr>
          <p:nvPr/>
        </p:nvSpPr>
        <p:spPr>
          <a:xfrm xmlns:a="http://schemas.openxmlformats.org/drawingml/2006/main">
            <a:off x="8086725" y="58674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72"/>
          </a:bodyPr>
          <a:lstStyle xmlns:a="http://schemas.openxmlformats.org/drawingml/2006/main"/>
          <a:p xmlns:a="http://schemas.openxmlformats.org/drawingml/2006/main">
            <a:pPr algn="l">
              <a:defRPr sz="1200" b="0" i="0">
                <a:solidFill>
                  <a:srgbClr val="536870"/>
                </a:solidFill>
                <a:latin typeface="Avenir Next"/>
                <a:ea typeface="Avenir Next"/>
                <a:cs typeface="Avenir Next"/>
              </a:defRPr>
            </a:pPr>
            <a:r>
              <a:rPr sz="1200" b="0" i="0">
                <a:solidFill>
                  <a:srgbClr val="536870"/>
                </a:solidFill>
                <a:latin typeface="Avenir Next"/>
                <a:ea typeface="Avenir Next"/>
                <a:cs typeface="Avenir Next"/>
              </a:rPr>
              <a:t>Rules detect risks, enforce policy, select tools, and trace outcomes.</a:t>
            </a:r>
          </a:p>
        </p:txBody>
      </p:sp>
      <p:sp>
        <p:nvSpPr>
          <p:cNvPr id="34" name="">
            <a:extLst xmlns:a="http://schemas.openxmlformats.org/drawingml/2006/main">
              <a:ext uri="{FF2B5EF4-FFF2-40B4-BE49-F238E27FC236}">
                <a16:creationId xmlns:a16="http://schemas.microsoft.com/office/drawing/2014/main" id="{FA57D205-3BE8-40A9-B915-00CE7EE3687E}"/>
              </a:ext>
            </a:extLst>
          </p:cNvPr>
          <p:cNvSpPr>
            <a:spLocks xmlns:a="http://schemas.openxmlformats.org/drawingml/2006/main" noGrp="1"/>
          </p:cNvSpPr>
          <p:nvPr/>
        </p:nvSpPr>
        <p:spPr>
          <a:xfrm xmlns:a="http://schemas.openxmlformats.org/drawingml/2006/main">
            <a:off x="2190750" y="6724650"/>
            <a:ext cx="9334500" cy="323850"/>
          </a:xfrm>
          <a:prstGeom xmlns:a="http://schemas.openxmlformats.org/drawingml/2006/main" prst="roundRect">
            <a:avLst>
              <a:gd name="adj" fmla="val 35294"/>
            </a:avLst>
          </a:prstGeom>
          <a:solidFill xmlns:a="http://schemas.openxmlformats.org/drawingml/2006/main">
            <a:srgbClr val="173F31"/>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514F4A6-7046-4019-B7EE-84E65919516C}"/>
              </a:ext>
            </a:extLst>
          </p:cNvPr>
          <p:cNvSpPr>
            <a:spLocks xmlns:a="http://schemas.openxmlformats.org/drawingml/2006/main" noGrp="1"/>
          </p:cNvSpPr>
          <p:nvPr/>
        </p:nvSpPr>
        <p:spPr>
          <a:xfrm xmlns:a="http://schemas.openxmlformats.org/drawingml/2006/main">
            <a:off x="2381250" y="6781800"/>
            <a:ext cx="895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Interaction modes: text · voice transcript · spoken reply · image · PDF · structured records</a:t>
            </a:r>
          </a:p>
        </p:txBody>
      </p:sp>
    </p:spTree>
    <p:extLst>
      <p:ext uri="{BB962C8B-B14F-4D97-AF65-F5344CB8AC3E}">
        <p14:creationId xmlns:p14="http://schemas.microsoft.com/office/powerpoint/2010/main" val="1421774994"/>
      </p:ext>
    </p:extLst>
  </p:cSld>
</p:sld>
</file>

<file path=ppt/slides/slide8.xml><?xml version="1.0" encoding="utf-8"?>
<p:sld xmlns:p="http://schemas.openxmlformats.org/presentationml/2006/main">
  <p:cSld>
    <p:bg>
      <p:bgPr>
        <a:solidFill xmlns:a="http://schemas.openxmlformats.org/drawingml/2006/main">
          <a:srgbClr val="E1F4F1"/>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8BE64C1F-7924-4472-BF5A-ED0F13B0FE46}"/>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171AD3-E0B4-47E2-8842-C22D1DD092CA}"/>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26B27F0C-4339-4CD5-9991-97E48241AED1}"/>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6931F463-AA48-4AF5-919A-F44680FC5126}"/>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AGENT WORKFLOWS IN THE PRODUCT</a:t>
            </a:r>
          </a:p>
        </p:txBody>
      </p:sp>
      <p:sp>
        <p:nvSpPr>
          <p:cNvPr id="5" name="">
            <a:extLst xmlns:a="http://schemas.openxmlformats.org/drawingml/2006/main">
              <a:ext uri="{FF2B5EF4-FFF2-40B4-BE49-F238E27FC236}">
                <a16:creationId xmlns:a16="http://schemas.microsoft.com/office/drawing/2014/main" id="{A0B81A23-6376-4A19-84C3-3FFE289CC78E}"/>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EA77C4CD-C4ED-4FF8-BCE7-AA019A67E104}"/>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08 / 16</a:t>
            </a:r>
          </a:p>
        </p:txBody>
      </p:sp>
      <p:sp>
        <p:nvSpPr>
          <p:cNvPr id="7" name="">
            <a:extLst xmlns:a="http://schemas.openxmlformats.org/drawingml/2006/main">
              <a:ext uri="{FF2B5EF4-FFF2-40B4-BE49-F238E27FC236}">
                <a16:creationId xmlns:a16="http://schemas.microsoft.com/office/drawing/2014/main" id="{4A664184-BCCB-4B6B-BA85-348AF201EE30}"/>
              </a:ext>
            </a:extLst>
          </p:cNvPr>
          <p:cNvSpPr>
            <a:spLocks xmlns:a="http://schemas.openxmlformats.org/drawingml/2006/main" noGrp="1"/>
          </p:cNvSpPr>
          <p:nvPr/>
        </p:nvSpPr>
        <p:spPr>
          <a:xfrm xmlns:a="http://schemas.openxmlformats.org/drawingml/2006/main">
            <a:off x="609600" y="9810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173F31"/>
                </a:solidFill>
                <a:latin typeface="Avenir Next"/>
                <a:ea typeface="Avenir Next"/>
                <a:cs typeface="Avenir Next"/>
              </a:defRPr>
            </a:pPr>
            <a:r>
              <a:rPr sz="1200" b="1" i="0">
                <a:solidFill>
                  <a:srgbClr val="173F31"/>
                </a:solidFill>
                <a:latin typeface="Avenir Next"/>
                <a:ea typeface="Avenir Next"/>
                <a:cs typeface="Avenir Next"/>
              </a:rPr>
              <a:t>CAPABILITY MAP</a:t>
            </a:r>
          </a:p>
        </p:txBody>
      </p:sp>
      <p:sp>
        <p:nvSpPr>
          <p:cNvPr id="8" name="">
            <a:extLst xmlns:a="http://schemas.openxmlformats.org/drawingml/2006/main">
              <a:ext uri="{FF2B5EF4-FFF2-40B4-BE49-F238E27FC236}">
                <a16:creationId xmlns:a16="http://schemas.microsoft.com/office/drawing/2014/main" id="{DD58CC43-F17B-467E-8E21-3AB8CF128252}"/>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Eight workflows. Four capability patterns.</a:t>
            </a:r>
          </a:p>
        </p:txBody>
      </p:sp>
      <p:sp>
        <p:nvSpPr>
          <p:cNvPr id="9" name="">
            <a:extLst xmlns:a="http://schemas.openxmlformats.org/drawingml/2006/main">
              <a:ext uri="{FF2B5EF4-FFF2-40B4-BE49-F238E27FC236}">
                <a16:creationId xmlns:a16="http://schemas.microsoft.com/office/drawing/2014/main" id="{1C567B11-5236-4340-9BD0-DE62D31B095C}"/>
              </a:ext>
            </a:extLst>
          </p:cNvPr>
          <p:cNvSpPr>
            <a:spLocks xmlns:a="http://schemas.openxmlformats.org/drawingml/2006/main" noGrp="1"/>
          </p:cNvSpPr>
          <p:nvPr/>
        </p:nvSpPr>
        <p:spPr>
          <a:xfrm xmlns:a="http://schemas.openxmlformats.org/drawingml/2006/main">
            <a:off x="609600" y="2524125"/>
            <a:ext cx="1152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536870"/>
                </a:solidFill>
                <a:latin typeface="Avenir Next"/>
                <a:ea typeface="Avenir Next"/>
                <a:cs typeface="Avenir Next"/>
              </a:defRPr>
            </a:pPr>
            <a:r>
              <a:rPr sz="1575" b="0" i="0">
                <a:solidFill>
                  <a:srgbClr val="536870"/>
                </a:solidFill>
                <a:latin typeface="Avenir Next"/>
                <a:ea typeface="Avenir Next"/>
                <a:cs typeface="Avenir Next"/>
              </a:rPr>
              <a:t>Each workflow states what the model contributes and what the agent controls.</a:t>
            </a:r>
          </a:p>
        </p:txBody>
      </p:sp>
      <p:sp>
        <p:nvSpPr>
          <p:cNvPr id="10" name="">
            <a:extLst xmlns:a="http://schemas.openxmlformats.org/drawingml/2006/main">
              <a:ext uri="{FF2B5EF4-FFF2-40B4-BE49-F238E27FC236}">
                <a16:creationId xmlns:a16="http://schemas.microsoft.com/office/drawing/2014/main" id="{5773DC87-91DB-4E96-B80F-CB44AE5228C5}"/>
              </a:ext>
            </a:extLst>
          </p:cNvPr>
          <p:cNvSpPr>
            <a:spLocks xmlns:a="http://schemas.openxmlformats.org/drawingml/2006/main" noGrp="1"/>
          </p:cNvSpPr>
          <p:nvPr/>
        </p:nvSpPr>
        <p:spPr>
          <a:xfrm xmlns:a="http://schemas.openxmlformats.org/drawingml/2006/main">
            <a:off x="523875" y="3048000"/>
            <a:ext cx="6143625" cy="838200"/>
          </a:xfrm>
          <a:prstGeom xmlns:a="http://schemas.openxmlformats.org/drawingml/2006/main" prst="roundRect">
            <a:avLst>
              <a:gd name="adj" fmla="val 13636"/>
            </a:avLst>
          </a:prstGeom>
          <a:solidFill xmlns:a="http://schemas.openxmlformats.org/drawingml/2006/main">
            <a:srgbClr val="F7FCFA"/>
          </a:solidFill>
          <a:ln xmlns:a="http://schemas.openxmlformats.org/drawingml/2006/main" w="9525">
            <a:solidFill>
              <a:srgbClr val="B8D6D5"/>
            </a:solidFill>
          </a:ln>
        </p:spPr>
      </p:sp>
      <p:sp>
        <p:nvSpPr>
          <p:cNvPr id="11" name="">
            <a:extLst xmlns:a="http://schemas.openxmlformats.org/drawingml/2006/main">
              <a:ext uri="{FF2B5EF4-FFF2-40B4-BE49-F238E27FC236}">
                <a16:creationId xmlns:a16="http://schemas.microsoft.com/office/drawing/2014/main" id="{231C5C8A-DDC0-458C-A83A-9F15201DEB61}"/>
              </a:ext>
            </a:extLst>
          </p:cNvPr>
          <p:cNvSpPr>
            <a:spLocks xmlns:a="http://schemas.openxmlformats.org/drawingml/2006/main" noGrp="1"/>
          </p:cNvSpPr>
          <p:nvPr/>
        </p:nvSpPr>
        <p:spPr>
          <a:xfrm xmlns:a="http://schemas.openxmlformats.org/drawingml/2006/main">
            <a:off x="695325" y="317182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Grounded care chat</a:t>
            </a:r>
          </a:p>
        </p:txBody>
      </p:sp>
      <p:sp>
        <p:nvSpPr>
          <p:cNvPr id="12" name="">
            <a:extLst xmlns:a="http://schemas.openxmlformats.org/drawingml/2006/main">
              <a:ext uri="{FF2B5EF4-FFF2-40B4-BE49-F238E27FC236}">
                <a16:creationId xmlns:a16="http://schemas.microsoft.com/office/drawing/2014/main" id="{856720A9-66D6-455D-B0BE-C421EAEC2872}"/>
              </a:ext>
            </a:extLst>
          </p:cNvPr>
          <p:cNvSpPr>
            <a:spLocks xmlns:a="http://schemas.openxmlformats.org/drawingml/2006/main" noGrp="1"/>
          </p:cNvSpPr>
          <p:nvPr/>
        </p:nvSpPr>
        <p:spPr>
          <a:xfrm xmlns:a="http://schemas.openxmlformats.org/drawingml/2006/main">
            <a:off x="4000500" y="3124200"/>
            <a:ext cx="2457450" cy="333375"/>
          </a:xfrm>
          <a:prstGeom xmlns:a="http://schemas.openxmlformats.org/drawingml/2006/main" prst="roundRect">
            <a:avLst>
              <a:gd name="adj" fmla="val 45714"/>
            </a:avLst>
          </a:prstGeom>
          <a:solidFill xmlns:a="http://schemas.openxmlformats.org/drawingml/2006/main">
            <a:srgbClr val="FFD6BA"/>
          </a:solidFill>
          <a:ln xmlns:a="http://schemas.openxmlformats.org/drawingml/2006/main" w="9525">
            <a:solidFill>
              <a:srgbClr val="E9A777"/>
            </a:solidFill>
          </a:ln>
        </p:spPr>
      </p:sp>
      <p:sp>
        <p:nvSpPr>
          <p:cNvPr id="13" name="">
            <a:extLst xmlns:a="http://schemas.openxmlformats.org/drawingml/2006/main">
              <a:ext uri="{FF2B5EF4-FFF2-40B4-BE49-F238E27FC236}">
                <a16:creationId xmlns:a16="http://schemas.microsoft.com/office/drawing/2014/main" id="{FBFF877C-7927-4C30-A577-E56D300E537F}"/>
              </a:ext>
            </a:extLst>
          </p:cNvPr>
          <p:cNvSpPr>
            <a:spLocks xmlns:a="http://schemas.openxmlformats.org/drawingml/2006/main" noGrp="1"/>
          </p:cNvSpPr>
          <p:nvPr/>
        </p:nvSpPr>
        <p:spPr>
          <a:xfrm xmlns:a="http://schemas.openxmlformats.org/drawingml/2006/main">
            <a:off x="4095750" y="3181350"/>
            <a:ext cx="2266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ctr">
              <a:defRPr sz="1125" b="1" i="0">
                <a:solidFill>
                  <a:srgbClr val="173F31"/>
                </a:solidFill>
                <a:latin typeface="Avenir Next"/>
                <a:ea typeface="Avenir Next"/>
                <a:cs typeface="Avenir Next"/>
              </a:defRPr>
            </a:pPr>
            <a:r>
              <a:rPr sz="1125" b="1" i="0">
                <a:solidFill>
                  <a:srgbClr val="173F31"/>
                </a:solidFill>
                <a:latin typeface="Avenir Next"/>
                <a:ea typeface="Avenir Next"/>
                <a:cs typeface="Avenir Next"/>
              </a:rPr>
              <a:t>HYBRID AGENTIC</a:t>
            </a:r>
          </a:p>
        </p:txBody>
      </p:sp>
      <p:sp>
        <p:nvSpPr>
          <p:cNvPr id="14" name="">
            <a:extLst xmlns:a="http://schemas.openxmlformats.org/drawingml/2006/main">
              <a:ext uri="{FF2B5EF4-FFF2-40B4-BE49-F238E27FC236}">
                <a16:creationId xmlns:a16="http://schemas.microsoft.com/office/drawing/2014/main" id="{8D4E0049-4121-4B12-9C56-DB74B3CBC461}"/>
              </a:ext>
            </a:extLst>
          </p:cNvPr>
          <p:cNvSpPr>
            <a:spLocks xmlns:a="http://schemas.openxmlformats.org/drawingml/2006/main" noGrp="1"/>
          </p:cNvSpPr>
          <p:nvPr/>
        </p:nvSpPr>
        <p:spPr>
          <a:xfrm xmlns:a="http://schemas.openxmlformats.org/drawingml/2006/main">
            <a:off x="695325" y="3505200"/>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123F49"/>
                </a:solidFill>
                <a:latin typeface="Avenir Next"/>
                <a:ea typeface="Avenir Next"/>
                <a:cs typeface="Avenir Next"/>
              </a:defRPr>
            </a:pPr>
            <a:r>
              <a:rPr sz="975" b="0" i="0">
                <a:solidFill>
                  <a:srgbClr val="123F49"/>
                </a:solidFill>
                <a:latin typeface="Avenir Next"/>
                <a:ea typeface="Avenir Next"/>
                <a:cs typeface="Avenir Next"/>
              </a:rPr>
              <a:t>LLM: understand and synthesize</a:t>
            </a:r>
          </a:p>
        </p:txBody>
      </p:sp>
      <p:sp>
        <p:nvSpPr>
          <p:cNvPr id="15" name="">
            <a:extLst xmlns:a="http://schemas.openxmlformats.org/drawingml/2006/main">
              <a:ext uri="{FF2B5EF4-FFF2-40B4-BE49-F238E27FC236}">
                <a16:creationId xmlns:a16="http://schemas.microsoft.com/office/drawing/2014/main" id="{78439271-C223-431A-A596-2B07ACC471AF}"/>
              </a:ext>
            </a:extLst>
          </p:cNvPr>
          <p:cNvSpPr>
            <a:spLocks xmlns:a="http://schemas.openxmlformats.org/drawingml/2006/main" noGrp="1"/>
          </p:cNvSpPr>
          <p:nvPr/>
        </p:nvSpPr>
        <p:spPr>
          <a:xfrm xmlns:a="http://schemas.openxmlformats.org/drawingml/2006/main">
            <a:off x="3524250" y="3486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Agent: retrieve, cite, route, approve, execute</a:t>
            </a:r>
          </a:p>
        </p:txBody>
      </p:sp>
      <p:sp>
        <p:nvSpPr>
          <p:cNvPr id="16" name="">
            <a:extLst xmlns:a="http://schemas.openxmlformats.org/drawingml/2006/main">
              <a:ext uri="{FF2B5EF4-FFF2-40B4-BE49-F238E27FC236}">
                <a16:creationId xmlns:a16="http://schemas.microsoft.com/office/drawing/2014/main" id="{E145F551-8037-44EE-A71D-8AA02D5B4882}"/>
              </a:ext>
            </a:extLst>
          </p:cNvPr>
          <p:cNvSpPr>
            <a:spLocks xmlns:a="http://schemas.openxmlformats.org/drawingml/2006/main" noGrp="1"/>
          </p:cNvSpPr>
          <p:nvPr/>
        </p:nvSpPr>
        <p:spPr>
          <a:xfrm xmlns:a="http://schemas.openxmlformats.org/drawingml/2006/main">
            <a:off x="523875" y="4029075"/>
            <a:ext cx="6143625"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B8D6D5"/>
            </a:solidFill>
          </a:ln>
        </p:spPr>
      </p:sp>
      <p:sp>
        <p:nvSpPr>
          <p:cNvPr id="17" name="">
            <a:extLst xmlns:a="http://schemas.openxmlformats.org/drawingml/2006/main">
              <a:ext uri="{FF2B5EF4-FFF2-40B4-BE49-F238E27FC236}">
                <a16:creationId xmlns:a16="http://schemas.microsoft.com/office/drawing/2014/main" id="{420DE911-0AA0-4752-B801-1AC43453A7C5}"/>
              </a:ext>
            </a:extLst>
          </p:cNvPr>
          <p:cNvSpPr>
            <a:spLocks xmlns:a="http://schemas.openxmlformats.org/drawingml/2006/main" noGrp="1"/>
          </p:cNvSpPr>
          <p:nvPr/>
        </p:nvSpPr>
        <p:spPr>
          <a:xfrm xmlns:a="http://schemas.openxmlformats.org/drawingml/2006/main">
            <a:off x="695325" y="41529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Conflict resolution</a:t>
            </a:r>
          </a:p>
        </p:txBody>
      </p:sp>
      <p:sp>
        <p:nvSpPr>
          <p:cNvPr id="18" name="">
            <a:extLst xmlns:a="http://schemas.openxmlformats.org/drawingml/2006/main">
              <a:ext uri="{FF2B5EF4-FFF2-40B4-BE49-F238E27FC236}">
                <a16:creationId xmlns:a16="http://schemas.microsoft.com/office/drawing/2014/main" id="{387E4478-A56A-493B-8383-35262B1708B0}"/>
              </a:ext>
            </a:extLst>
          </p:cNvPr>
          <p:cNvSpPr>
            <a:spLocks xmlns:a="http://schemas.openxmlformats.org/drawingml/2006/main" noGrp="1"/>
          </p:cNvSpPr>
          <p:nvPr/>
        </p:nvSpPr>
        <p:spPr>
          <a:xfrm xmlns:a="http://schemas.openxmlformats.org/drawingml/2006/main">
            <a:off x="4000500" y="4105275"/>
            <a:ext cx="2457450" cy="333375"/>
          </a:xfrm>
          <a:prstGeom xmlns:a="http://schemas.openxmlformats.org/drawingml/2006/main" prst="roundRect">
            <a:avLst>
              <a:gd name="adj" fmla="val 45714"/>
            </a:avLst>
          </a:prstGeom>
          <a:solidFill xmlns:a="http://schemas.openxmlformats.org/drawingml/2006/main">
            <a:srgbClr val="FFD6BA"/>
          </a:solidFill>
          <a:ln xmlns:a="http://schemas.openxmlformats.org/drawingml/2006/main" w="9525">
            <a:solidFill>
              <a:srgbClr val="E9A777"/>
            </a:solidFill>
          </a:ln>
        </p:spPr>
      </p:sp>
      <p:sp>
        <p:nvSpPr>
          <p:cNvPr id="19" name="">
            <a:extLst xmlns:a="http://schemas.openxmlformats.org/drawingml/2006/main">
              <a:ext uri="{FF2B5EF4-FFF2-40B4-BE49-F238E27FC236}">
                <a16:creationId xmlns:a16="http://schemas.microsoft.com/office/drawing/2014/main" id="{0E7F9CC5-6FB6-430F-9CD1-F60A8F450599}"/>
              </a:ext>
            </a:extLst>
          </p:cNvPr>
          <p:cNvSpPr>
            <a:spLocks xmlns:a="http://schemas.openxmlformats.org/drawingml/2006/main" noGrp="1"/>
          </p:cNvSpPr>
          <p:nvPr/>
        </p:nvSpPr>
        <p:spPr>
          <a:xfrm xmlns:a="http://schemas.openxmlformats.org/drawingml/2006/main">
            <a:off x="4095750" y="4162425"/>
            <a:ext cx="2266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ctr">
              <a:defRPr sz="1125" b="1" i="0">
                <a:solidFill>
                  <a:srgbClr val="173F31"/>
                </a:solidFill>
                <a:latin typeface="Avenir Next"/>
                <a:ea typeface="Avenir Next"/>
                <a:cs typeface="Avenir Next"/>
              </a:defRPr>
            </a:pPr>
            <a:r>
              <a:rPr sz="1125" b="1" i="0">
                <a:solidFill>
                  <a:srgbClr val="173F31"/>
                </a:solidFill>
                <a:latin typeface="Avenir Next"/>
                <a:ea typeface="Avenir Next"/>
                <a:cs typeface="Avenir Next"/>
              </a:rPr>
              <a:t>FULL AGENTIC</a:t>
            </a:r>
          </a:p>
        </p:txBody>
      </p:sp>
      <p:sp>
        <p:nvSpPr>
          <p:cNvPr id="20" name="">
            <a:extLst xmlns:a="http://schemas.openxmlformats.org/drawingml/2006/main">
              <a:ext uri="{FF2B5EF4-FFF2-40B4-BE49-F238E27FC236}">
                <a16:creationId xmlns:a16="http://schemas.microsoft.com/office/drawing/2014/main" id="{994A1DA3-9C8C-47F7-A432-49628E1C7810}"/>
              </a:ext>
            </a:extLst>
          </p:cNvPr>
          <p:cNvSpPr>
            <a:spLocks xmlns:a="http://schemas.openxmlformats.org/drawingml/2006/main" noGrp="1"/>
          </p:cNvSpPr>
          <p:nvPr/>
        </p:nvSpPr>
        <p:spPr>
          <a:xfrm xmlns:a="http://schemas.openxmlformats.org/drawingml/2006/main">
            <a:off x="695325" y="448627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123F49"/>
                </a:solidFill>
                <a:latin typeface="Avenir Next"/>
                <a:ea typeface="Avenir Next"/>
                <a:cs typeface="Avenir Next"/>
              </a:defRPr>
            </a:pPr>
            <a:r>
              <a:rPr sz="975" b="0" i="0">
                <a:solidFill>
                  <a:srgbClr val="123F49"/>
                </a:solidFill>
                <a:latin typeface="Avenir Next"/>
                <a:ea typeface="Avenir Next"/>
                <a:cs typeface="Avenir Next"/>
              </a:rPr>
              <a:t>LLM: rank and explain</a:t>
            </a:r>
          </a:p>
        </p:txBody>
      </p:sp>
      <p:sp>
        <p:nvSpPr>
          <p:cNvPr id="21" name="">
            <a:extLst xmlns:a="http://schemas.openxmlformats.org/drawingml/2006/main">
              <a:ext uri="{FF2B5EF4-FFF2-40B4-BE49-F238E27FC236}">
                <a16:creationId xmlns:a16="http://schemas.microsoft.com/office/drawing/2014/main" id="{8AA9D657-B8AE-41FE-B7AC-9376A66130CE}"/>
              </a:ext>
            </a:extLst>
          </p:cNvPr>
          <p:cNvSpPr>
            <a:spLocks xmlns:a="http://schemas.openxmlformats.org/drawingml/2006/main" noGrp="1"/>
          </p:cNvSpPr>
          <p:nvPr/>
        </p:nvSpPr>
        <p:spPr>
          <a:xfrm xmlns:a="http://schemas.openxmlformats.org/drawingml/2006/main">
            <a:off x="3524250" y="44672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Agent: simulate, validate, reschedule, verify</a:t>
            </a:r>
          </a:p>
        </p:txBody>
      </p:sp>
      <p:sp>
        <p:nvSpPr>
          <p:cNvPr id="22" name="">
            <a:extLst xmlns:a="http://schemas.openxmlformats.org/drawingml/2006/main">
              <a:ext uri="{FF2B5EF4-FFF2-40B4-BE49-F238E27FC236}">
                <a16:creationId xmlns:a16="http://schemas.microsoft.com/office/drawing/2014/main" id="{9E2FE7FF-5203-4547-8F2D-243E83871FB3}"/>
              </a:ext>
            </a:extLst>
          </p:cNvPr>
          <p:cNvSpPr>
            <a:spLocks xmlns:a="http://schemas.openxmlformats.org/drawingml/2006/main" noGrp="1"/>
          </p:cNvSpPr>
          <p:nvPr/>
        </p:nvSpPr>
        <p:spPr>
          <a:xfrm xmlns:a="http://schemas.openxmlformats.org/drawingml/2006/main">
            <a:off x="523875" y="5010150"/>
            <a:ext cx="6143625" cy="838200"/>
          </a:xfrm>
          <a:prstGeom xmlns:a="http://schemas.openxmlformats.org/drawingml/2006/main" prst="roundRect">
            <a:avLst>
              <a:gd name="adj" fmla="val 13636"/>
            </a:avLst>
          </a:prstGeom>
          <a:solidFill xmlns:a="http://schemas.openxmlformats.org/drawingml/2006/main">
            <a:srgbClr val="F7FCFA"/>
          </a:solidFill>
          <a:ln xmlns:a="http://schemas.openxmlformats.org/drawingml/2006/main" w="9525">
            <a:solidFill>
              <a:srgbClr val="B8D6D5"/>
            </a:solidFill>
          </a:ln>
        </p:spPr>
      </p:sp>
      <p:sp>
        <p:nvSpPr>
          <p:cNvPr id="23" name="">
            <a:extLst xmlns:a="http://schemas.openxmlformats.org/drawingml/2006/main">
              <a:ext uri="{FF2B5EF4-FFF2-40B4-BE49-F238E27FC236}">
                <a16:creationId xmlns:a16="http://schemas.microsoft.com/office/drawing/2014/main" id="{85B90224-DDDA-4589-83F5-FFB760FCDC6A}"/>
              </a:ext>
            </a:extLst>
          </p:cNvPr>
          <p:cNvSpPr>
            <a:spLocks xmlns:a="http://schemas.openxmlformats.org/drawingml/2006/main" noGrp="1"/>
          </p:cNvSpPr>
          <p:nvPr/>
        </p:nvSpPr>
        <p:spPr>
          <a:xfrm xmlns:a="http://schemas.openxmlformats.org/drawingml/2006/main">
            <a:off x="695325" y="513397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Care-update extraction</a:t>
            </a:r>
          </a:p>
        </p:txBody>
      </p:sp>
      <p:sp>
        <p:nvSpPr>
          <p:cNvPr id="24" name="">
            <a:extLst xmlns:a="http://schemas.openxmlformats.org/drawingml/2006/main">
              <a:ext uri="{FF2B5EF4-FFF2-40B4-BE49-F238E27FC236}">
                <a16:creationId xmlns:a16="http://schemas.microsoft.com/office/drawing/2014/main" id="{59C820F4-BBDF-4EA7-8D6C-EC2C3FA127D6}"/>
              </a:ext>
            </a:extLst>
          </p:cNvPr>
          <p:cNvSpPr>
            <a:spLocks xmlns:a="http://schemas.openxmlformats.org/drawingml/2006/main" noGrp="1"/>
          </p:cNvSpPr>
          <p:nvPr/>
        </p:nvSpPr>
        <p:spPr>
          <a:xfrm xmlns:a="http://schemas.openxmlformats.org/drawingml/2006/main">
            <a:off x="4000500" y="5086350"/>
            <a:ext cx="2457450" cy="333375"/>
          </a:xfrm>
          <a:prstGeom xmlns:a="http://schemas.openxmlformats.org/drawingml/2006/main" prst="roundRect">
            <a:avLst>
              <a:gd name="adj" fmla="val 45714"/>
            </a:avLst>
          </a:prstGeom>
          <a:solidFill xmlns:a="http://schemas.openxmlformats.org/drawingml/2006/main">
            <a:srgbClr val="FFD6BA"/>
          </a:solidFill>
          <a:ln xmlns:a="http://schemas.openxmlformats.org/drawingml/2006/main" w="9525">
            <a:solidFill>
              <a:srgbClr val="E9A777"/>
            </a:solidFill>
          </a:ln>
        </p:spPr>
      </p:sp>
      <p:sp>
        <p:nvSpPr>
          <p:cNvPr id="25" name="">
            <a:extLst xmlns:a="http://schemas.openxmlformats.org/drawingml/2006/main">
              <a:ext uri="{FF2B5EF4-FFF2-40B4-BE49-F238E27FC236}">
                <a16:creationId xmlns:a16="http://schemas.microsoft.com/office/drawing/2014/main" id="{03D18563-AC4A-4E66-847D-E28570714C33}"/>
              </a:ext>
            </a:extLst>
          </p:cNvPr>
          <p:cNvSpPr>
            <a:spLocks xmlns:a="http://schemas.openxmlformats.org/drawingml/2006/main" noGrp="1"/>
          </p:cNvSpPr>
          <p:nvPr/>
        </p:nvSpPr>
        <p:spPr>
          <a:xfrm xmlns:a="http://schemas.openxmlformats.org/drawingml/2006/main">
            <a:off x="4095750" y="5143500"/>
            <a:ext cx="2266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ctr">
              <a:defRPr sz="1125" b="1" i="0">
                <a:solidFill>
                  <a:srgbClr val="173F31"/>
                </a:solidFill>
                <a:latin typeface="Avenir Next"/>
                <a:ea typeface="Avenir Next"/>
                <a:cs typeface="Avenir Next"/>
              </a:defRPr>
            </a:pPr>
            <a:r>
              <a:rPr sz="1125" b="1" i="0">
                <a:solidFill>
                  <a:srgbClr val="173F31"/>
                </a:solidFill>
                <a:latin typeface="Avenir Next"/>
                <a:ea typeface="Avenir Next"/>
                <a:cs typeface="Avenir Next"/>
              </a:rPr>
              <a:t>LLM ASSISTED</a:t>
            </a:r>
          </a:p>
        </p:txBody>
      </p:sp>
      <p:sp>
        <p:nvSpPr>
          <p:cNvPr id="26" name="">
            <a:extLst xmlns:a="http://schemas.openxmlformats.org/drawingml/2006/main">
              <a:ext uri="{FF2B5EF4-FFF2-40B4-BE49-F238E27FC236}">
                <a16:creationId xmlns:a16="http://schemas.microsoft.com/office/drawing/2014/main" id="{17F57874-D1FD-4D24-9469-BE5C71F60EBB}"/>
              </a:ext>
            </a:extLst>
          </p:cNvPr>
          <p:cNvSpPr>
            <a:spLocks xmlns:a="http://schemas.openxmlformats.org/drawingml/2006/main" noGrp="1"/>
          </p:cNvSpPr>
          <p:nvPr/>
        </p:nvSpPr>
        <p:spPr>
          <a:xfrm xmlns:a="http://schemas.openxmlformats.org/drawingml/2006/main">
            <a:off x="695325" y="5467350"/>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123F49"/>
                </a:solidFill>
                <a:latin typeface="Avenir Next"/>
                <a:ea typeface="Avenir Next"/>
                <a:cs typeface="Avenir Next"/>
              </a:defRPr>
            </a:pPr>
            <a:r>
              <a:rPr sz="975" b="0" i="0">
                <a:solidFill>
                  <a:srgbClr val="123F49"/>
                </a:solidFill>
                <a:latin typeface="Avenir Next"/>
                <a:ea typeface="Avenir Next"/>
                <a:cs typeface="Avenir Next"/>
              </a:rPr>
              <a:t>LLM: extract intent and details</a:t>
            </a:r>
          </a:p>
        </p:txBody>
      </p:sp>
      <p:sp>
        <p:nvSpPr>
          <p:cNvPr id="27" name="">
            <a:extLst xmlns:a="http://schemas.openxmlformats.org/drawingml/2006/main">
              <a:ext uri="{FF2B5EF4-FFF2-40B4-BE49-F238E27FC236}">
                <a16:creationId xmlns:a16="http://schemas.microsoft.com/office/drawing/2014/main" id="{1BFC0477-8494-4C36-8236-FD967D883079}"/>
              </a:ext>
            </a:extLst>
          </p:cNvPr>
          <p:cNvSpPr>
            <a:spLocks xmlns:a="http://schemas.openxmlformats.org/drawingml/2006/main" noGrp="1"/>
          </p:cNvSpPr>
          <p:nvPr/>
        </p:nvSpPr>
        <p:spPr>
          <a:xfrm xmlns:a="http://schemas.openxmlformats.org/drawingml/2006/main">
            <a:off x="3524250" y="54483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Agent: clarify, validate, match, approve, save</a:t>
            </a:r>
          </a:p>
        </p:txBody>
      </p:sp>
      <p:sp>
        <p:nvSpPr>
          <p:cNvPr id="28" name="">
            <a:extLst xmlns:a="http://schemas.openxmlformats.org/drawingml/2006/main">
              <a:ext uri="{FF2B5EF4-FFF2-40B4-BE49-F238E27FC236}">
                <a16:creationId xmlns:a16="http://schemas.microsoft.com/office/drawing/2014/main" id="{95B4FED6-295A-415F-89D8-F321B8099EC0}"/>
              </a:ext>
            </a:extLst>
          </p:cNvPr>
          <p:cNvSpPr>
            <a:spLocks xmlns:a="http://schemas.openxmlformats.org/drawingml/2006/main" noGrp="1"/>
          </p:cNvSpPr>
          <p:nvPr/>
        </p:nvSpPr>
        <p:spPr>
          <a:xfrm xmlns:a="http://schemas.openxmlformats.org/drawingml/2006/main">
            <a:off x="523875" y="5991225"/>
            <a:ext cx="6143625"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B8D6D5"/>
            </a:solidFill>
          </a:ln>
        </p:spPr>
      </p:sp>
      <p:sp>
        <p:nvSpPr>
          <p:cNvPr id="29" name="">
            <a:extLst xmlns:a="http://schemas.openxmlformats.org/drawingml/2006/main">
              <a:ext uri="{FF2B5EF4-FFF2-40B4-BE49-F238E27FC236}">
                <a16:creationId xmlns:a16="http://schemas.microsoft.com/office/drawing/2014/main" id="{646E0CD8-75FF-40AD-B762-7B359BD78014}"/>
              </a:ext>
            </a:extLst>
          </p:cNvPr>
          <p:cNvSpPr>
            <a:spLocks xmlns:a="http://schemas.openxmlformats.org/drawingml/2006/main" noGrp="1"/>
          </p:cNvSpPr>
          <p:nvPr/>
        </p:nvSpPr>
        <p:spPr>
          <a:xfrm xmlns:a="http://schemas.openxmlformats.org/drawingml/2006/main">
            <a:off x="695325" y="61150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Intelligent handover</a:t>
            </a:r>
          </a:p>
        </p:txBody>
      </p:sp>
      <p:sp>
        <p:nvSpPr>
          <p:cNvPr id="30" name="">
            <a:extLst xmlns:a="http://schemas.openxmlformats.org/drawingml/2006/main">
              <a:ext uri="{FF2B5EF4-FFF2-40B4-BE49-F238E27FC236}">
                <a16:creationId xmlns:a16="http://schemas.microsoft.com/office/drawing/2014/main" id="{A8F53FBF-3D99-4309-B66A-13A2716F8E0B}"/>
              </a:ext>
            </a:extLst>
          </p:cNvPr>
          <p:cNvSpPr>
            <a:spLocks xmlns:a="http://schemas.openxmlformats.org/drawingml/2006/main" noGrp="1"/>
          </p:cNvSpPr>
          <p:nvPr/>
        </p:nvSpPr>
        <p:spPr>
          <a:xfrm xmlns:a="http://schemas.openxmlformats.org/drawingml/2006/main">
            <a:off x="4000500" y="6067425"/>
            <a:ext cx="2457450" cy="333375"/>
          </a:xfrm>
          <a:prstGeom xmlns:a="http://schemas.openxmlformats.org/drawingml/2006/main" prst="roundRect">
            <a:avLst>
              <a:gd name="adj" fmla="val 45714"/>
            </a:avLst>
          </a:prstGeom>
          <a:solidFill xmlns:a="http://schemas.openxmlformats.org/drawingml/2006/main">
            <a:srgbClr val="FFD6BA"/>
          </a:solidFill>
          <a:ln xmlns:a="http://schemas.openxmlformats.org/drawingml/2006/main" w="9525">
            <a:solidFill>
              <a:srgbClr val="E9A777"/>
            </a:solidFill>
          </a:ln>
        </p:spPr>
      </p:sp>
      <p:sp>
        <p:nvSpPr>
          <p:cNvPr id="31" name="">
            <a:extLst xmlns:a="http://schemas.openxmlformats.org/drawingml/2006/main">
              <a:ext uri="{FF2B5EF4-FFF2-40B4-BE49-F238E27FC236}">
                <a16:creationId xmlns:a16="http://schemas.microsoft.com/office/drawing/2014/main" id="{0014AC94-6BE7-43C5-BC8B-A8BDD0AED182}"/>
              </a:ext>
            </a:extLst>
          </p:cNvPr>
          <p:cNvSpPr>
            <a:spLocks xmlns:a="http://schemas.openxmlformats.org/drawingml/2006/main" noGrp="1"/>
          </p:cNvSpPr>
          <p:nvPr/>
        </p:nvSpPr>
        <p:spPr>
          <a:xfrm xmlns:a="http://schemas.openxmlformats.org/drawingml/2006/main">
            <a:off x="4095750" y="6124575"/>
            <a:ext cx="2266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ctr">
              <a:defRPr sz="1125" b="1" i="0">
                <a:solidFill>
                  <a:srgbClr val="173F31"/>
                </a:solidFill>
                <a:latin typeface="Avenir Next"/>
                <a:ea typeface="Avenir Next"/>
                <a:cs typeface="Avenir Next"/>
              </a:defRPr>
            </a:pPr>
            <a:r>
              <a:rPr sz="1125" b="1" i="0">
                <a:solidFill>
                  <a:srgbClr val="173F31"/>
                </a:solidFill>
                <a:latin typeface="Avenir Next"/>
                <a:ea typeface="Avenir Next"/>
                <a:cs typeface="Avenir Next"/>
              </a:rPr>
              <a:t>GROUNDED READ ONLY</a:t>
            </a:r>
          </a:p>
        </p:txBody>
      </p:sp>
      <p:sp>
        <p:nvSpPr>
          <p:cNvPr id="32" name="">
            <a:extLst xmlns:a="http://schemas.openxmlformats.org/drawingml/2006/main">
              <a:ext uri="{FF2B5EF4-FFF2-40B4-BE49-F238E27FC236}">
                <a16:creationId xmlns:a16="http://schemas.microsoft.com/office/drawing/2014/main" id="{4E60D3FC-E2BB-4925-8DE4-43FC2BB9A44B}"/>
              </a:ext>
            </a:extLst>
          </p:cNvPr>
          <p:cNvSpPr>
            <a:spLocks xmlns:a="http://schemas.openxmlformats.org/drawingml/2006/main" noGrp="1"/>
          </p:cNvSpPr>
          <p:nvPr/>
        </p:nvSpPr>
        <p:spPr>
          <a:xfrm xmlns:a="http://schemas.openxmlformats.org/drawingml/2006/main">
            <a:off x="695325" y="644842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123F49"/>
                </a:solidFill>
                <a:latin typeface="Avenir Next"/>
                <a:ea typeface="Avenir Next"/>
                <a:cs typeface="Avenir Next"/>
              </a:defRPr>
            </a:pPr>
            <a:r>
              <a:rPr sz="975" b="0" i="0">
                <a:solidFill>
                  <a:srgbClr val="123F49"/>
                </a:solidFill>
                <a:latin typeface="Avenir Next"/>
                <a:ea typeface="Avenir Next"/>
                <a:cs typeface="Avenir Next"/>
              </a:rPr>
              <a:t>LLM: evidence-backed summary</a:t>
            </a:r>
          </a:p>
        </p:txBody>
      </p:sp>
      <p:sp>
        <p:nvSpPr>
          <p:cNvPr id="33" name="">
            <a:extLst xmlns:a="http://schemas.openxmlformats.org/drawingml/2006/main">
              <a:ext uri="{FF2B5EF4-FFF2-40B4-BE49-F238E27FC236}">
                <a16:creationId xmlns:a16="http://schemas.microsoft.com/office/drawing/2014/main" id="{709C241D-824C-476D-8D91-E28601AC6B76}"/>
              </a:ext>
            </a:extLst>
          </p:cNvPr>
          <p:cNvSpPr>
            <a:spLocks xmlns:a="http://schemas.openxmlformats.org/drawingml/2006/main" noGrp="1"/>
          </p:cNvSpPr>
          <p:nvPr/>
        </p:nvSpPr>
        <p:spPr>
          <a:xfrm xmlns:a="http://schemas.openxmlformats.org/drawingml/2006/main">
            <a:off x="3524250" y="64293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Agent: scoped retrieval and citation checks</a:t>
            </a:r>
          </a:p>
        </p:txBody>
      </p:sp>
      <p:sp>
        <p:nvSpPr>
          <p:cNvPr id="34" name="">
            <a:extLst xmlns:a="http://schemas.openxmlformats.org/drawingml/2006/main">
              <a:ext uri="{FF2B5EF4-FFF2-40B4-BE49-F238E27FC236}">
                <a16:creationId xmlns:a16="http://schemas.microsoft.com/office/drawing/2014/main" id="{B4FC777B-BE7A-423F-9CA2-4995AEDBA9F8}"/>
              </a:ext>
            </a:extLst>
          </p:cNvPr>
          <p:cNvSpPr>
            <a:spLocks xmlns:a="http://schemas.openxmlformats.org/drawingml/2006/main" noGrp="1"/>
          </p:cNvSpPr>
          <p:nvPr/>
        </p:nvSpPr>
        <p:spPr>
          <a:xfrm xmlns:a="http://schemas.openxmlformats.org/drawingml/2006/main">
            <a:off x="6953250" y="3048000"/>
            <a:ext cx="6143625" cy="838200"/>
          </a:xfrm>
          <a:prstGeom xmlns:a="http://schemas.openxmlformats.org/drawingml/2006/main" prst="roundRect">
            <a:avLst>
              <a:gd name="adj" fmla="val 13636"/>
            </a:avLst>
          </a:prstGeom>
          <a:solidFill xmlns:a="http://schemas.openxmlformats.org/drawingml/2006/main">
            <a:srgbClr val="F7FCFA"/>
          </a:solidFill>
          <a:ln xmlns:a="http://schemas.openxmlformats.org/drawingml/2006/main" w="9525">
            <a:solidFill>
              <a:srgbClr val="B8D6D5"/>
            </a:solidFill>
          </a:ln>
        </p:spPr>
      </p:sp>
      <p:sp>
        <p:nvSpPr>
          <p:cNvPr id="35" name="">
            <a:extLst xmlns:a="http://schemas.openxmlformats.org/drawingml/2006/main">
              <a:ext uri="{FF2B5EF4-FFF2-40B4-BE49-F238E27FC236}">
                <a16:creationId xmlns:a16="http://schemas.microsoft.com/office/drawing/2014/main" id="{904AC44C-3FFA-47BA-AEEC-DD1C2C45094D}"/>
              </a:ext>
            </a:extLst>
          </p:cNvPr>
          <p:cNvSpPr>
            <a:spLocks xmlns:a="http://schemas.openxmlformats.org/drawingml/2006/main" noGrp="1"/>
          </p:cNvSpPr>
          <p:nvPr/>
        </p:nvSpPr>
        <p:spPr>
          <a:xfrm xmlns:a="http://schemas.openxmlformats.org/drawingml/2006/main">
            <a:off x="7124700" y="317182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Adaptive care-plan builder</a:t>
            </a:r>
          </a:p>
        </p:txBody>
      </p:sp>
      <p:sp>
        <p:nvSpPr>
          <p:cNvPr id="36" name="">
            <a:extLst xmlns:a="http://schemas.openxmlformats.org/drawingml/2006/main">
              <a:ext uri="{FF2B5EF4-FFF2-40B4-BE49-F238E27FC236}">
                <a16:creationId xmlns:a16="http://schemas.microsoft.com/office/drawing/2014/main" id="{B27C5398-0E1B-4B36-816A-EE8F3139A038}"/>
              </a:ext>
            </a:extLst>
          </p:cNvPr>
          <p:cNvSpPr>
            <a:spLocks xmlns:a="http://schemas.openxmlformats.org/drawingml/2006/main" noGrp="1"/>
          </p:cNvSpPr>
          <p:nvPr/>
        </p:nvSpPr>
        <p:spPr>
          <a:xfrm xmlns:a="http://schemas.openxmlformats.org/drawingml/2006/main">
            <a:off x="10429875" y="3124200"/>
            <a:ext cx="2457450" cy="333375"/>
          </a:xfrm>
          <a:prstGeom xmlns:a="http://schemas.openxmlformats.org/drawingml/2006/main" prst="roundRect">
            <a:avLst>
              <a:gd name="adj" fmla="val 45714"/>
            </a:avLst>
          </a:prstGeom>
          <a:solidFill xmlns:a="http://schemas.openxmlformats.org/drawingml/2006/main">
            <a:srgbClr val="FFD6BA"/>
          </a:solidFill>
          <a:ln xmlns:a="http://schemas.openxmlformats.org/drawingml/2006/main" w="9525">
            <a:solidFill>
              <a:srgbClr val="E9A777"/>
            </a:solidFill>
          </a:ln>
        </p:spPr>
      </p:sp>
      <p:sp>
        <p:nvSpPr>
          <p:cNvPr id="37" name="">
            <a:extLst xmlns:a="http://schemas.openxmlformats.org/drawingml/2006/main">
              <a:ext uri="{FF2B5EF4-FFF2-40B4-BE49-F238E27FC236}">
                <a16:creationId xmlns:a16="http://schemas.microsoft.com/office/drawing/2014/main" id="{2FF48340-2C2F-4A8C-9184-D03B9E709EED}"/>
              </a:ext>
            </a:extLst>
          </p:cNvPr>
          <p:cNvSpPr>
            <a:spLocks xmlns:a="http://schemas.openxmlformats.org/drawingml/2006/main" noGrp="1"/>
          </p:cNvSpPr>
          <p:nvPr/>
        </p:nvSpPr>
        <p:spPr>
          <a:xfrm xmlns:a="http://schemas.openxmlformats.org/drawingml/2006/main">
            <a:off x="10525125" y="3181350"/>
            <a:ext cx="2266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ctr">
              <a:defRPr sz="1125" b="1" i="0">
                <a:solidFill>
                  <a:srgbClr val="173F31"/>
                </a:solidFill>
                <a:latin typeface="Avenir Next"/>
                <a:ea typeface="Avenir Next"/>
                <a:cs typeface="Avenir Next"/>
              </a:defRPr>
            </a:pPr>
            <a:r>
              <a:rPr sz="1125" b="1" i="0">
                <a:solidFill>
                  <a:srgbClr val="173F31"/>
                </a:solidFill>
                <a:latin typeface="Avenir Next"/>
                <a:ea typeface="Avenir Next"/>
                <a:cs typeface="Avenir Next"/>
              </a:rPr>
              <a:t>LLM PLANNING</a:t>
            </a:r>
          </a:p>
        </p:txBody>
      </p:sp>
      <p:sp>
        <p:nvSpPr>
          <p:cNvPr id="38" name="">
            <a:extLst xmlns:a="http://schemas.openxmlformats.org/drawingml/2006/main">
              <a:ext uri="{FF2B5EF4-FFF2-40B4-BE49-F238E27FC236}">
                <a16:creationId xmlns:a16="http://schemas.microsoft.com/office/drawing/2014/main" id="{F8D11EAE-6D6D-424D-88B3-C22819280219}"/>
              </a:ext>
            </a:extLst>
          </p:cNvPr>
          <p:cNvSpPr>
            <a:spLocks xmlns:a="http://schemas.openxmlformats.org/drawingml/2006/main" noGrp="1"/>
          </p:cNvSpPr>
          <p:nvPr/>
        </p:nvSpPr>
        <p:spPr>
          <a:xfrm xmlns:a="http://schemas.openxmlformats.org/drawingml/2006/main">
            <a:off x="7124700" y="3505200"/>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123F49"/>
                </a:solidFill>
                <a:latin typeface="Avenir Next"/>
                <a:ea typeface="Avenir Next"/>
                <a:cs typeface="Avenir Next"/>
              </a:defRPr>
            </a:pPr>
            <a:r>
              <a:rPr sz="975" b="0" i="0">
                <a:solidFill>
                  <a:srgbClr val="123F49"/>
                </a:solidFill>
                <a:latin typeface="Avenir Next"/>
                <a:ea typeface="Avenir Next"/>
                <a:cs typeface="Avenir Next"/>
              </a:rPr>
              <a:t>LLM: propose plan and missing details</a:t>
            </a:r>
          </a:p>
        </p:txBody>
      </p:sp>
      <p:sp>
        <p:nvSpPr>
          <p:cNvPr id="39" name="">
            <a:extLst xmlns:a="http://schemas.openxmlformats.org/drawingml/2006/main">
              <a:ext uri="{FF2B5EF4-FFF2-40B4-BE49-F238E27FC236}">
                <a16:creationId xmlns:a16="http://schemas.microsoft.com/office/drawing/2014/main" id="{2EF40F5F-4FC6-4427-AB3F-534817531F9D}"/>
              </a:ext>
            </a:extLst>
          </p:cNvPr>
          <p:cNvSpPr>
            <a:spLocks xmlns:a="http://schemas.openxmlformats.org/drawingml/2006/main" noGrp="1"/>
          </p:cNvSpPr>
          <p:nvPr/>
        </p:nvSpPr>
        <p:spPr>
          <a:xfrm xmlns:a="http://schemas.openxmlformats.org/drawingml/2006/main">
            <a:off x="9953625" y="3486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Agent: isolate, validate, approve, create tasks</a:t>
            </a:r>
          </a:p>
        </p:txBody>
      </p:sp>
      <p:sp>
        <p:nvSpPr>
          <p:cNvPr id="40" name="">
            <a:extLst xmlns:a="http://schemas.openxmlformats.org/drawingml/2006/main">
              <a:ext uri="{FF2B5EF4-FFF2-40B4-BE49-F238E27FC236}">
                <a16:creationId xmlns:a16="http://schemas.microsoft.com/office/drawing/2014/main" id="{5D1D73EA-A269-48BD-9D85-342C12D42AB3}"/>
              </a:ext>
            </a:extLst>
          </p:cNvPr>
          <p:cNvSpPr>
            <a:spLocks xmlns:a="http://schemas.openxmlformats.org/drawingml/2006/main" noGrp="1"/>
          </p:cNvSpPr>
          <p:nvPr/>
        </p:nvSpPr>
        <p:spPr>
          <a:xfrm xmlns:a="http://schemas.openxmlformats.org/drawingml/2006/main">
            <a:off x="6953250" y="4029075"/>
            <a:ext cx="6143625"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B8D6D5"/>
            </a:solidFill>
          </a:ln>
        </p:spPr>
      </p:sp>
      <p:sp>
        <p:nvSpPr>
          <p:cNvPr id="41" name="">
            <a:extLst xmlns:a="http://schemas.openxmlformats.org/drawingml/2006/main">
              <a:ext uri="{FF2B5EF4-FFF2-40B4-BE49-F238E27FC236}">
                <a16:creationId xmlns:a16="http://schemas.microsoft.com/office/drawing/2014/main" id="{51BE8034-0EDA-4DDD-BC47-956D2865C66E}"/>
              </a:ext>
            </a:extLst>
          </p:cNvPr>
          <p:cNvSpPr>
            <a:spLocks xmlns:a="http://schemas.openxmlformats.org/drawingml/2006/main" noGrp="1"/>
          </p:cNvSpPr>
          <p:nvPr/>
        </p:nvSpPr>
        <p:spPr>
          <a:xfrm xmlns:a="http://schemas.openxmlformats.org/drawingml/2006/main">
            <a:off x="7124700" y="41529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Communication composer</a:t>
            </a:r>
          </a:p>
        </p:txBody>
      </p:sp>
      <p:sp>
        <p:nvSpPr>
          <p:cNvPr id="42" name="">
            <a:extLst xmlns:a="http://schemas.openxmlformats.org/drawingml/2006/main">
              <a:ext uri="{FF2B5EF4-FFF2-40B4-BE49-F238E27FC236}">
                <a16:creationId xmlns:a16="http://schemas.microsoft.com/office/drawing/2014/main" id="{3158FC2C-044C-45C4-9488-70F22E351855}"/>
              </a:ext>
            </a:extLst>
          </p:cNvPr>
          <p:cNvSpPr>
            <a:spLocks xmlns:a="http://schemas.openxmlformats.org/drawingml/2006/main" noGrp="1"/>
          </p:cNvSpPr>
          <p:nvPr/>
        </p:nvSpPr>
        <p:spPr>
          <a:xfrm xmlns:a="http://schemas.openxmlformats.org/drawingml/2006/main">
            <a:off x="10429875" y="4105275"/>
            <a:ext cx="2457450" cy="333375"/>
          </a:xfrm>
          <a:prstGeom xmlns:a="http://schemas.openxmlformats.org/drawingml/2006/main" prst="roundRect">
            <a:avLst>
              <a:gd name="adj" fmla="val 45714"/>
            </a:avLst>
          </a:prstGeom>
          <a:solidFill xmlns:a="http://schemas.openxmlformats.org/drawingml/2006/main">
            <a:srgbClr val="FFD6BA"/>
          </a:solidFill>
          <a:ln xmlns:a="http://schemas.openxmlformats.org/drawingml/2006/main" w="9525">
            <a:solidFill>
              <a:srgbClr val="E9A777"/>
            </a:solidFill>
          </a:ln>
        </p:spPr>
      </p:sp>
      <p:sp>
        <p:nvSpPr>
          <p:cNvPr id="43" name="">
            <a:extLst xmlns:a="http://schemas.openxmlformats.org/drawingml/2006/main">
              <a:ext uri="{FF2B5EF4-FFF2-40B4-BE49-F238E27FC236}">
                <a16:creationId xmlns:a16="http://schemas.microsoft.com/office/drawing/2014/main" id="{5AF7636B-C6F8-4463-87FE-64FF427B7B7D}"/>
              </a:ext>
            </a:extLst>
          </p:cNvPr>
          <p:cNvSpPr>
            <a:spLocks xmlns:a="http://schemas.openxmlformats.org/drawingml/2006/main" noGrp="1"/>
          </p:cNvSpPr>
          <p:nvPr/>
        </p:nvSpPr>
        <p:spPr>
          <a:xfrm xmlns:a="http://schemas.openxmlformats.org/drawingml/2006/main">
            <a:off x="10525125" y="4162425"/>
            <a:ext cx="2266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ctr">
              <a:defRPr sz="1125" b="1" i="0">
                <a:solidFill>
                  <a:srgbClr val="173F31"/>
                </a:solidFill>
                <a:latin typeface="Avenir Next"/>
                <a:ea typeface="Avenir Next"/>
                <a:cs typeface="Avenir Next"/>
              </a:defRPr>
            </a:pPr>
            <a:r>
              <a:rPr sz="1125" b="1" i="0">
                <a:solidFill>
                  <a:srgbClr val="173F31"/>
                </a:solidFill>
                <a:latin typeface="Avenir Next"/>
                <a:ea typeface="Avenir Next"/>
                <a:cs typeface="Avenir Next"/>
              </a:rPr>
              <a:t>LLM + DELIVERY</a:t>
            </a:r>
          </a:p>
        </p:txBody>
      </p:sp>
      <p:sp>
        <p:nvSpPr>
          <p:cNvPr id="44" name="">
            <a:extLst xmlns:a="http://schemas.openxmlformats.org/drawingml/2006/main">
              <a:ext uri="{FF2B5EF4-FFF2-40B4-BE49-F238E27FC236}">
                <a16:creationId xmlns:a16="http://schemas.microsoft.com/office/drawing/2014/main" id="{0529B35A-1E16-42B0-AB98-EC9EB3669E4A}"/>
              </a:ext>
            </a:extLst>
          </p:cNvPr>
          <p:cNvSpPr>
            <a:spLocks xmlns:a="http://schemas.openxmlformats.org/drawingml/2006/main" noGrp="1"/>
          </p:cNvSpPr>
          <p:nvPr/>
        </p:nvSpPr>
        <p:spPr>
          <a:xfrm xmlns:a="http://schemas.openxmlformats.org/drawingml/2006/main">
            <a:off x="7124700" y="448627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123F49"/>
                </a:solidFill>
                <a:latin typeface="Avenir Next"/>
                <a:ea typeface="Avenir Next"/>
                <a:cs typeface="Avenir Next"/>
              </a:defRPr>
            </a:pPr>
            <a:r>
              <a:rPr sz="975" b="0" i="0">
                <a:solidFill>
                  <a:srgbClr val="123F49"/>
                </a:solidFill>
                <a:latin typeface="Avenir Next"/>
                <a:ea typeface="Avenir Next"/>
                <a:cs typeface="Avenir Next"/>
              </a:rPr>
              <a:t>LLM: draft and adapt tone</a:t>
            </a:r>
          </a:p>
        </p:txBody>
      </p:sp>
      <p:sp>
        <p:nvSpPr>
          <p:cNvPr id="45" name="">
            <a:extLst xmlns:a="http://schemas.openxmlformats.org/drawingml/2006/main">
              <a:ext uri="{FF2B5EF4-FFF2-40B4-BE49-F238E27FC236}">
                <a16:creationId xmlns:a16="http://schemas.microsoft.com/office/drawing/2014/main" id="{B915C815-592B-43F8-A7CF-2C5030C9DC6A}"/>
              </a:ext>
            </a:extLst>
          </p:cNvPr>
          <p:cNvSpPr>
            <a:spLocks xmlns:a="http://schemas.openxmlformats.org/drawingml/2006/main" noGrp="1"/>
          </p:cNvSpPr>
          <p:nvPr/>
        </p:nvSpPr>
        <p:spPr>
          <a:xfrm xmlns:a="http://schemas.openxmlformats.org/drawingml/2006/main">
            <a:off x="9953625" y="44672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Agent: audience, channel, approval, receipt</a:t>
            </a:r>
          </a:p>
        </p:txBody>
      </p:sp>
      <p:sp>
        <p:nvSpPr>
          <p:cNvPr id="46" name="">
            <a:extLst xmlns:a="http://schemas.openxmlformats.org/drawingml/2006/main">
              <a:ext uri="{FF2B5EF4-FFF2-40B4-BE49-F238E27FC236}">
                <a16:creationId xmlns:a16="http://schemas.microsoft.com/office/drawing/2014/main" id="{FB0A8B81-0EF4-4DF6-A93D-E110151BD61C}"/>
              </a:ext>
            </a:extLst>
          </p:cNvPr>
          <p:cNvSpPr>
            <a:spLocks xmlns:a="http://schemas.openxmlformats.org/drawingml/2006/main" noGrp="1"/>
          </p:cNvSpPr>
          <p:nvPr/>
        </p:nvSpPr>
        <p:spPr>
          <a:xfrm xmlns:a="http://schemas.openxmlformats.org/drawingml/2006/main">
            <a:off x="6953250" y="5010150"/>
            <a:ext cx="6143625" cy="838200"/>
          </a:xfrm>
          <a:prstGeom xmlns:a="http://schemas.openxmlformats.org/drawingml/2006/main" prst="roundRect">
            <a:avLst>
              <a:gd name="adj" fmla="val 13636"/>
            </a:avLst>
          </a:prstGeom>
          <a:solidFill xmlns:a="http://schemas.openxmlformats.org/drawingml/2006/main">
            <a:srgbClr val="F7FCFA"/>
          </a:solidFill>
          <a:ln xmlns:a="http://schemas.openxmlformats.org/drawingml/2006/main" w="9525">
            <a:solidFill>
              <a:srgbClr val="B8D6D5"/>
            </a:solidFill>
          </a:ln>
        </p:spPr>
      </p:sp>
      <p:sp>
        <p:nvSpPr>
          <p:cNvPr id="47" name="">
            <a:extLst xmlns:a="http://schemas.openxmlformats.org/drawingml/2006/main">
              <a:ext uri="{FF2B5EF4-FFF2-40B4-BE49-F238E27FC236}">
                <a16:creationId xmlns:a16="http://schemas.microsoft.com/office/drawing/2014/main" id="{A684468A-89BF-418D-9FCB-BE63690DFAB5}"/>
              </a:ext>
            </a:extLst>
          </p:cNvPr>
          <p:cNvSpPr>
            <a:spLocks xmlns:a="http://schemas.openxmlformats.org/drawingml/2006/main" noGrp="1"/>
          </p:cNvSpPr>
          <p:nvPr/>
        </p:nvSpPr>
        <p:spPr>
          <a:xfrm xmlns:a="http://schemas.openxmlformats.org/drawingml/2006/main">
            <a:off x="7124700" y="513397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Document and image intake</a:t>
            </a:r>
          </a:p>
        </p:txBody>
      </p:sp>
      <p:sp>
        <p:nvSpPr>
          <p:cNvPr id="48" name="">
            <a:extLst xmlns:a="http://schemas.openxmlformats.org/drawingml/2006/main">
              <a:ext uri="{FF2B5EF4-FFF2-40B4-BE49-F238E27FC236}">
                <a16:creationId xmlns:a16="http://schemas.microsoft.com/office/drawing/2014/main" id="{F6E411E3-A182-44B3-9600-0F4038FBC34E}"/>
              </a:ext>
            </a:extLst>
          </p:cNvPr>
          <p:cNvSpPr>
            <a:spLocks xmlns:a="http://schemas.openxmlformats.org/drawingml/2006/main" noGrp="1"/>
          </p:cNvSpPr>
          <p:nvPr/>
        </p:nvSpPr>
        <p:spPr>
          <a:xfrm xmlns:a="http://schemas.openxmlformats.org/drawingml/2006/main">
            <a:off x="10429875" y="5086350"/>
            <a:ext cx="2457450" cy="333375"/>
          </a:xfrm>
          <a:prstGeom xmlns:a="http://schemas.openxmlformats.org/drawingml/2006/main" prst="roundRect">
            <a:avLst>
              <a:gd name="adj" fmla="val 45714"/>
            </a:avLst>
          </a:prstGeom>
          <a:solidFill xmlns:a="http://schemas.openxmlformats.org/drawingml/2006/main">
            <a:srgbClr val="FFD6BA"/>
          </a:solidFill>
          <a:ln xmlns:a="http://schemas.openxmlformats.org/drawingml/2006/main" w="9525">
            <a:solidFill>
              <a:srgbClr val="E9A777"/>
            </a:solidFill>
          </a:ln>
        </p:spPr>
      </p:sp>
      <p:sp>
        <p:nvSpPr>
          <p:cNvPr id="49" name="">
            <a:extLst xmlns:a="http://schemas.openxmlformats.org/drawingml/2006/main">
              <a:ext uri="{FF2B5EF4-FFF2-40B4-BE49-F238E27FC236}">
                <a16:creationId xmlns:a16="http://schemas.microsoft.com/office/drawing/2014/main" id="{6B7179F8-07E7-4AED-965C-BD4C5A7DB748}"/>
              </a:ext>
            </a:extLst>
          </p:cNvPr>
          <p:cNvSpPr>
            <a:spLocks xmlns:a="http://schemas.openxmlformats.org/drawingml/2006/main" noGrp="1"/>
          </p:cNvSpPr>
          <p:nvPr/>
        </p:nvSpPr>
        <p:spPr>
          <a:xfrm xmlns:a="http://schemas.openxmlformats.org/drawingml/2006/main">
            <a:off x="10525125" y="5143500"/>
            <a:ext cx="2266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ctr">
              <a:defRPr sz="1125" b="1" i="0">
                <a:solidFill>
                  <a:srgbClr val="173F31"/>
                </a:solidFill>
                <a:latin typeface="Avenir Next"/>
                <a:ea typeface="Avenir Next"/>
                <a:cs typeface="Avenir Next"/>
              </a:defRPr>
            </a:pPr>
            <a:r>
              <a:rPr sz="1125" b="1" i="0">
                <a:solidFill>
                  <a:srgbClr val="173F31"/>
                </a:solidFill>
                <a:latin typeface="Avenir Next"/>
                <a:ea typeface="Avenir Next"/>
                <a:cs typeface="Avenir Next"/>
              </a:rPr>
              <a:t>MULTIMODAL LLM</a:t>
            </a:r>
          </a:p>
        </p:txBody>
      </p:sp>
      <p:sp>
        <p:nvSpPr>
          <p:cNvPr id="50" name="">
            <a:extLst xmlns:a="http://schemas.openxmlformats.org/drawingml/2006/main">
              <a:ext uri="{FF2B5EF4-FFF2-40B4-BE49-F238E27FC236}">
                <a16:creationId xmlns:a16="http://schemas.microsoft.com/office/drawing/2014/main" id="{B4445AA3-5326-4038-A28D-EE63039E8975}"/>
              </a:ext>
            </a:extLst>
          </p:cNvPr>
          <p:cNvSpPr>
            <a:spLocks xmlns:a="http://schemas.openxmlformats.org/drawingml/2006/main" noGrp="1"/>
          </p:cNvSpPr>
          <p:nvPr/>
        </p:nvSpPr>
        <p:spPr>
          <a:xfrm xmlns:a="http://schemas.openxmlformats.org/drawingml/2006/main">
            <a:off x="7124700" y="5467350"/>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123F49"/>
                </a:solidFill>
                <a:latin typeface="Avenir Next"/>
                <a:ea typeface="Avenir Next"/>
                <a:cs typeface="Avenir Next"/>
              </a:defRPr>
            </a:pPr>
            <a:r>
              <a:rPr sz="975" b="0" i="0">
                <a:solidFill>
                  <a:srgbClr val="123F49"/>
                </a:solidFill>
                <a:latin typeface="Avenir Next"/>
                <a:ea typeface="Avenir Next"/>
                <a:cs typeface="Avenir Next"/>
              </a:rPr>
              <a:t>LLM: extract fields and uncertainty</a:t>
            </a:r>
          </a:p>
        </p:txBody>
      </p:sp>
      <p:sp>
        <p:nvSpPr>
          <p:cNvPr id="51" name="">
            <a:extLst xmlns:a="http://schemas.openxmlformats.org/drawingml/2006/main">
              <a:ext uri="{FF2B5EF4-FFF2-40B4-BE49-F238E27FC236}">
                <a16:creationId xmlns:a16="http://schemas.microsoft.com/office/drawing/2014/main" id="{EF428D59-F147-4FAA-AB9D-F05B3B6B57DB}"/>
              </a:ext>
            </a:extLst>
          </p:cNvPr>
          <p:cNvSpPr>
            <a:spLocks xmlns:a="http://schemas.openxmlformats.org/drawingml/2006/main" noGrp="1"/>
          </p:cNvSpPr>
          <p:nvPr/>
        </p:nvSpPr>
        <p:spPr>
          <a:xfrm xmlns:a="http://schemas.openxmlformats.org/drawingml/2006/main">
            <a:off x="9953625" y="54483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Agent: consent, validate, approve, track</a:t>
            </a:r>
          </a:p>
        </p:txBody>
      </p:sp>
      <p:sp>
        <p:nvSpPr>
          <p:cNvPr id="52" name="">
            <a:extLst xmlns:a="http://schemas.openxmlformats.org/drawingml/2006/main">
              <a:ext uri="{FF2B5EF4-FFF2-40B4-BE49-F238E27FC236}">
                <a16:creationId xmlns:a16="http://schemas.microsoft.com/office/drawing/2014/main" id="{9E154CF4-FE5E-4F8F-8FF5-B4F441BD7CC3}"/>
              </a:ext>
            </a:extLst>
          </p:cNvPr>
          <p:cNvSpPr>
            <a:spLocks xmlns:a="http://schemas.openxmlformats.org/drawingml/2006/main" noGrp="1"/>
          </p:cNvSpPr>
          <p:nvPr/>
        </p:nvSpPr>
        <p:spPr>
          <a:xfrm xmlns:a="http://schemas.openxmlformats.org/drawingml/2006/main">
            <a:off x="6953250" y="5991225"/>
            <a:ext cx="6143625"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B8D6D5"/>
            </a:solidFill>
          </a:ln>
        </p:spPr>
      </p:sp>
      <p:sp>
        <p:nvSpPr>
          <p:cNvPr id="53" name="">
            <a:extLst xmlns:a="http://schemas.openxmlformats.org/drawingml/2006/main">
              <a:ext uri="{FF2B5EF4-FFF2-40B4-BE49-F238E27FC236}">
                <a16:creationId xmlns:a16="http://schemas.microsoft.com/office/drawing/2014/main" id="{4950E2A5-87AB-4A8F-B419-E7984808F1BF}"/>
              </a:ext>
            </a:extLst>
          </p:cNvPr>
          <p:cNvSpPr>
            <a:spLocks xmlns:a="http://schemas.openxmlformats.org/drawingml/2006/main" noGrp="1"/>
          </p:cNvSpPr>
          <p:nvPr/>
        </p:nvSpPr>
        <p:spPr>
          <a:xfrm xmlns:a="http://schemas.openxmlformats.org/drawingml/2006/main">
            <a:off x="7124700" y="61150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123F49"/>
                </a:solidFill>
                <a:latin typeface="Avenir Next"/>
                <a:ea typeface="Avenir Next"/>
                <a:cs typeface="Avenir Next"/>
              </a:defRPr>
            </a:pPr>
            <a:r>
              <a:rPr sz="1425" b="1" i="0">
                <a:solidFill>
                  <a:srgbClr val="123F49"/>
                </a:solidFill>
                <a:latin typeface="Avenir Next"/>
                <a:ea typeface="Avenir Next"/>
                <a:cs typeface="Avenir Next"/>
              </a:rPr>
              <a:t>Risk checks and memory</a:t>
            </a:r>
          </a:p>
        </p:txBody>
      </p:sp>
      <p:sp>
        <p:nvSpPr>
          <p:cNvPr id="54" name="">
            <a:extLst xmlns:a="http://schemas.openxmlformats.org/drawingml/2006/main">
              <a:ext uri="{FF2B5EF4-FFF2-40B4-BE49-F238E27FC236}">
                <a16:creationId xmlns:a16="http://schemas.microsoft.com/office/drawing/2014/main" id="{BE04DA30-2E84-4029-9C22-6D51AF47B968}"/>
              </a:ext>
            </a:extLst>
          </p:cNvPr>
          <p:cNvSpPr>
            <a:spLocks xmlns:a="http://schemas.openxmlformats.org/drawingml/2006/main" noGrp="1"/>
          </p:cNvSpPr>
          <p:nvPr/>
        </p:nvSpPr>
        <p:spPr>
          <a:xfrm xmlns:a="http://schemas.openxmlformats.org/drawingml/2006/main">
            <a:off x="10429875" y="6067425"/>
            <a:ext cx="2457450" cy="333375"/>
          </a:xfrm>
          <a:prstGeom xmlns:a="http://schemas.openxmlformats.org/drawingml/2006/main" prst="roundRect">
            <a:avLst>
              <a:gd name="adj" fmla="val 45714"/>
            </a:avLst>
          </a:prstGeom>
          <a:solidFill xmlns:a="http://schemas.openxmlformats.org/drawingml/2006/main">
            <a:srgbClr val="FFD6BA"/>
          </a:solidFill>
          <a:ln xmlns:a="http://schemas.openxmlformats.org/drawingml/2006/main" w="9525">
            <a:solidFill>
              <a:srgbClr val="E9A777"/>
            </a:solidFill>
          </a:ln>
        </p:spPr>
      </p:sp>
      <p:sp>
        <p:nvSpPr>
          <p:cNvPr id="55" name="">
            <a:extLst xmlns:a="http://schemas.openxmlformats.org/drawingml/2006/main">
              <a:ext uri="{FF2B5EF4-FFF2-40B4-BE49-F238E27FC236}">
                <a16:creationId xmlns:a16="http://schemas.microsoft.com/office/drawing/2014/main" id="{206D6C97-A127-48BF-B375-7A363C5E8277}"/>
              </a:ext>
            </a:extLst>
          </p:cNvPr>
          <p:cNvSpPr>
            <a:spLocks xmlns:a="http://schemas.openxmlformats.org/drawingml/2006/main" noGrp="1"/>
          </p:cNvSpPr>
          <p:nvPr/>
        </p:nvSpPr>
        <p:spPr>
          <a:xfrm xmlns:a="http://schemas.openxmlformats.org/drawingml/2006/main">
            <a:off x="10525125" y="6124575"/>
            <a:ext cx="2266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ctr">
              <a:defRPr sz="1125" b="1" i="0">
                <a:solidFill>
                  <a:srgbClr val="173F31"/>
                </a:solidFill>
                <a:latin typeface="Avenir Next"/>
                <a:ea typeface="Avenir Next"/>
                <a:cs typeface="Avenir Next"/>
              </a:defRPr>
            </a:pPr>
            <a:r>
              <a:rPr sz="1125" b="1" i="0">
                <a:solidFill>
                  <a:srgbClr val="173F31"/>
                </a:solidFill>
                <a:latin typeface="Avenir Next"/>
                <a:ea typeface="Avenir Next"/>
                <a:cs typeface="Avenir Next"/>
              </a:rPr>
              <a:t>DETERMINISTIC AGENT</a:t>
            </a:r>
          </a:p>
        </p:txBody>
      </p:sp>
      <p:sp>
        <p:nvSpPr>
          <p:cNvPr id="56" name="">
            <a:extLst xmlns:a="http://schemas.openxmlformats.org/drawingml/2006/main">
              <a:ext uri="{FF2B5EF4-FFF2-40B4-BE49-F238E27FC236}">
                <a16:creationId xmlns:a16="http://schemas.microsoft.com/office/drawing/2014/main" id="{91E037DB-D8AE-4830-9314-DEE7B7C418F1}"/>
              </a:ext>
            </a:extLst>
          </p:cNvPr>
          <p:cNvSpPr>
            <a:spLocks xmlns:a="http://schemas.openxmlformats.org/drawingml/2006/main" noGrp="1"/>
          </p:cNvSpPr>
          <p:nvPr/>
        </p:nvSpPr>
        <p:spPr>
          <a:xfrm xmlns:a="http://schemas.openxmlformats.org/drawingml/2006/main">
            <a:off x="7124700" y="644842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123F49"/>
                </a:solidFill>
                <a:latin typeface="Avenir Next"/>
                <a:ea typeface="Avenir Next"/>
                <a:cs typeface="Avenir Next"/>
              </a:defRPr>
            </a:pPr>
            <a:r>
              <a:rPr sz="975" b="0" i="0">
                <a:solidFill>
                  <a:srgbClr val="123F49"/>
                </a:solidFill>
                <a:latin typeface="Avenir Next"/>
                <a:ea typeface="Avenir Next"/>
                <a:cs typeface="Avenir Next"/>
              </a:rPr>
              <a:t>LLM: optional explanation</a:t>
            </a:r>
          </a:p>
        </p:txBody>
      </p:sp>
      <p:sp>
        <p:nvSpPr>
          <p:cNvPr id="57" name="">
            <a:extLst xmlns:a="http://schemas.openxmlformats.org/drawingml/2006/main">
              <a:ext uri="{FF2B5EF4-FFF2-40B4-BE49-F238E27FC236}">
                <a16:creationId xmlns:a16="http://schemas.microsoft.com/office/drawing/2014/main" id="{CB16883D-B81E-46D1-9D79-52363708FAED}"/>
              </a:ext>
            </a:extLst>
          </p:cNvPr>
          <p:cNvSpPr>
            <a:spLocks xmlns:a="http://schemas.openxmlformats.org/drawingml/2006/main" noGrp="1"/>
          </p:cNvSpPr>
          <p:nvPr/>
        </p:nvSpPr>
        <p:spPr>
          <a:xfrm xmlns:a="http://schemas.openxmlformats.org/drawingml/2006/main">
            <a:off x="9953625" y="64293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75" b="0" i="0">
                <a:solidFill>
                  <a:srgbClr val="536870"/>
                </a:solidFill>
                <a:latin typeface="Avenir Next"/>
                <a:ea typeface="Avenir Next"/>
                <a:cs typeface="Avenir Next"/>
              </a:defRPr>
            </a:pPr>
            <a:r>
              <a:rPr sz="975" b="0" i="0">
                <a:solidFill>
                  <a:srgbClr val="536870"/>
                </a:solidFill>
                <a:latin typeface="Avenir Next"/>
                <a:ea typeface="Avenir Next"/>
                <a:cs typeface="Avenir Next"/>
              </a:rPr>
              <a:t>Agent: rules, retrieval, policy, traces</a:t>
            </a:r>
          </a:p>
        </p:txBody>
      </p:sp>
    </p:spTree>
    <p:extLst>
      <p:ext uri="{BB962C8B-B14F-4D97-AF65-F5344CB8AC3E}">
        <p14:creationId xmlns:p14="http://schemas.microsoft.com/office/powerpoint/2010/main" val="347619680"/>
      </p:ext>
    </p:extLst>
  </p:cSld>
</p:sld>
</file>

<file path=ppt/slides/slide9.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10E4112-CD1F-4E1D-B94E-9F09E2B029A5}"/>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8FC4B9-62F7-4782-ADEB-B47E33CF3BB8}"/>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A3470E04-6160-425E-B080-F3D360E587AF}"/>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CECB1E39-21FD-4553-AAB3-507AD5972CB4}"/>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GROUNDED CHAT · REVIEWABLE ACTIONS</a:t>
            </a:r>
          </a:p>
        </p:txBody>
      </p:sp>
      <p:sp>
        <p:nvSpPr>
          <p:cNvPr id="5" name="">
            <a:extLst xmlns:a="http://schemas.openxmlformats.org/drawingml/2006/main">
              <a:ext uri="{FF2B5EF4-FFF2-40B4-BE49-F238E27FC236}">
                <a16:creationId xmlns:a16="http://schemas.microsoft.com/office/drawing/2014/main" id="{6B9C51BF-3D06-4954-829A-DB222B3A3B14}"/>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804972A9-A0B4-4226-A693-F4493BF88FA2}"/>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09 / 16</a:t>
            </a:r>
          </a:p>
        </p:txBody>
      </p:sp>
      <p:sp>
        <p:nvSpPr>
          <p:cNvPr id="7" name="">
            <a:extLst xmlns:a="http://schemas.openxmlformats.org/drawingml/2006/main">
              <a:ext uri="{FF2B5EF4-FFF2-40B4-BE49-F238E27FC236}">
                <a16:creationId xmlns:a16="http://schemas.microsoft.com/office/drawing/2014/main" id="{70837F74-4422-4EEA-961D-725E260DE9BB}"/>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PROTOTYPE USABILITY</a:t>
            </a:r>
          </a:p>
        </p:txBody>
      </p:sp>
      <p:sp>
        <p:nvSpPr>
          <p:cNvPr id="8" name="">
            <a:extLst xmlns:a="http://schemas.openxmlformats.org/drawingml/2006/main">
              <a:ext uri="{FF2B5EF4-FFF2-40B4-BE49-F238E27FC236}">
                <a16:creationId xmlns:a16="http://schemas.microsoft.com/office/drawing/2014/main" id="{AEFCAB60-14F1-4A7F-B518-D2C1379183F9}"/>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Ask naturally. See the evidence.</a:t>
            </a:r>
          </a:p>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Approve the exact next step.</a:t>
            </a:r>
          </a:p>
        </p:txBody>
      </p:sp>
      <p:sp>
        <p:nvSpPr>
          <p:cNvPr id="9" name="">
            <a:extLst xmlns:a="http://schemas.openxmlformats.org/drawingml/2006/main">
              <a:ext uri="{FF2B5EF4-FFF2-40B4-BE49-F238E27FC236}">
                <a16:creationId xmlns:a16="http://schemas.microsoft.com/office/drawing/2014/main" id="{826AD44E-BD4D-4352-BE69-A32749DA9C08}"/>
              </a:ext>
            </a:extLst>
          </p:cNvPr>
          <p:cNvSpPr>
            <a:spLocks xmlns:a="http://schemas.openxmlformats.org/drawingml/2006/main" noGrp="1"/>
          </p:cNvSpPr>
          <p:nvPr/>
        </p:nvSpPr>
        <p:spPr>
          <a:xfrm xmlns:a="http://schemas.openxmlformats.org/drawingml/2006/main">
            <a:off x="609600" y="3190875"/>
            <a:ext cx="6238875" cy="990600"/>
          </a:xfrm>
          <a:prstGeom xmlns:a="http://schemas.openxmlformats.org/drawingml/2006/main" prst="roundRect">
            <a:avLst>
              <a:gd name="adj" fmla="val 13462"/>
            </a:avLst>
          </a:prstGeom>
          <a:solidFill xmlns:a="http://schemas.openxmlformats.org/drawingml/2006/main">
            <a:srgbClr val="FFFFFF"/>
          </a:solidFill>
          <a:ln xmlns:a="http://schemas.openxmlformats.org/drawingml/2006/main" w="9525">
            <a:solidFill>
              <a:srgbClr val="B8D6D5"/>
            </a:solidFill>
          </a:ln>
        </p:spPr>
      </p:sp>
      <p:sp>
        <p:nvSpPr>
          <p:cNvPr id="10" name="">
            <a:extLst xmlns:a="http://schemas.openxmlformats.org/drawingml/2006/main">
              <a:ext uri="{FF2B5EF4-FFF2-40B4-BE49-F238E27FC236}">
                <a16:creationId xmlns:a16="http://schemas.microsoft.com/office/drawing/2014/main" id="{6FE632EC-D832-4DFA-8BCE-EA879A6CF352}"/>
              </a:ext>
            </a:extLst>
          </p:cNvPr>
          <p:cNvSpPr>
            <a:spLocks xmlns:a="http://schemas.openxmlformats.org/drawingml/2006/main" noGrp="1"/>
          </p:cNvSpPr>
          <p:nvPr/>
        </p:nvSpPr>
        <p:spPr>
          <a:xfrm xmlns:a="http://schemas.openxmlformats.org/drawingml/2006/main">
            <a:off x="800100" y="3362325"/>
            <a:ext cx="342900" cy="34290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A90F8FE-72B7-4084-AC31-6E349ED7785A}"/>
              </a:ext>
            </a:extLst>
          </p:cNvPr>
          <p:cNvSpPr>
            <a:spLocks xmlns:a="http://schemas.openxmlformats.org/drawingml/2006/main" noGrp="1"/>
          </p:cNvSpPr>
          <p:nvPr/>
        </p:nvSpPr>
        <p:spPr>
          <a:xfrm xmlns:a="http://schemas.openxmlformats.org/drawingml/2006/main">
            <a:off x="800100" y="338137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ctr">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1</a:t>
            </a:r>
          </a:p>
        </p:txBody>
      </p:sp>
      <p:sp>
        <p:nvSpPr>
          <p:cNvPr id="12" name="">
            <a:extLst xmlns:a="http://schemas.openxmlformats.org/drawingml/2006/main">
              <a:ext uri="{FF2B5EF4-FFF2-40B4-BE49-F238E27FC236}">
                <a16:creationId xmlns:a16="http://schemas.microsoft.com/office/drawing/2014/main" id="{D3F1EB16-3F16-41E7-BBC8-4CC191D538FE}"/>
              </a:ext>
            </a:extLst>
          </p:cNvPr>
          <p:cNvSpPr>
            <a:spLocks xmlns:a="http://schemas.openxmlformats.org/drawingml/2006/main" noGrp="1"/>
          </p:cNvSpPr>
          <p:nvPr/>
        </p:nvSpPr>
        <p:spPr>
          <a:xfrm xmlns:a="http://schemas.openxmlformats.org/drawingml/2006/main">
            <a:off x="1276350" y="3362325"/>
            <a:ext cx="540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lgn="l">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Grounded answer</a:t>
            </a:r>
          </a:p>
        </p:txBody>
      </p:sp>
      <p:sp>
        <p:nvSpPr>
          <p:cNvPr id="13" name="">
            <a:extLst xmlns:a="http://schemas.openxmlformats.org/drawingml/2006/main">
              <a:ext uri="{FF2B5EF4-FFF2-40B4-BE49-F238E27FC236}">
                <a16:creationId xmlns:a16="http://schemas.microsoft.com/office/drawing/2014/main" id="{23E7D4F6-F42C-44D5-B923-967861B37562}"/>
              </a:ext>
            </a:extLst>
          </p:cNvPr>
          <p:cNvSpPr>
            <a:spLocks xmlns:a="http://schemas.openxmlformats.org/drawingml/2006/main" noGrp="1"/>
          </p:cNvSpPr>
          <p:nvPr/>
        </p:nvSpPr>
        <p:spPr>
          <a:xfrm xmlns:a="http://schemas.openxmlformats.org/drawingml/2006/main">
            <a:off x="1276350" y="3743325"/>
            <a:ext cx="540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303"/>
          </a:bodyPr>
          <a:lstStyle xmlns:a="http://schemas.openxmlformats.org/drawingml/2006/main"/>
          <a:p xmlns:a="http://schemas.openxmlformats.org/drawingml/2006/main">
            <a:pPr algn="l">
              <a:defRPr sz="1275" b="0" i="0">
                <a:solidFill>
                  <a:srgbClr val="536870"/>
                </a:solidFill>
                <a:latin typeface="Avenir Next"/>
                <a:ea typeface="Avenir Next"/>
                <a:cs typeface="Avenir Next"/>
              </a:defRPr>
            </a:pPr>
            <a:r>
              <a:rPr sz="1275" b="0" i="0">
                <a:solidFill>
                  <a:srgbClr val="536870"/>
                </a:solidFill>
                <a:latin typeface="Avenir Next"/>
                <a:ea typeface="Avenir Next"/>
                <a:cs typeface="Avenir Next"/>
              </a:rPr>
              <a:t>The LLM answers from the selected person’s current records and returns evidence IDs.</a:t>
            </a:r>
          </a:p>
        </p:txBody>
      </p:sp>
      <p:sp>
        <p:nvSpPr>
          <p:cNvPr id="14" name="">
            <a:extLst xmlns:a="http://schemas.openxmlformats.org/drawingml/2006/main">
              <a:ext uri="{FF2B5EF4-FFF2-40B4-BE49-F238E27FC236}">
                <a16:creationId xmlns:a16="http://schemas.microsoft.com/office/drawing/2014/main" id="{4E31851B-9188-48AE-BADB-85A841864CCA}"/>
              </a:ext>
            </a:extLst>
          </p:cNvPr>
          <p:cNvSpPr>
            <a:spLocks xmlns:a="http://schemas.openxmlformats.org/drawingml/2006/main" noGrp="1"/>
          </p:cNvSpPr>
          <p:nvPr/>
        </p:nvSpPr>
        <p:spPr>
          <a:xfrm xmlns:a="http://schemas.openxmlformats.org/drawingml/2006/main">
            <a:off x="609600" y="4352925"/>
            <a:ext cx="6238875" cy="990600"/>
          </a:xfrm>
          <a:prstGeom xmlns:a="http://schemas.openxmlformats.org/drawingml/2006/main" prst="roundRect">
            <a:avLst>
              <a:gd name="adj" fmla="val 13462"/>
            </a:avLst>
          </a:prstGeom>
          <a:solidFill xmlns:a="http://schemas.openxmlformats.org/drawingml/2006/main">
            <a:srgbClr val="FFD1AF"/>
          </a:solidFill>
          <a:ln xmlns:a="http://schemas.openxmlformats.org/drawingml/2006/main" w="9525">
            <a:solidFill>
              <a:srgbClr val="B8D6D5"/>
            </a:solidFill>
          </a:ln>
        </p:spPr>
      </p:sp>
      <p:sp>
        <p:nvSpPr>
          <p:cNvPr id="15" name="">
            <a:extLst xmlns:a="http://schemas.openxmlformats.org/drawingml/2006/main">
              <a:ext uri="{FF2B5EF4-FFF2-40B4-BE49-F238E27FC236}">
                <a16:creationId xmlns:a16="http://schemas.microsoft.com/office/drawing/2014/main" id="{36B09C23-398E-4B76-96D4-F92CEF742D40}"/>
              </a:ext>
            </a:extLst>
          </p:cNvPr>
          <p:cNvSpPr>
            <a:spLocks xmlns:a="http://schemas.openxmlformats.org/drawingml/2006/main" noGrp="1"/>
          </p:cNvSpPr>
          <p:nvPr/>
        </p:nvSpPr>
        <p:spPr>
          <a:xfrm xmlns:a="http://schemas.openxmlformats.org/drawingml/2006/main">
            <a:off x="800100" y="4524375"/>
            <a:ext cx="342900" cy="34290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7B3E035-CEFD-4742-AAAE-6BE28E191D71}"/>
              </a:ext>
            </a:extLst>
          </p:cNvPr>
          <p:cNvSpPr>
            <a:spLocks xmlns:a="http://schemas.openxmlformats.org/drawingml/2006/main" noGrp="1"/>
          </p:cNvSpPr>
          <p:nvPr/>
        </p:nvSpPr>
        <p:spPr>
          <a:xfrm xmlns:a="http://schemas.openxmlformats.org/drawingml/2006/main">
            <a:off x="800100" y="45434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ctr">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2</a:t>
            </a:r>
          </a:p>
        </p:txBody>
      </p:sp>
      <p:sp>
        <p:nvSpPr>
          <p:cNvPr id="17" name="">
            <a:extLst xmlns:a="http://schemas.openxmlformats.org/drawingml/2006/main">
              <a:ext uri="{FF2B5EF4-FFF2-40B4-BE49-F238E27FC236}">
                <a16:creationId xmlns:a16="http://schemas.microsoft.com/office/drawing/2014/main" id="{D522027A-AA1E-46FE-84A9-86B1B00E0C37}"/>
              </a:ext>
            </a:extLst>
          </p:cNvPr>
          <p:cNvSpPr>
            <a:spLocks xmlns:a="http://schemas.openxmlformats.org/drawingml/2006/main" noGrp="1"/>
          </p:cNvSpPr>
          <p:nvPr/>
        </p:nvSpPr>
        <p:spPr>
          <a:xfrm xmlns:a="http://schemas.openxmlformats.org/drawingml/2006/main">
            <a:off x="1276350" y="4524375"/>
            <a:ext cx="540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lgn="l">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Action proposal</a:t>
            </a:r>
          </a:p>
        </p:txBody>
      </p:sp>
      <p:sp>
        <p:nvSpPr>
          <p:cNvPr id="18" name="">
            <a:extLst xmlns:a="http://schemas.openxmlformats.org/drawingml/2006/main">
              <a:ext uri="{FF2B5EF4-FFF2-40B4-BE49-F238E27FC236}">
                <a16:creationId xmlns:a16="http://schemas.microsoft.com/office/drawing/2014/main" id="{EE4EDDCD-EED6-4C6A-BC3F-17EC146C7883}"/>
              </a:ext>
            </a:extLst>
          </p:cNvPr>
          <p:cNvSpPr>
            <a:spLocks xmlns:a="http://schemas.openxmlformats.org/drawingml/2006/main" noGrp="1"/>
          </p:cNvSpPr>
          <p:nvPr/>
        </p:nvSpPr>
        <p:spPr>
          <a:xfrm xmlns:a="http://schemas.openxmlformats.org/drawingml/2006/main">
            <a:off x="1276350" y="4905375"/>
            <a:ext cx="540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7"/>
          </a:bodyPr>
          <a:lstStyle xmlns:a="http://schemas.openxmlformats.org/drawingml/2006/main"/>
          <a:p xmlns:a="http://schemas.openxmlformats.org/drawingml/2006/main">
            <a:pPr algn="l">
              <a:defRPr sz="1275" b="0" i="0">
                <a:solidFill>
                  <a:srgbClr val="536870"/>
                </a:solidFill>
                <a:latin typeface="Avenir Next"/>
                <a:ea typeface="Avenir Next"/>
                <a:cs typeface="Avenir Next"/>
              </a:defRPr>
            </a:pPr>
            <a:r>
              <a:rPr sz="1275" b="0" i="0">
                <a:solidFill>
                  <a:srgbClr val="536870"/>
                </a:solidFill>
                <a:latin typeface="Avenir Next"/>
                <a:ea typeface="Avenir Next"/>
                <a:cs typeface="Avenir Next"/>
              </a:rPr>
              <a:t>The orchestrator converts the request into a scoped, validated preview. It does not write immediately.</a:t>
            </a:r>
          </a:p>
        </p:txBody>
      </p:sp>
      <p:sp>
        <p:nvSpPr>
          <p:cNvPr id="19" name="">
            <a:extLst xmlns:a="http://schemas.openxmlformats.org/drawingml/2006/main">
              <a:ext uri="{FF2B5EF4-FFF2-40B4-BE49-F238E27FC236}">
                <a16:creationId xmlns:a16="http://schemas.microsoft.com/office/drawing/2014/main" id="{58FD3803-1103-47E2-A9A9-DB13E81E22B1}"/>
              </a:ext>
            </a:extLst>
          </p:cNvPr>
          <p:cNvSpPr>
            <a:spLocks xmlns:a="http://schemas.openxmlformats.org/drawingml/2006/main" noGrp="1"/>
          </p:cNvSpPr>
          <p:nvPr/>
        </p:nvSpPr>
        <p:spPr>
          <a:xfrm xmlns:a="http://schemas.openxmlformats.org/drawingml/2006/main">
            <a:off x="609600" y="5514975"/>
            <a:ext cx="6238875" cy="990600"/>
          </a:xfrm>
          <a:prstGeom xmlns:a="http://schemas.openxmlformats.org/drawingml/2006/main" prst="roundRect">
            <a:avLst>
              <a:gd name="adj" fmla="val 13462"/>
            </a:avLst>
          </a:prstGeom>
          <a:solidFill xmlns:a="http://schemas.openxmlformats.org/drawingml/2006/main">
            <a:srgbClr val="FFFFFF"/>
          </a:solidFill>
          <a:ln xmlns:a="http://schemas.openxmlformats.org/drawingml/2006/main" w="9525">
            <a:solidFill>
              <a:srgbClr val="B8D6D5"/>
            </a:solidFill>
          </a:ln>
        </p:spPr>
      </p:sp>
      <p:sp>
        <p:nvSpPr>
          <p:cNvPr id="20" name="">
            <a:extLst xmlns:a="http://schemas.openxmlformats.org/drawingml/2006/main">
              <a:ext uri="{FF2B5EF4-FFF2-40B4-BE49-F238E27FC236}">
                <a16:creationId xmlns:a16="http://schemas.microsoft.com/office/drawing/2014/main" id="{D3C68516-8349-4885-9CB2-0A14D6798002}"/>
              </a:ext>
            </a:extLst>
          </p:cNvPr>
          <p:cNvSpPr>
            <a:spLocks xmlns:a="http://schemas.openxmlformats.org/drawingml/2006/main" noGrp="1"/>
          </p:cNvSpPr>
          <p:nvPr/>
        </p:nvSpPr>
        <p:spPr>
          <a:xfrm xmlns:a="http://schemas.openxmlformats.org/drawingml/2006/main">
            <a:off x="800100" y="5686425"/>
            <a:ext cx="342900" cy="34290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775009F-1D6B-44B0-ABD3-8855A3DEAACC}"/>
              </a:ext>
            </a:extLst>
          </p:cNvPr>
          <p:cNvSpPr>
            <a:spLocks xmlns:a="http://schemas.openxmlformats.org/drawingml/2006/main" noGrp="1"/>
          </p:cNvSpPr>
          <p:nvPr/>
        </p:nvSpPr>
        <p:spPr>
          <a:xfrm xmlns:a="http://schemas.openxmlformats.org/drawingml/2006/main">
            <a:off x="800100" y="570547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ctr">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3</a:t>
            </a:r>
          </a:p>
        </p:txBody>
      </p:sp>
      <p:sp>
        <p:nvSpPr>
          <p:cNvPr id="22" name="">
            <a:extLst xmlns:a="http://schemas.openxmlformats.org/drawingml/2006/main">
              <a:ext uri="{FF2B5EF4-FFF2-40B4-BE49-F238E27FC236}">
                <a16:creationId xmlns:a16="http://schemas.microsoft.com/office/drawing/2014/main" id="{28F41370-66F1-430F-958C-86679D89AAD3}"/>
              </a:ext>
            </a:extLst>
          </p:cNvPr>
          <p:cNvSpPr>
            <a:spLocks xmlns:a="http://schemas.openxmlformats.org/drawingml/2006/main" noGrp="1"/>
          </p:cNvSpPr>
          <p:nvPr/>
        </p:nvSpPr>
        <p:spPr>
          <a:xfrm xmlns:a="http://schemas.openxmlformats.org/drawingml/2006/main">
            <a:off x="1276350" y="5686425"/>
            <a:ext cx="540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lgn="l">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Approval + outcome</a:t>
            </a:r>
          </a:p>
        </p:txBody>
      </p:sp>
      <p:sp>
        <p:nvSpPr>
          <p:cNvPr id="23" name="">
            <a:extLst xmlns:a="http://schemas.openxmlformats.org/drawingml/2006/main">
              <a:ext uri="{FF2B5EF4-FFF2-40B4-BE49-F238E27FC236}">
                <a16:creationId xmlns:a16="http://schemas.microsoft.com/office/drawing/2014/main" id="{05C4729C-C326-4804-96C8-E09C76C78547}"/>
              </a:ext>
            </a:extLst>
          </p:cNvPr>
          <p:cNvSpPr>
            <a:spLocks xmlns:a="http://schemas.openxmlformats.org/drawingml/2006/main" noGrp="1"/>
          </p:cNvSpPr>
          <p:nvPr/>
        </p:nvSpPr>
        <p:spPr>
          <a:xfrm xmlns:a="http://schemas.openxmlformats.org/drawingml/2006/main">
            <a:off x="1276350" y="6067425"/>
            <a:ext cx="540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74"/>
          </a:bodyPr>
          <a:lstStyle xmlns:a="http://schemas.openxmlformats.org/drawingml/2006/main"/>
          <a:p xmlns:a="http://schemas.openxmlformats.org/drawingml/2006/main">
            <a:pPr algn="l">
              <a:defRPr sz="1275" b="0" i="0">
                <a:solidFill>
                  <a:srgbClr val="536870"/>
                </a:solidFill>
                <a:latin typeface="Avenir Next"/>
                <a:ea typeface="Avenir Next"/>
                <a:cs typeface="Avenir Next"/>
              </a:defRPr>
            </a:pPr>
            <a:r>
              <a:rPr sz="1275" b="0" i="0">
                <a:solidFill>
                  <a:srgbClr val="536870"/>
                </a:solidFill>
                <a:latin typeface="Avenir Next"/>
                <a:ea typeface="Avenir Next"/>
                <a:cs typeface="Avenir Next"/>
              </a:rPr>
              <a:t>An authorized caregiver approves. Carestead executes once and records the result.</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bb2dfb4f4af40a0"/>
          <a:stretch xmlns:a="http://schemas.openxmlformats.org/drawingml/2006/main"/>
        </p:blipFill>
        <p:spPr>
          <a:xfrm xmlns:a="http://schemas.openxmlformats.org/drawingml/2006/main">
            <a:off x="7918914" y="2619375"/>
            <a:ext cx="3640797" cy="4476750"/>
          </a:xfrm>
          <a:prstGeom xmlns:a="http://schemas.openxmlformats.org/drawingml/2006/main" prst="roundRect">
            <a:avLst>
              <a:gd name="adj" fmla="val 2581"/>
            </a:avLst>
          </a:prstGeom>
        </p:spPr>
      </p:pic>
    </p:spTree>
    <p:extLst>
      <p:ext uri="{BB962C8B-B14F-4D97-AF65-F5344CB8AC3E}">
        <p14:creationId xmlns:p14="http://schemas.microsoft.com/office/powerpoint/2010/main" val="2028797040"/>
      </p:ext>
    </p:extLst>
  </p:cSld>
</p:sld>
</file>

<file path=ppt/slides/slide10.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FED5CD1-F90B-4CB5-A83B-598D872FCEB3}"/>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D568B4-944F-462D-BA28-A0BD748CD7B3}"/>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07729A7E-17E1-4982-9A30-C7840E8F63B3}"/>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A2BA1AEC-F448-40AA-AE99-CCD27699AA02}"/>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VOICE · MULTIMODAL INTAKE</a:t>
            </a:r>
          </a:p>
        </p:txBody>
      </p:sp>
      <p:sp>
        <p:nvSpPr>
          <p:cNvPr id="5" name="">
            <a:extLst xmlns:a="http://schemas.openxmlformats.org/drawingml/2006/main">
              <a:ext uri="{FF2B5EF4-FFF2-40B4-BE49-F238E27FC236}">
                <a16:creationId xmlns:a16="http://schemas.microsoft.com/office/drawing/2014/main" id="{F64CEA47-21CF-4EB8-AA4B-B5CD53E8413E}"/>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3043BE08-549A-497E-8697-9BA0235587DF}"/>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10 / 16</a:t>
            </a:r>
          </a:p>
        </p:txBody>
      </p:sp>
      <p:sp>
        <p:nvSpPr>
          <p:cNvPr id="7" name="">
            <a:extLst xmlns:a="http://schemas.openxmlformats.org/drawingml/2006/main">
              <a:ext uri="{FF2B5EF4-FFF2-40B4-BE49-F238E27FC236}">
                <a16:creationId xmlns:a16="http://schemas.microsoft.com/office/drawing/2014/main" id="{2C6D7C6E-029E-442C-A2FC-8B9D398505CE}"/>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VOICE + MULTIMODAL</a:t>
            </a:r>
          </a:p>
        </p:txBody>
      </p:sp>
      <p:sp>
        <p:nvSpPr>
          <p:cNvPr id="8" name="">
            <a:extLst xmlns:a="http://schemas.openxmlformats.org/drawingml/2006/main">
              <a:ext uri="{FF2B5EF4-FFF2-40B4-BE49-F238E27FC236}">
                <a16:creationId xmlns:a16="http://schemas.microsoft.com/office/drawing/2014/main" id="{B2257224-1E3B-4FBD-976D-A8D71DF7D163}"/>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Care updates arrive in the format caregivers already have.</a:t>
            </a:r>
          </a:p>
        </p:txBody>
      </p:sp>
      <p:sp>
        <p:nvSpPr>
          <p:cNvPr id="9" name="">
            <a:extLst xmlns:a="http://schemas.openxmlformats.org/drawingml/2006/main">
              <a:ext uri="{FF2B5EF4-FFF2-40B4-BE49-F238E27FC236}">
                <a16:creationId xmlns:a16="http://schemas.microsoft.com/office/drawing/2014/main" id="{606FD179-4991-4FAE-858A-BA9468DB86E9}"/>
              </a:ext>
            </a:extLst>
          </p:cNvPr>
          <p:cNvSpPr>
            <a:spLocks xmlns:a="http://schemas.openxmlformats.org/drawingml/2006/main" noGrp="1"/>
          </p:cNvSpPr>
          <p:nvPr/>
        </p:nvSpPr>
        <p:spPr>
          <a:xfrm xmlns:a="http://schemas.openxmlformats.org/drawingml/2006/main">
            <a:off x="609600" y="2524125"/>
            <a:ext cx="1152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536870"/>
                </a:solidFill>
                <a:latin typeface="Avenir Next"/>
                <a:ea typeface="Avenir Next"/>
                <a:cs typeface="Avenir Next"/>
              </a:defRPr>
            </a:pPr>
            <a:r>
              <a:rPr sz="1575" b="0" i="0">
                <a:solidFill>
                  <a:srgbClr val="536870"/>
                </a:solidFill>
                <a:latin typeface="Avenir Next"/>
                <a:ea typeface="Avenir Next"/>
                <a:cs typeface="Avenir Next"/>
              </a:rPr>
              <a:t>Speak a request, type a note, or upload an image or PDF. Review structured changes before saving.</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9892ff379734703"/>
          <a:stretch xmlns:a="http://schemas.openxmlformats.org/drawingml/2006/main"/>
        </p:blipFill>
        <p:spPr>
          <a:xfrm xmlns:a="http://schemas.openxmlformats.org/drawingml/2006/main">
            <a:off x="636058" y="3143250"/>
            <a:ext cx="5757333" cy="3238500"/>
          </a:xfrm>
          <a:prstGeom xmlns:a="http://schemas.openxmlformats.org/drawingml/2006/main" prst="roundRect">
            <a:avLst>
              <a:gd name="adj" fmla="val 3529"/>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21adb28561f4b5d"/>
          <a:stretch xmlns:a="http://schemas.openxmlformats.org/drawingml/2006/main"/>
        </p:blipFill>
        <p:spPr>
          <a:xfrm xmlns:a="http://schemas.openxmlformats.org/drawingml/2006/main">
            <a:off x="7508081" y="2857500"/>
            <a:ext cx="1843088" cy="3857625"/>
          </a:xfrm>
          <a:prstGeom xmlns:a="http://schemas.openxmlformats.org/drawingml/2006/main" prst="roundRect">
            <a:avLst>
              <a:gd name="adj" fmla="val 4000"/>
            </a:avLst>
          </a:prstGeom>
        </p:spPr>
      </p:pic>
      <p:sp>
        <p:nvSpPr>
          <p:cNvPr id="12" name="">
            <a:extLst xmlns:a="http://schemas.openxmlformats.org/drawingml/2006/main">
              <a:ext uri="{FF2B5EF4-FFF2-40B4-BE49-F238E27FC236}">
                <a16:creationId xmlns:a16="http://schemas.microsoft.com/office/drawing/2014/main" id="{6071EFF2-D3B4-48B1-AB00-F44F2F5AB70F}"/>
              </a:ext>
            </a:extLst>
          </p:cNvPr>
          <p:cNvSpPr>
            <a:spLocks xmlns:a="http://schemas.openxmlformats.org/drawingml/2006/main" noGrp="1"/>
          </p:cNvSpPr>
          <p:nvPr/>
        </p:nvSpPr>
        <p:spPr>
          <a:xfrm xmlns:a="http://schemas.openxmlformats.org/drawingml/2006/main">
            <a:off x="10096500" y="3143250"/>
            <a:ext cx="2667000" cy="1428750"/>
          </a:xfrm>
          <a:prstGeom xmlns:a="http://schemas.openxmlformats.org/drawingml/2006/main" prst="roundRect">
            <a:avLst>
              <a:gd name="adj" fmla="val 9333"/>
            </a:avLst>
          </a:prstGeom>
          <a:solidFill xmlns:a="http://schemas.openxmlformats.org/drawingml/2006/main">
            <a:srgbClr val="E1F4F1"/>
          </a:solidFill>
          <a:ln xmlns:a="http://schemas.openxmlformats.org/drawingml/2006/main" w="9525">
            <a:solidFill>
              <a:srgbClr val="B8D6D5"/>
            </a:solidFill>
          </a:ln>
        </p:spPr>
      </p:sp>
      <p:sp>
        <p:nvSpPr>
          <p:cNvPr id="13" name="">
            <a:extLst xmlns:a="http://schemas.openxmlformats.org/drawingml/2006/main">
              <a:ext uri="{FF2B5EF4-FFF2-40B4-BE49-F238E27FC236}">
                <a16:creationId xmlns:a16="http://schemas.microsoft.com/office/drawing/2014/main" id="{82261EC5-31DB-4F58-883A-5FEE9D118C1B}"/>
              </a:ext>
            </a:extLst>
          </p:cNvPr>
          <p:cNvSpPr>
            <a:spLocks xmlns:a="http://schemas.openxmlformats.org/drawingml/2006/main" noGrp="1"/>
          </p:cNvSpPr>
          <p:nvPr/>
        </p:nvSpPr>
        <p:spPr>
          <a:xfrm xmlns:a="http://schemas.openxmlformats.org/drawingml/2006/main">
            <a:off x="10306050" y="33147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23F49"/>
                </a:solidFill>
                <a:latin typeface="Avenir Next"/>
                <a:ea typeface="Avenir Next"/>
                <a:cs typeface="Avenir Next"/>
              </a:defRPr>
            </a:pPr>
            <a:r>
              <a:rPr sz="1500" b="1" i="0">
                <a:solidFill>
                  <a:srgbClr val="123F49"/>
                </a:solidFill>
                <a:latin typeface="Avenir Next"/>
                <a:ea typeface="Avenir Next"/>
                <a:cs typeface="Avenir Next"/>
              </a:rPr>
              <a:t>Voice interaction</a:t>
            </a:r>
          </a:p>
        </p:txBody>
      </p:sp>
      <p:sp>
        <p:nvSpPr>
          <p:cNvPr id="14" name="">
            <a:extLst xmlns:a="http://schemas.openxmlformats.org/drawingml/2006/main">
              <a:ext uri="{FF2B5EF4-FFF2-40B4-BE49-F238E27FC236}">
                <a16:creationId xmlns:a16="http://schemas.microsoft.com/office/drawing/2014/main" id="{B190AF21-5E12-403D-81E2-7206B1816C16}"/>
              </a:ext>
            </a:extLst>
          </p:cNvPr>
          <p:cNvSpPr>
            <a:spLocks xmlns:a="http://schemas.openxmlformats.org/drawingml/2006/main" noGrp="1"/>
          </p:cNvSpPr>
          <p:nvPr/>
        </p:nvSpPr>
        <p:spPr>
          <a:xfrm xmlns:a="http://schemas.openxmlformats.org/drawingml/2006/main">
            <a:off x="10306050" y="369570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517"/>
          </a:bodyPr>
          <a:lstStyle xmlns:a="http://schemas.openxmlformats.org/drawingml/2006/main"/>
          <a:p xmlns:a="http://schemas.openxmlformats.org/drawingml/2006/main">
            <a:pPr algn="l">
              <a:defRPr sz="1125" b="0" i="0">
                <a:solidFill>
                  <a:srgbClr val="536870"/>
                </a:solidFill>
                <a:latin typeface="Avenir Next"/>
                <a:ea typeface="Avenir Next"/>
                <a:cs typeface="Avenir Next"/>
              </a:defRPr>
            </a:pPr>
            <a:r>
              <a:rPr sz="1125" b="0" i="0">
                <a:solidFill>
                  <a:srgbClr val="536870"/>
                </a:solidFill>
                <a:latin typeface="Avenir Next"/>
                <a:ea typeface="Avenir Next"/>
                <a:cs typeface="Avenir Next"/>
              </a:rPr>
              <a:t>Speech-to-text starts a grounded chat. Spoken replies are optional. Carestead stores transcript text, not raw microphone audio.</a:t>
            </a:r>
          </a:p>
        </p:txBody>
      </p:sp>
      <p:sp>
        <p:nvSpPr>
          <p:cNvPr id="15" name="">
            <a:extLst xmlns:a="http://schemas.openxmlformats.org/drawingml/2006/main">
              <a:ext uri="{FF2B5EF4-FFF2-40B4-BE49-F238E27FC236}">
                <a16:creationId xmlns:a16="http://schemas.microsoft.com/office/drawing/2014/main" id="{C96BD03A-BE55-48C4-845A-C4BABC13E215}"/>
              </a:ext>
            </a:extLst>
          </p:cNvPr>
          <p:cNvSpPr>
            <a:spLocks xmlns:a="http://schemas.openxmlformats.org/drawingml/2006/main" noGrp="1"/>
          </p:cNvSpPr>
          <p:nvPr/>
        </p:nvSpPr>
        <p:spPr>
          <a:xfrm xmlns:a="http://schemas.openxmlformats.org/drawingml/2006/main">
            <a:off x="10096500" y="4810125"/>
            <a:ext cx="2667000" cy="1571625"/>
          </a:xfrm>
          <a:prstGeom xmlns:a="http://schemas.openxmlformats.org/drawingml/2006/main" prst="roundRect">
            <a:avLst>
              <a:gd name="adj" fmla="val 8485"/>
            </a:avLst>
          </a:prstGeom>
          <a:solidFill xmlns:a="http://schemas.openxmlformats.org/drawingml/2006/main">
            <a:srgbClr val="FFD1AF"/>
          </a:solidFill>
          <a:ln xmlns:a="http://schemas.openxmlformats.org/drawingml/2006/main" w="9525">
            <a:solidFill>
              <a:srgbClr val="B8D6D5"/>
            </a:solidFill>
          </a:ln>
        </p:spPr>
      </p:sp>
      <p:sp>
        <p:nvSpPr>
          <p:cNvPr id="16" name="">
            <a:extLst xmlns:a="http://schemas.openxmlformats.org/drawingml/2006/main">
              <a:ext uri="{FF2B5EF4-FFF2-40B4-BE49-F238E27FC236}">
                <a16:creationId xmlns:a16="http://schemas.microsoft.com/office/drawing/2014/main" id="{11692324-8C92-436A-B24F-5FA54B7F4511}"/>
              </a:ext>
            </a:extLst>
          </p:cNvPr>
          <p:cNvSpPr>
            <a:spLocks xmlns:a="http://schemas.openxmlformats.org/drawingml/2006/main" noGrp="1"/>
          </p:cNvSpPr>
          <p:nvPr/>
        </p:nvSpPr>
        <p:spPr>
          <a:xfrm xmlns:a="http://schemas.openxmlformats.org/drawingml/2006/main">
            <a:off x="10306050" y="49815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23F49"/>
                </a:solidFill>
                <a:latin typeface="Avenir Next"/>
                <a:ea typeface="Avenir Next"/>
                <a:cs typeface="Avenir Next"/>
              </a:defRPr>
            </a:pPr>
            <a:r>
              <a:rPr sz="1500" b="1" i="0">
                <a:solidFill>
                  <a:srgbClr val="123F49"/>
                </a:solidFill>
                <a:latin typeface="Avenir Next"/>
                <a:ea typeface="Avenir Next"/>
                <a:cs typeface="Avenir Next"/>
              </a:rPr>
              <a:t>Multimodal extraction</a:t>
            </a:r>
          </a:p>
        </p:txBody>
      </p:sp>
      <p:sp>
        <p:nvSpPr>
          <p:cNvPr id="17" name="">
            <a:extLst xmlns:a="http://schemas.openxmlformats.org/drawingml/2006/main">
              <a:ext uri="{FF2B5EF4-FFF2-40B4-BE49-F238E27FC236}">
                <a16:creationId xmlns:a16="http://schemas.microsoft.com/office/drawing/2014/main" id="{BDC2FDC1-9747-4984-8B57-B6080BA0077F}"/>
              </a:ext>
            </a:extLst>
          </p:cNvPr>
          <p:cNvSpPr>
            <a:spLocks xmlns:a="http://schemas.openxmlformats.org/drawingml/2006/main" noGrp="1"/>
          </p:cNvSpPr>
          <p:nvPr/>
        </p:nvSpPr>
        <p:spPr>
          <a:xfrm xmlns:a="http://schemas.openxmlformats.org/drawingml/2006/main">
            <a:off x="10306050" y="5362575"/>
            <a:ext cx="228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89"/>
          </a:bodyPr>
          <a:lstStyle xmlns:a="http://schemas.openxmlformats.org/drawingml/2006/main"/>
          <a:p xmlns:a="http://schemas.openxmlformats.org/drawingml/2006/main">
            <a:pPr algn="l">
              <a:defRPr sz="1125" b="0" i="0">
                <a:solidFill>
                  <a:srgbClr val="536870"/>
                </a:solidFill>
                <a:latin typeface="Avenir Next"/>
                <a:ea typeface="Avenir Next"/>
                <a:cs typeface="Avenir Next"/>
              </a:defRPr>
            </a:pPr>
            <a:r>
              <a:rPr sz="1125" b="0" i="0">
                <a:solidFill>
                  <a:srgbClr val="536870"/>
                </a:solidFill>
                <a:latin typeface="Avenir Next"/>
                <a:ea typeface="Avenir Next"/>
                <a:cs typeface="Avenir Next"/>
              </a:rPr>
              <a:t>The model extracts dates, contacts, follow-ups, facts, and uncertainty. The agent validates scope and asks for approval before saving.</a:t>
            </a:r>
          </a:p>
        </p:txBody>
      </p:sp>
    </p:spTree>
    <p:extLst>
      <p:ext uri="{BB962C8B-B14F-4D97-AF65-F5344CB8AC3E}">
        <p14:creationId xmlns:p14="http://schemas.microsoft.com/office/powerpoint/2010/main" val="1416428655"/>
      </p:ext>
    </p:extLst>
  </p:cSld>
</p:sld>
</file>

<file path=ppt/slides/slide11.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7494A0-35AB-42AC-819A-8C86F9813592}"/>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A7E8B6-DDF5-4E1A-A4B2-0851C9B90721}"/>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232905A0-B01A-45AA-B8A1-785EDAECD671}"/>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8B3F9316-F6DD-428F-8ADD-3180EB620704}"/>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TECHNICAL ARCHITECTURE</a:t>
            </a:r>
          </a:p>
        </p:txBody>
      </p:sp>
      <p:sp>
        <p:nvSpPr>
          <p:cNvPr id="5" name="">
            <a:extLst xmlns:a="http://schemas.openxmlformats.org/drawingml/2006/main">
              <a:ext uri="{FF2B5EF4-FFF2-40B4-BE49-F238E27FC236}">
                <a16:creationId xmlns:a16="http://schemas.microsoft.com/office/drawing/2014/main" id="{E744EC89-3619-410B-B05B-E7C8DAB40F3C}"/>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2925620F-B9FD-4AFB-8D0F-FAA88B1FFB12}"/>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11 / 16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b3d6e12fe3f4466"/>
          <a:stretch xmlns:a="http://schemas.openxmlformats.org/drawingml/2006/main"/>
        </p:blipFill>
        <p:spPr>
          <a:xfrm xmlns:a="http://schemas.openxmlformats.org/drawingml/2006/main">
            <a:off x="1100667" y="762000"/>
            <a:ext cx="11514667" cy="6477000"/>
          </a:xfrm>
          <a:prstGeom xmlns:a="http://schemas.openxmlformats.org/drawingml/2006/main" prst="rect">
            <a:avLst/>
          </a:prstGeom>
        </p:spPr>
      </p:pic>
    </p:spTree>
    <p:extLst>
      <p:ext uri="{BB962C8B-B14F-4D97-AF65-F5344CB8AC3E}">
        <p14:creationId xmlns:p14="http://schemas.microsoft.com/office/powerpoint/2010/main" val="1072916006"/>
      </p:ext>
    </p:extLst>
  </p:cSld>
</p:sld>
</file>

<file path=ppt/slides/slide12.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A75EEC-82A3-4227-A78B-51A7C6C06609}"/>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4AA63B-111F-471E-880B-F13F2D20689B}"/>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CF0F09E9-EFD6-40AF-A692-E42B84157C55}"/>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90275554-56CB-4CA6-AD8B-E9A935D10C77}"/>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DECISION PATH</a:t>
            </a:r>
          </a:p>
        </p:txBody>
      </p:sp>
      <p:sp>
        <p:nvSpPr>
          <p:cNvPr id="5" name="">
            <a:extLst xmlns:a="http://schemas.openxmlformats.org/drawingml/2006/main">
              <a:ext uri="{FF2B5EF4-FFF2-40B4-BE49-F238E27FC236}">
                <a16:creationId xmlns:a16="http://schemas.microsoft.com/office/drawing/2014/main" id="{7EF7D9C2-8188-4B36-B68A-F0D143FD4B58}"/>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30526FFB-4F1D-4052-8A31-420199122AA4}"/>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12 / 16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d4d981114cd4f42"/>
          <a:stretch xmlns:a="http://schemas.openxmlformats.org/drawingml/2006/main"/>
        </p:blipFill>
        <p:spPr>
          <a:xfrm xmlns:a="http://schemas.openxmlformats.org/drawingml/2006/main">
            <a:off x="1101566" y="762000"/>
            <a:ext cx="11512868" cy="6477000"/>
          </a:xfrm>
          <a:prstGeom xmlns:a="http://schemas.openxmlformats.org/drawingml/2006/main" prst="rect">
            <a:avLst/>
          </a:prstGeom>
        </p:spPr>
      </p:pic>
    </p:spTree>
    <p:extLst>
      <p:ext uri="{BB962C8B-B14F-4D97-AF65-F5344CB8AC3E}">
        <p14:creationId xmlns:p14="http://schemas.microsoft.com/office/powerpoint/2010/main" val="109642202"/>
      </p:ext>
    </p:extLst>
  </p:cSld>
</p:sld>
</file>

<file path=ppt/slides/slide13.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6C09E8E-A705-4AF0-8636-5BF9CED03C31}"/>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8F4995-BF73-4B32-ADFA-46B542706613}"/>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1CBFA4FC-B19A-426C-898C-7FC9CAEBCBE0}"/>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F17C400D-C926-4C70-8930-1EC8CCA8A659}"/>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BOUNDED AUTONOMY · TOOL SURFACE</a:t>
            </a:r>
          </a:p>
        </p:txBody>
      </p:sp>
      <p:sp>
        <p:nvSpPr>
          <p:cNvPr id="5" name="">
            <a:extLst xmlns:a="http://schemas.openxmlformats.org/drawingml/2006/main">
              <a:ext uri="{FF2B5EF4-FFF2-40B4-BE49-F238E27FC236}">
                <a16:creationId xmlns:a16="http://schemas.microsoft.com/office/drawing/2014/main" id="{D2E6CA68-33D6-43F6-B39C-B641BA8145DF}"/>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40930286-D7EA-4DF6-B39C-58EFCEFC3EBF}"/>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13 / 16</a:t>
            </a:r>
          </a:p>
        </p:txBody>
      </p:sp>
      <p:sp>
        <p:nvSpPr>
          <p:cNvPr id="7" name="">
            <a:extLst xmlns:a="http://schemas.openxmlformats.org/drawingml/2006/main">
              <a:ext uri="{FF2B5EF4-FFF2-40B4-BE49-F238E27FC236}">
                <a16:creationId xmlns:a16="http://schemas.microsoft.com/office/drawing/2014/main" id="{A39CDD91-D677-4F31-A3B4-4D376AD50FFB}"/>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BOUNDED AUTONOMY</a:t>
            </a:r>
          </a:p>
        </p:txBody>
      </p:sp>
      <p:sp>
        <p:nvSpPr>
          <p:cNvPr id="8" name="">
            <a:extLst xmlns:a="http://schemas.openxmlformats.org/drawingml/2006/main">
              <a:ext uri="{FF2B5EF4-FFF2-40B4-BE49-F238E27FC236}">
                <a16:creationId xmlns:a16="http://schemas.microsoft.com/office/drawing/2014/main" id="{BE2E33EC-A7DE-4AE9-A1B2-9AD863B50E2D}"/>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The system can reason broadly.</a:t>
            </a:r>
          </a:p>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It can act only through narrow, reviewable tools.</a:t>
            </a:r>
          </a:p>
        </p:txBody>
      </p:sp>
      <p:sp>
        <p:nvSpPr>
          <p:cNvPr id="9" name="">
            <a:extLst xmlns:a="http://schemas.openxmlformats.org/drawingml/2006/main">
              <a:ext uri="{FF2B5EF4-FFF2-40B4-BE49-F238E27FC236}">
                <a16:creationId xmlns:a16="http://schemas.microsoft.com/office/drawing/2014/main" id="{3F167124-6D8D-46D3-AB0D-EA220F739C35}"/>
              </a:ext>
            </a:extLst>
          </p:cNvPr>
          <p:cNvSpPr>
            <a:spLocks xmlns:a="http://schemas.openxmlformats.org/drawingml/2006/main" noGrp="1"/>
          </p:cNvSpPr>
          <p:nvPr/>
        </p:nvSpPr>
        <p:spPr>
          <a:xfrm xmlns:a="http://schemas.openxmlformats.org/drawingml/2006/main">
            <a:off x="609600" y="3143250"/>
            <a:ext cx="3762375" cy="1762125"/>
          </a:xfrm>
          <a:prstGeom xmlns:a="http://schemas.openxmlformats.org/drawingml/2006/main" prst="roundRect">
            <a:avLst>
              <a:gd name="adj" fmla="val 7568"/>
            </a:avLst>
          </a:prstGeom>
          <a:solidFill xmlns:a="http://schemas.openxmlformats.org/drawingml/2006/main">
            <a:srgbClr val="EEF3EF"/>
          </a:solidFill>
          <a:ln xmlns:a="http://schemas.openxmlformats.org/drawingml/2006/main" w="9525">
            <a:solidFill>
              <a:srgbClr val="B8D6D5"/>
            </a:solidFill>
          </a:ln>
        </p:spPr>
      </p:sp>
      <p:sp>
        <p:nvSpPr>
          <p:cNvPr id="10" name="">
            <a:extLst xmlns:a="http://schemas.openxmlformats.org/drawingml/2006/main">
              <a:ext uri="{FF2B5EF4-FFF2-40B4-BE49-F238E27FC236}">
                <a16:creationId xmlns:a16="http://schemas.microsoft.com/office/drawing/2014/main" id="{07B58A66-5AFB-456A-9493-2D2D2F8C4506}"/>
              </a:ext>
            </a:extLst>
          </p:cNvPr>
          <p:cNvSpPr>
            <a:spLocks xmlns:a="http://schemas.openxmlformats.org/drawingml/2006/main" noGrp="1"/>
          </p:cNvSpPr>
          <p:nvPr/>
        </p:nvSpPr>
        <p:spPr>
          <a:xfrm xmlns:a="http://schemas.openxmlformats.org/drawingml/2006/main">
            <a:off x="819150" y="3314700"/>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LLM contributes</a:t>
            </a:r>
          </a:p>
        </p:txBody>
      </p:sp>
      <p:sp>
        <p:nvSpPr>
          <p:cNvPr id="11" name="">
            <a:extLst xmlns:a="http://schemas.openxmlformats.org/drawingml/2006/main">
              <a:ext uri="{FF2B5EF4-FFF2-40B4-BE49-F238E27FC236}">
                <a16:creationId xmlns:a16="http://schemas.microsoft.com/office/drawing/2014/main" id="{0C1553BC-7672-45D6-865D-2036A94C9F66}"/>
              </a:ext>
            </a:extLst>
          </p:cNvPr>
          <p:cNvSpPr>
            <a:spLocks xmlns:a="http://schemas.openxmlformats.org/drawingml/2006/main" noGrp="1"/>
          </p:cNvSpPr>
          <p:nvPr/>
        </p:nvSpPr>
        <p:spPr>
          <a:xfrm xmlns:a="http://schemas.openxmlformats.org/drawingml/2006/main">
            <a:off x="819150" y="3695700"/>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36870"/>
                </a:solidFill>
                <a:latin typeface="Avenir Next"/>
                <a:ea typeface="Avenir Next"/>
                <a:cs typeface="Avenir Next"/>
              </a:defRPr>
            </a:pPr>
            <a:r>
              <a:rPr sz="1350" b="0" i="0">
                <a:solidFill>
                  <a:srgbClr val="536870"/>
                </a:solidFill>
                <a:latin typeface="Avenir Next"/>
                <a:ea typeface="Avenir Next"/>
                <a:cs typeface="Avenir Next"/>
              </a:rPr>
              <a:t>Interpret intent · extract facts · summarize evidence · draft language · rank already-feasible options</a:t>
            </a:r>
          </a:p>
        </p:txBody>
      </p:sp>
      <p:sp>
        <p:nvSpPr>
          <p:cNvPr id="12" name="">
            <a:extLst xmlns:a="http://schemas.openxmlformats.org/drawingml/2006/main">
              <a:ext uri="{FF2B5EF4-FFF2-40B4-BE49-F238E27FC236}">
                <a16:creationId xmlns:a16="http://schemas.microsoft.com/office/drawing/2014/main" id="{0A4F28DD-F96C-4654-BE18-25F975471301}"/>
              </a:ext>
            </a:extLst>
          </p:cNvPr>
          <p:cNvSpPr>
            <a:spLocks xmlns:a="http://schemas.openxmlformats.org/drawingml/2006/main" noGrp="1"/>
          </p:cNvSpPr>
          <p:nvPr/>
        </p:nvSpPr>
        <p:spPr>
          <a:xfrm xmlns:a="http://schemas.openxmlformats.org/drawingml/2006/main">
            <a:off x="4667250" y="3143250"/>
            <a:ext cx="3762375" cy="1762125"/>
          </a:xfrm>
          <a:prstGeom xmlns:a="http://schemas.openxmlformats.org/drawingml/2006/main" prst="roundRect">
            <a:avLst>
              <a:gd name="adj" fmla="val 7568"/>
            </a:avLst>
          </a:prstGeom>
          <a:solidFill xmlns:a="http://schemas.openxmlformats.org/drawingml/2006/main">
            <a:srgbClr val="E1F4F1"/>
          </a:solidFill>
          <a:ln xmlns:a="http://schemas.openxmlformats.org/drawingml/2006/main" w="9525">
            <a:solidFill>
              <a:srgbClr val="B8D6D5"/>
            </a:solidFill>
          </a:ln>
        </p:spPr>
      </p:sp>
      <p:sp>
        <p:nvSpPr>
          <p:cNvPr id="13" name="">
            <a:extLst xmlns:a="http://schemas.openxmlformats.org/drawingml/2006/main">
              <a:ext uri="{FF2B5EF4-FFF2-40B4-BE49-F238E27FC236}">
                <a16:creationId xmlns:a16="http://schemas.microsoft.com/office/drawing/2014/main" id="{8AF5FEB1-6D6B-49A7-B54B-E0528C9FF2D4}"/>
              </a:ext>
            </a:extLst>
          </p:cNvPr>
          <p:cNvSpPr>
            <a:spLocks xmlns:a="http://schemas.openxmlformats.org/drawingml/2006/main" noGrp="1"/>
          </p:cNvSpPr>
          <p:nvPr/>
        </p:nvSpPr>
        <p:spPr>
          <a:xfrm xmlns:a="http://schemas.openxmlformats.org/drawingml/2006/main">
            <a:off x="4876800" y="3314700"/>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Orchestrator decides</a:t>
            </a:r>
          </a:p>
        </p:txBody>
      </p:sp>
      <p:sp>
        <p:nvSpPr>
          <p:cNvPr id="14" name="">
            <a:extLst xmlns:a="http://schemas.openxmlformats.org/drawingml/2006/main">
              <a:ext uri="{FF2B5EF4-FFF2-40B4-BE49-F238E27FC236}">
                <a16:creationId xmlns:a16="http://schemas.microsoft.com/office/drawing/2014/main" id="{54053AFB-FA63-4E30-9922-DCBA9F4591A8}"/>
              </a:ext>
            </a:extLst>
          </p:cNvPr>
          <p:cNvSpPr>
            <a:spLocks xmlns:a="http://schemas.openxmlformats.org/drawingml/2006/main" noGrp="1"/>
          </p:cNvSpPr>
          <p:nvPr/>
        </p:nvSpPr>
        <p:spPr>
          <a:xfrm xmlns:a="http://schemas.openxmlformats.org/drawingml/2006/main">
            <a:off x="4876800" y="3695700"/>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36870"/>
                </a:solidFill>
                <a:latin typeface="Avenir Next"/>
                <a:ea typeface="Avenir Next"/>
                <a:cs typeface="Avenir Next"/>
              </a:defRPr>
            </a:pPr>
            <a:r>
              <a:rPr sz="1350" b="0" i="0">
                <a:solidFill>
                  <a:srgbClr val="536870"/>
                </a:solidFill>
                <a:latin typeface="Avenir Next"/>
                <a:ea typeface="Avenir Next"/>
                <a:cs typeface="Avenir Next"/>
              </a:rPr>
              <a:t>Recipient scope · tool routing · role checks · consent · risk rules · feasibility · idempotency</a:t>
            </a:r>
          </a:p>
        </p:txBody>
      </p:sp>
      <p:sp>
        <p:nvSpPr>
          <p:cNvPr id="15" name="">
            <a:extLst xmlns:a="http://schemas.openxmlformats.org/drawingml/2006/main">
              <a:ext uri="{FF2B5EF4-FFF2-40B4-BE49-F238E27FC236}">
                <a16:creationId xmlns:a16="http://schemas.microsoft.com/office/drawing/2014/main" id="{D1BB5A7B-96C4-43D6-BA0C-D5BBF362F666}"/>
              </a:ext>
            </a:extLst>
          </p:cNvPr>
          <p:cNvSpPr>
            <a:spLocks xmlns:a="http://schemas.openxmlformats.org/drawingml/2006/main" noGrp="1"/>
          </p:cNvSpPr>
          <p:nvPr/>
        </p:nvSpPr>
        <p:spPr>
          <a:xfrm xmlns:a="http://schemas.openxmlformats.org/drawingml/2006/main">
            <a:off x="8724900" y="3143250"/>
            <a:ext cx="3762375" cy="1762125"/>
          </a:xfrm>
          <a:prstGeom xmlns:a="http://schemas.openxmlformats.org/drawingml/2006/main" prst="roundRect">
            <a:avLst>
              <a:gd name="adj" fmla="val 7568"/>
            </a:avLst>
          </a:prstGeom>
          <a:solidFill xmlns:a="http://schemas.openxmlformats.org/drawingml/2006/main">
            <a:srgbClr val="FFD1AF"/>
          </a:solidFill>
          <a:ln xmlns:a="http://schemas.openxmlformats.org/drawingml/2006/main" w="9525">
            <a:solidFill>
              <a:srgbClr val="B8D6D5"/>
            </a:solidFill>
          </a:ln>
        </p:spPr>
      </p:sp>
      <p:sp>
        <p:nvSpPr>
          <p:cNvPr id="16" name="">
            <a:extLst xmlns:a="http://schemas.openxmlformats.org/drawingml/2006/main">
              <a:ext uri="{FF2B5EF4-FFF2-40B4-BE49-F238E27FC236}">
                <a16:creationId xmlns:a16="http://schemas.microsoft.com/office/drawing/2014/main" id="{D957EE22-4E4E-41B9-B1C4-4716CCEB5E6C}"/>
              </a:ext>
            </a:extLst>
          </p:cNvPr>
          <p:cNvSpPr>
            <a:spLocks xmlns:a="http://schemas.openxmlformats.org/drawingml/2006/main" noGrp="1"/>
          </p:cNvSpPr>
          <p:nvPr/>
        </p:nvSpPr>
        <p:spPr>
          <a:xfrm xmlns:a="http://schemas.openxmlformats.org/drawingml/2006/main">
            <a:off x="8934450" y="3314700"/>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Caregiver decides</a:t>
            </a:r>
          </a:p>
        </p:txBody>
      </p:sp>
      <p:sp>
        <p:nvSpPr>
          <p:cNvPr id="17" name="">
            <a:extLst xmlns:a="http://schemas.openxmlformats.org/drawingml/2006/main">
              <a:ext uri="{FF2B5EF4-FFF2-40B4-BE49-F238E27FC236}">
                <a16:creationId xmlns:a16="http://schemas.microsoft.com/office/drawing/2014/main" id="{27D8FD94-3E38-41CC-9060-7FEF4D268ED6}"/>
              </a:ext>
            </a:extLst>
          </p:cNvPr>
          <p:cNvSpPr>
            <a:spLocks xmlns:a="http://schemas.openxmlformats.org/drawingml/2006/main" noGrp="1"/>
          </p:cNvSpPr>
          <p:nvPr/>
        </p:nvSpPr>
        <p:spPr>
          <a:xfrm xmlns:a="http://schemas.openxmlformats.org/drawingml/2006/main">
            <a:off x="8934450" y="3695700"/>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36870"/>
                </a:solidFill>
                <a:latin typeface="Avenir Next"/>
                <a:ea typeface="Avenir Next"/>
                <a:cs typeface="Avenir Next"/>
              </a:defRPr>
            </a:pPr>
            <a:r>
              <a:rPr sz="1350" b="0" i="0">
                <a:solidFill>
                  <a:srgbClr val="536870"/>
                </a:solidFill>
                <a:latin typeface="Avenir Next"/>
                <a:ea typeface="Avenir Next"/>
                <a:cs typeface="Avenir Next"/>
              </a:rPr>
              <a:t>Approve, edit, or reject calendar changes, assignments, messages, plan changes, and other consequential writes</a:t>
            </a:r>
          </a:p>
        </p:txBody>
      </p:sp>
      <p:sp>
        <p:nvSpPr>
          <p:cNvPr id="18" name="">
            <a:extLst xmlns:a="http://schemas.openxmlformats.org/drawingml/2006/main">
              <a:ext uri="{FF2B5EF4-FFF2-40B4-BE49-F238E27FC236}">
                <a16:creationId xmlns:a16="http://schemas.microsoft.com/office/drawing/2014/main" id="{2BBCB7D8-850F-400F-97EE-1C3CF0481A4B}"/>
              </a:ext>
            </a:extLst>
          </p:cNvPr>
          <p:cNvSpPr>
            <a:spLocks xmlns:a="http://schemas.openxmlformats.org/drawingml/2006/main" noGrp="1"/>
          </p:cNvSpPr>
          <p:nvPr/>
        </p:nvSpPr>
        <p:spPr>
          <a:xfrm xmlns:a="http://schemas.openxmlformats.org/drawingml/2006/main">
            <a:off x="609600" y="5334000"/>
            <a:ext cx="2714625" cy="419100"/>
          </a:xfrm>
          <a:prstGeom xmlns:a="http://schemas.openxmlformats.org/drawingml/2006/main" prst="roundRect">
            <a:avLst>
              <a:gd name="adj" fmla="val 45455"/>
            </a:avLst>
          </a:prstGeom>
          <a:solidFill xmlns:a="http://schemas.openxmlformats.org/drawingml/2006/main">
            <a:srgbClr val="FFFFFF"/>
          </a:solidFill>
          <a:ln xmlns:a="http://schemas.openxmlformats.org/drawingml/2006/main" w="9525">
            <a:solidFill>
              <a:srgbClr val="B8D6D5"/>
            </a:solidFill>
          </a:ln>
        </p:spPr>
      </p:sp>
      <p:sp>
        <p:nvSpPr>
          <p:cNvPr id="19" name="">
            <a:extLst xmlns:a="http://schemas.openxmlformats.org/drawingml/2006/main">
              <a:ext uri="{FF2B5EF4-FFF2-40B4-BE49-F238E27FC236}">
                <a16:creationId xmlns:a16="http://schemas.microsoft.com/office/drawing/2014/main" id="{FE8CA32E-9E3F-4FEF-BCC0-DEB93EF96624}"/>
              </a:ext>
            </a:extLst>
          </p:cNvPr>
          <p:cNvSpPr>
            <a:spLocks xmlns:a="http://schemas.openxmlformats.org/drawingml/2006/main" noGrp="1"/>
          </p:cNvSpPr>
          <p:nvPr/>
        </p:nvSpPr>
        <p:spPr>
          <a:xfrm xmlns:a="http://schemas.openxmlformats.org/drawingml/2006/main">
            <a:off x="742950" y="541972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Profile + plan</a:t>
            </a:r>
          </a:p>
        </p:txBody>
      </p:sp>
      <p:sp>
        <p:nvSpPr>
          <p:cNvPr id="20" name="">
            <a:extLst xmlns:a="http://schemas.openxmlformats.org/drawingml/2006/main">
              <a:ext uri="{FF2B5EF4-FFF2-40B4-BE49-F238E27FC236}">
                <a16:creationId xmlns:a16="http://schemas.microsoft.com/office/drawing/2014/main" id="{47F109D6-CF95-472F-A315-CB404E99DDBB}"/>
              </a:ext>
            </a:extLst>
          </p:cNvPr>
          <p:cNvSpPr>
            <a:spLocks xmlns:a="http://schemas.openxmlformats.org/drawingml/2006/main" noGrp="1"/>
          </p:cNvSpPr>
          <p:nvPr/>
        </p:nvSpPr>
        <p:spPr>
          <a:xfrm xmlns:a="http://schemas.openxmlformats.org/drawingml/2006/main">
            <a:off x="3657600" y="5334000"/>
            <a:ext cx="2714625" cy="419100"/>
          </a:xfrm>
          <a:prstGeom xmlns:a="http://schemas.openxmlformats.org/drawingml/2006/main" prst="roundRect">
            <a:avLst>
              <a:gd name="adj" fmla="val 45455"/>
            </a:avLst>
          </a:prstGeom>
          <a:solidFill xmlns:a="http://schemas.openxmlformats.org/drawingml/2006/main">
            <a:srgbClr val="FFFFFF"/>
          </a:solidFill>
          <a:ln xmlns:a="http://schemas.openxmlformats.org/drawingml/2006/main" w="9525">
            <a:solidFill>
              <a:srgbClr val="B8D6D5"/>
            </a:solidFill>
          </a:ln>
        </p:spPr>
      </p:sp>
      <p:sp>
        <p:nvSpPr>
          <p:cNvPr id="21" name="">
            <a:extLst xmlns:a="http://schemas.openxmlformats.org/drawingml/2006/main">
              <a:ext uri="{FF2B5EF4-FFF2-40B4-BE49-F238E27FC236}">
                <a16:creationId xmlns:a16="http://schemas.microsoft.com/office/drawing/2014/main" id="{87229CD7-E9B9-4343-8FEE-91F1FA36C83E}"/>
              </a:ext>
            </a:extLst>
          </p:cNvPr>
          <p:cNvSpPr>
            <a:spLocks xmlns:a="http://schemas.openxmlformats.org/drawingml/2006/main" noGrp="1"/>
          </p:cNvSpPr>
          <p:nvPr/>
        </p:nvSpPr>
        <p:spPr>
          <a:xfrm xmlns:a="http://schemas.openxmlformats.org/drawingml/2006/main">
            <a:off x="3790950" y="541972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Responsibilities</a:t>
            </a:r>
          </a:p>
        </p:txBody>
      </p:sp>
      <p:sp>
        <p:nvSpPr>
          <p:cNvPr id="22" name="">
            <a:extLst xmlns:a="http://schemas.openxmlformats.org/drawingml/2006/main">
              <a:ext uri="{FF2B5EF4-FFF2-40B4-BE49-F238E27FC236}">
                <a16:creationId xmlns:a16="http://schemas.microsoft.com/office/drawing/2014/main" id="{008C8BC2-F4D5-4F44-B9C4-75C3470BA216}"/>
              </a:ext>
            </a:extLst>
          </p:cNvPr>
          <p:cNvSpPr>
            <a:spLocks xmlns:a="http://schemas.openxmlformats.org/drawingml/2006/main" noGrp="1"/>
          </p:cNvSpPr>
          <p:nvPr/>
        </p:nvSpPr>
        <p:spPr>
          <a:xfrm xmlns:a="http://schemas.openxmlformats.org/drawingml/2006/main">
            <a:off x="6705600" y="5334000"/>
            <a:ext cx="2714625" cy="419100"/>
          </a:xfrm>
          <a:prstGeom xmlns:a="http://schemas.openxmlformats.org/drawingml/2006/main" prst="roundRect">
            <a:avLst>
              <a:gd name="adj" fmla="val 45455"/>
            </a:avLst>
          </a:prstGeom>
          <a:solidFill xmlns:a="http://schemas.openxmlformats.org/drawingml/2006/main">
            <a:srgbClr val="FFFFFF"/>
          </a:solidFill>
          <a:ln xmlns:a="http://schemas.openxmlformats.org/drawingml/2006/main" w="9525">
            <a:solidFill>
              <a:srgbClr val="B8D6D5"/>
            </a:solidFill>
          </a:ln>
        </p:spPr>
      </p:sp>
      <p:sp>
        <p:nvSpPr>
          <p:cNvPr id="23" name="">
            <a:extLst xmlns:a="http://schemas.openxmlformats.org/drawingml/2006/main">
              <a:ext uri="{FF2B5EF4-FFF2-40B4-BE49-F238E27FC236}">
                <a16:creationId xmlns:a16="http://schemas.microsoft.com/office/drawing/2014/main" id="{F8EC6F5D-203B-4220-A2CF-369929676E00}"/>
              </a:ext>
            </a:extLst>
          </p:cNvPr>
          <p:cNvSpPr>
            <a:spLocks xmlns:a="http://schemas.openxmlformats.org/drawingml/2006/main" noGrp="1"/>
          </p:cNvSpPr>
          <p:nvPr/>
        </p:nvSpPr>
        <p:spPr>
          <a:xfrm xmlns:a="http://schemas.openxmlformats.org/drawingml/2006/main">
            <a:off x="6838950" y="541972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Calendar</a:t>
            </a:r>
          </a:p>
        </p:txBody>
      </p:sp>
      <p:sp>
        <p:nvSpPr>
          <p:cNvPr id="24" name="">
            <a:extLst xmlns:a="http://schemas.openxmlformats.org/drawingml/2006/main">
              <a:ext uri="{FF2B5EF4-FFF2-40B4-BE49-F238E27FC236}">
                <a16:creationId xmlns:a16="http://schemas.microsoft.com/office/drawing/2014/main" id="{999E5328-AA81-49C9-9C77-91FB774DBE06}"/>
              </a:ext>
            </a:extLst>
          </p:cNvPr>
          <p:cNvSpPr>
            <a:spLocks xmlns:a="http://schemas.openxmlformats.org/drawingml/2006/main" noGrp="1"/>
          </p:cNvSpPr>
          <p:nvPr/>
        </p:nvSpPr>
        <p:spPr>
          <a:xfrm xmlns:a="http://schemas.openxmlformats.org/drawingml/2006/main">
            <a:off x="9753600" y="5334000"/>
            <a:ext cx="2714625" cy="419100"/>
          </a:xfrm>
          <a:prstGeom xmlns:a="http://schemas.openxmlformats.org/drawingml/2006/main" prst="roundRect">
            <a:avLst>
              <a:gd name="adj" fmla="val 45455"/>
            </a:avLst>
          </a:prstGeom>
          <a:solidFill xmlns:a="http://schemas.openxmlformats.org/drawingml/2006/main">
            <a:srgbClr val="FFFFFF"/>
          </a:solidFill>
          <a:ln xmlns:a="http://schemas.openxmlformats.org/drawingml/2006/main" w="9525">
            <a:solidFill>
              <a:srgbClr val="B8D6D5"/>
            </a:solidFill>
          </a:ln>
        </p:spPr>
      </p:sp>
      <p:sp>
        <p:nvSpPr>
          <p:cNvPr id="25" name="">
            <a:extLst xmlns:a="http://schemas.openxmlformats.org/drawingml/2006/main">
              <a:ext uri="{FF2B5EF4-FFF2-40B4-BE49-F238E27FC236}">
                <a16:creationId xmlns:a16="http://schemas.microsoft.com/office/drawing/2014/main" id="{375F9EBE-B5E8-43CF-A5E4-FC9F39D5459D}"/>
              </a:ext>
            </a:extLst>
          </p:cNvPr>
          <p:cNvSpPr>
            <a:spLocks xmlns:a="http://schemas.openxmlformats.org/drawingml/2006/main" noGrp="1"/>
          </p:cNvSpPr>
          <p:nvPr/>
        </p:nvSpPr>
        <p:spPr>
          <a:xfrm xmlns:a="http://schemas.openxmlformats.org/drawingml/2006/main">
            <a:off x="9886950" y="541972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Care Circle</a:t>
            </a:r>
          </a:p>
        </p:txBody>
      </p:sp>
      <p:sp>
        <p:nvSpPr>
          <p:cNvPr id="26" name="">
            <a:extLst xmlns:a="http://schemas.openxmlformats.org/drawingml/2006/main">
              <a:ext uri="{FF2B5EF4-FFF2-40B4-BE49-F238E27FC236}">
                <a16:creationId xmlns:a16="http://schemas.microsoft.com/office/drawing/2014/main" id="{65DF5FE9-C4C4-455A-884E-0C0B78D986B2}"/>
              </a:ext>
            </a:extLst>
          </p:cNvPr>
          <p:cNvSpPr>
            <a:spLocks xmlns:a="http://schemas.openxmlformats.org/drawingml/2006/main" noGrp="1"/>
          </p:cNvSpPr>
          <p:nvPr/>
        </p:nvSpPr>
        <p:spPr>
          <a:xfrm xmlns:a="http://schemas.openxmlformats.org/drawingml/2006/main">
            <a:off x="609600" y="5924550"/>
            <a:ext cx="2714625" cy="419100"/>
          </a:xfrm>
          <a:prstGeom xmlns:a="http://schemas.openxmlformats.org/drawingml/2006/main" prst="roundRect">
            <a:avLst>
              <a:gd name="adj" fmla="val 45455"/>
            </a:avLst>
          </a:prstGeom>
          <a:solidFill xmlns:a="http://schemas.openxmlformats.org/drawingml/2006/main">
            <a:srgbClr val="FFFFFF"/>
          </a:solidFill>
          <a:ln xmlns:a="http://schemas.openxmlformats.org/drawingml/2006/main" w="9525">
            <a:solidFill>
              <a:srgbClr val="B8D6D5"/>
            </a:solidFill>
          </a:ln>
        </p:spPr>
      </p:sp>
      <p:sp>
        <p:nvSpPr>
          <p:cNvPr id="27" name="">
            <a:extLst xmlns:a="http://schemas.openxmlformats.org/drawingml/2006/main">
              <a:ext uri="{FF2B5EF4-FFF2-40B4-BE49-F238E27FC236}">
                <a16:creationId xmlns:a16="http://schemas.microsoft.com/office/drawing/2014/main" id="{BCC3B470-5F6F-48FF-97A0-799CFD4D5F2B}"/>
              </a:ext>
            </a:extLst>
          </p:cNvPr>
          <p:cNvSpPr>
            <a:spLocks xmlns:a="http://schemas.openxmlformats.org/drawingml/2006/main" noGrp="1"/>
          </p:cNvSpPr>
          <p:nvPr/>
        </p:nvSpPr>
        <p:spPr>
          <a:xfrm xmlns:a="http://schemas.openxmlformats.org/drawingml/2006/main">
            <a:off x="742950" y="601027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Handover</a:t>
            </a:r>
          </a:p>
        </p:txBody>
      </p:sp>
      <p:sp>
        <p:nvSpPr>
          <p:cNvPr id="28" name="">
            <a:extLst xmlns:a="http://schemas.openxmlformats.org/drawingml/2006/main">
              <a:ext uri="{FF2B5EF4-FFF2-40B4-BE49-F238E27FC236}">
                <a16:creationId xmlns:a16="http://schemas.microsoft.com/office/drawing/2014/main" id="{F56F2340-0220-40E3-9AA2-04F2A68D8421}"/>
              </a:ext>
            </a:extLst>
          </p:cNvPr>
          <p:cNvSpPr>
            <a:spLocks xmlns:a="http://schemas.openxmlformats.org/drawingml/2006/main" noGrp="1"/>
          </p:cNvSpPr>
          <p:nvPr/>
        </p:nvSpPr>
        <p:spPr>
          <a:xfrm xmlns:a="http://schemas.openxmlformats.org/drawingml/2006/main">
            <a:off x="3657600" y="5924550"/>
            <a:ext cx="2714625" cy="419100"/>
          </a:xfrm>
          <a:prstGeom xmlns:a="http://schemas.openxmlformats.org/drawingml/2006/main" prst="roundRect">
            <a:avLst>
              <a:gd name="adj" fmla="val 45455"/>
            </a:avLst>
          </a:prstGeom>
          <a:solidFill xmlns:a="http://schemas.openxmlformats.org/drawingml/2006/main">
            <a:srgbClr val="FFFFFF"/>
          </a:solidFill>
          <a:ln xmlns:a="http://schemas.openxmlformats.org/drawingml/2006/main" w="9525">
            <a:solidFill>
              <a:srgbClr val="B8D6D5"/>
            </a:solidFill>
          </a:ln>
        </p:spPr>
      </p:sp>
      <p:sp>
        <p:nvSpPr>
          <p:cNvPr id="29" name="">
            <a:extLst xmlns:a="http://schemas.openxmlformats.org/drawingml/2006/main">
              <a:ext uri="{FF2B5EF4-FFF2-40B4-BE49-F238E27FC236}">
                <a16:creationId xmlns:a16="http://schemas.microsoft.com/office/drawing/2014/main" id="{97B1097C-4622-4D54-BE63-3B544888E031}"/>
              </a:ext>
            </a:extLst>
          </p:cNvPr>
          <p:cNvSpPr>
            <a:spLocks xmlns:a="http://schemas.openxmlformats.org/drawingml/2006/main" noGrp="1"/>
          </p:cNvSpPr>
          <p:nvPr/>
        </p:nvSpPr>
        <p:spPr>
          <a:xfrm xmlns:a="http://schemas.openxmlformats.org/drawingml/2006/main">
            <a:off x="3790950" y="601027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Notifications</a:t>
            </a:r>
          </a:p>
        </p:txBody>
      </p:sp>
      <p:sp>
        <p:nvSpPr>
          <p:cNvPr id="30" name="">
            <a:extLst xmlns:a="http://schemas.openxmlformats.org/drawingml/2006/main">
              <a:ext uri="{FF2B5EF4-FFF2-40B4-BE49-F238E27FC236}">
                <a16:creationId xmlns:a16="http://schemas.microsoft.com/office/drawing/2014/main" id="{E5DE7221-1833-46CF-BA8E-934E3CE8A88D}"/>
              </a:ext>
            </a:extLst>
          </p:cNvPr>
          <p:cNvSpPr>
            <a:spLocks xmlns:a="http://schemas.openxmlformats.org/drawingml/2006/main" noGrp="1"/>
          </p:cNvSpPr>
          <p:nvPr/>
        </p:nvSpPr>
        <p:spPr>
          <a:xfrm xmlns:a="http://schemas.openxmlformats.org/drawingml/2006/main">
            <a:off x="6705600" y="5924550"/>
            <a:ext cx="2714625" cy="419100"/>
          </a:xfrm>
          <a:prstGeom xmlns:a="http://schemas.openxmlformats.org/drawingml/2006/main" prst="roundRect">
            <a:avLst>
              <a:gd name="adj" fmla="val 45455"/>
            </a:avLst>
          </a:prstGeom>
          <a:solidFill xmlns:a="http://schemas.openxmlformats.org/drawingml/2006/main">
            <a:srgbClr val="FFFFFF"/>
          </a:solidFill>
          <a:ln xmlns:a="http://schemas.openxmlformats.org/drawingml/2006/main" w="9525">
            <a:solidFill>
              <a:srgbClr val="B8D6D5"/>
            </a:solidFill>
          </a:ln>
        </p:spPr>
      </p:sp>
      <p:sp>
        <p:nvSpPr>
          <p:cNvPr id="31" name="">
            <a:extLst xmlns:a="http://schemas.openxmlformats.org/drawingml/2006/main">
              <a:ext uri="{FF2B5EF4-FFF2-40B4-BE49-F238E27FC236}">
                <a16:creationId xmlns:a16="http://schemas.microsoft.com/office/drawing/2014/main" id="{ED8FB42D-BE15-4590-9BE8-C3D5C057B924}"/>
              </a:ext>
            </a:extLst>
          </p:cNvPr>
          <p:cNvSpPr>
            <a:spLocks xmlns:a="http://schemas.openxmlformats.org/drawingml/2006/main" noGrp="1"/>
          </p:cNvSpPr>
          <p:nvPr/>
        </p:nvSpPr>
        <p:spPr>
          <a:xfrm xmlns:a="http://schemas.openxmlformats.org/drawingml/2006/main">
            <a:off x="6838950" y="601027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Memory</a:t>
            </a:r>
          </a:p>
        </p:txBody>
      </p:sp>
      <p:sp>
        <p:nvSpPr>
          <p:cNvPr id="32" name="">
            <a:extLst xmlns:a="http://schemas.openxmlformats.org/drawingml/2006/main">
              <a:ext uri="{FF2B5EF4-FFF2-40B4-BE49-F238E27FC236}">
                <a16:creationId xmlns:a16="http://schemas.microsoft.com/office/drawing/2014/main" id="{A73BBC3C-D6E4-401C-982E-CF48957B003F}"/>
              </a:ext>
            </a:extLst>
          </p:cNvPr>
          <p:cNvSpPr>
            <a:spLocks xmlns:a="http://schemas.openxmlformats.org/drawingml/2006/main" noGrp="1"/>
          </p:cNvSpPr>
          <p:nvPr/>
        </p:nvSpPr>
        <p:spPr>
          <a:xfrm xmlns:a="http://schemas.openxmlformats.org/drawingml/2006/main">
            <a:off x="9753600" y="5924550"/>
            <a:ext cx="2714625" cy="419100"/>
          </a:xfrm>
          <a:prstGeom xmlns:a="http://schemas.openxmlformats.org/drawingml/2006/main" prst="roundRect">
            <a:avLst>
              <a:gd name="adj" fmla="val 45455"/>
            </a:avLst>
          </a:prstGeom>
          <a:solidFill xmlns:a="http://schemas.openxmlformats.org/drawingml/2006/main">
            <a:srgbClr val="FFFFFF"/>
          </a:solidFill>
          <a:ln xmlns:a="http://schemas.openxmlformats.org/drawingml/2006/main" w="9525">
            <a:solidFill>
              <a:srgbClr val="B8D6D5"/>
            </a:solidFill>
          </a:ln>
        </p:spPr>
      </p:sp>
      <p:sp>
        <p:nvSpPr>
          <p:cNvPr id="33" name="">
            <a:extLst xmlns:a="http://schemas.openxmlformats.org/drawingml/2006/main">
              <a:ext uri="{FF2B5EF4-FFF2-40B4-BE49-F238E27FC236}">
                <a16:creationId xmlns:a16="http://schemas.microsoft.com/office/drawing/2014/main" id="{B4AF9170-E740-4AC0-BBDC-D3324F26BC57}"/>
              </a:ext>
            </a:extLst>
          </p:cNvPr>
          <p:cNvSpPr>
            <a:spLocks xmlns:a="http://schemas.openxmlformats.org/drawingml/2006/main" noGrp="1"/>
          </p:cNvSpPr>
          <p:nvPr/>
        </p:nvSpPr>
        <p:spPr>
          <a:xfrm xmlns:a="http://schemas.openxmlformats.org/drawingml/2006/main">
            <a:off x="9886950" y="601027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Audit + evals</a:t>
            </a:r>
          </a:p>
        </p:txBody>
      </p:sp>
    </p:spTree>
    <p:extLst>
      <p:ext uri="{BB962C8B-B14F-4D97-AF65-F5344CB8AC3E}">
        <p14:creationId xmlns:p14="http://schemas.microsoft.com/office/powerpoint/2010/main" val="286799184"/>
      </p:ext>
    </p:extLst>
  </p:cSld>
</p:sld>
</file>

<file path=ppt/slides/slide14.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84" name="">
            <a:extLst xmlns:a="http://schemas.openxmlformats.org/drawingml/2006/main">
              <a:ext uri="{FF2B5EF4-FFF2-40B4-BE49-F238E27FC236}">
                <a16:creationId xmlns:a16="http://schemas.microsoft.com/office/drawing/2014/main" id="{08451D76-865D-4E10-AEC0-C173EB0A40B4}"/>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F46127-1CD2-4BA9-8C30-AB0C853B6224}"/>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3964BC60-E8CC-4314-B880-F60C6FC9FDC8}"/>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4C79A96A-830E-468B-8093-AB5EFB9A8728}"/>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EVALUATION STRATEGY</a:t>
            </a:r>
          </a:p>
        </p:txBody>
      </p:sp>
      <p:sp>
        <p:nvSpPr>
          <p:cNvPr id="5" name="">
            <a:extLst xmlns:a="http://schemas.openxmlformats.org/drawingml/2006/main">
              <a:ext uri="{FF2B5EF4-FFF2-40B4-BE49-F238E27FC236}">
                <a16:creationId xmlns:a16="http://schemas.microsoft.com/office/drawing/2014/main" id="{BF5F95C4-F52A-48E3-9DF1-70BA6D6C8EFE}"/>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EA6A904B-7C6E-49F8-895F-4F474768C33A}"/>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14 / 16</a:t>
            </a:r>
          </a:p>
        </p:txBody>
      </p:sp>
      <p:sp>
        <p:nvSpPr>
          <p:cNvPr id="7" name="">
            <a:extLst xmlns:a="http://schemas.openxmlformats.org/drawingml/2006/main">
              <a:ext uri="{FF2B5EF4-FFF2-40B4-BE49-F238E27FC236}">
                <a16:creationId xmlns:a16="http://schemas.microsoft.com/office/drawing/2014/main" id="{3CE52146-B64F-4488-BF55-9A4ED46E45DC}"/>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EVALUATION</a:t>
            </a:r>
          </a:p>
        </p:txBody>
      </p:sp>
      <p:sp>
        <p:nvSpPr>
          <p:cNvPr id="8" name="">
            <a:extLst xmlns:a="http://schemas.openxmlformats.org/drawingml/2006/main">
              <a:ext uri="{FF2B5EF4-FFF2-40B4-BE49-F238E27FC236}">
                <a16:creationId xmlns:a16="http://schemas.microsoft.com/office/drawing/2014/main" id="{E27C8255-74DC-4036-9F16-C0B9BB75C32D}"/>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Evaluate every step, not only the final answer.</a:t>
            </a:r>
          </a:p>
        </p:txBody>
      </p:sp>
      <p:sp>
        <p:nvSpPr>
          <p:cNvPr id="9" name="">
            <a:extLst xmlns:a="http://schemas.openxmlformats.org/drawingml/2006/main">
              <a:ext uri="{FF2B5EF4-FFF2-40B4-BE49-F238E27FC236}">
                <a16:creationId xmlns:a16="http://schemas.microsoft.com/office/drawing/2014/main" id="{5DDA9E03-F35E-460C-AB13-019A1EF61688}"/>
              </a:ext>
            </a:extLst>
          </p:cNvPr>
          <p:cNvSpPr>
            <a:spLocks xmlns:a="http://schemas.openxmlformats.org/drawingml/2006/main" noGrp="1"/>
          </p:cNvSpPr>
          <p:nvPr/>
        </p:nvSpPr>
        <p:spPr>
          <a:xfrm xmlns:a="http://schemas.openxmlformats.org/drawingml/2006/main">
            <a:off x="609600" y="2524125"/>
            <a:ext cx="1152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536870"/>
                </a:solidFill>
                <a:latin typeface="Avenir Next"/>
                <a:ea typeface="Avenir Next"/>
                <a:cs typeface="Avenir Next"/>
              </a:defRPr>
            </a:pPr>
            <a:r>
              <a:rPr sz="1575" b="0" i="0">
                <a:solidFill>
                  <a:srgbClr val="536870"/>
                </a:solidFill>
                <a:latin typeface="Avenir Next"/>
                <a:ea typeface="Avenir Next"/>
                <a:cs typeface="Avenir Next"/>
              </a:rPr>
              <a:t>Each synthetic scenario has known evidence, policy, action, and outcome expectations.</a:t>
            </a:r>
          </a:p>
        </p:txBody>
      </p:sp>
      <p:sp>
        <p:nvSpPr>
          <p:cNvPr id="10" name="">
            <a:extLst xmlns:a="http://schemas.openxmlformats.org/drawingml/2006/main">
              <a:ext uri="{FF2B5EF4-FFF2-40B4-BE49-F238E27FC236}">
                <a16:creationId xmlns:a16="http://schemas.microsoft.com/office/drawing/2014/main" id="{718D2B83-FC4B-446E-BCBE-68BDC151E1A0}"/>
              </a:ext>
            </a:extLst>
          </p:cNvPr>
          <p:cNvSpPr>
            <a:spLocks xmlns:a="http://schemas.openxmlformats.org/drawingml/2006/main" noGrp="1"/>
          </p:cNvSpPr>
          <p:nvPr/>
        </p:nvSpPr>
        <p:spPr>
          <a:xfrm xmlns:a="http://schemas.openxmlformats.org/drawingml/2006/main">
            <a:off x="523875" y="2857500"/>
            <a:ext cx="1790700" cy="590550"/>
          </a:xfrm>
          <a:prstGeom xmlns:a="http://schemas.openxmlformats.org/drawingml/2006/main" prst="roundRect">
            <a:avLst>
              <a:gd name="adj" fmla="val 19355"/>
            </a:avLst>
          </a:prstGeom>
          <a:solidFill xmlns:a="http://schemas.openxmlformats.org/drawingml/2006/main">
            <a:srgbClr val="E1F4F1"/>
          </a:solidFill>
          <a:ln xmlns:a="http://schemas.openxmlformats.org/drawingml/2006/main" w="9525">
            <a:solidFill>
              <a:srgbClr val="B8D6D5"/>
            </a:solidFill>
          </a:ln>
        </p:spPr>
      </p:sp>
      <p:sp>
        <p:nvSpPr>
          <p:cNvPr id="11" name="">
            <a:extLst xmlns:a="http://schemas.openxmlformats.org/drawingml/2006/main">
              <a:ext uri="{FF2B5EF4-FFF2-40B4-BE49-F238E27FC236}">
                <a16:creationId xmlns:a16="http://schemas.microsoft.com/office/drawing/2014/main" id="{389E1FC5-56D3-4FD4-BC8F-F7D513B348A0}"/>
              </a:ext>
            </a:extLst>
          </p:cNvPr>
          <p:cNvSpPr>
            <a:spLocks xmlns:a="http://schemas.openxmlformats.org/drawingml/2006/main" noGrp="1"/>
          </p:cNvSpPr>
          <p:nvPr/>
        </p:nvSpPr>
        <p:spPr>
          <a:xfrm xmlns:a="http://schemas.openxmlformats.org/drawingml/2006/main">
            <a:off x="638175" y="3000375"/>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0CB0E1D-0EE1-4B7D-A735-0778929656A1}"/>
              </a:ext>
            </a:extLst>
          </p:cNvPr>
          <p:cNvSpPr>
            <a:spLocks xmlns:a="http://schemas.openxmlformats.org/drawingml/2006/main" noGrp="1"/>
          </p:cNvSpPr>
          <p:nvPr/>
        </p:nvSpPr>
        <p:spPr>
          <a:xfrm xmlns:a="http://schemas.openxmlformats.org/drawingml/2006/main">
            <a:off x="638175" y="30384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1</a:t>
            </a:r>
          </a:p>
        </p:txBody>
      </p:sp>
      <p:sp>
        <p:nvSpPr>
          <p:cNvPr id="13" name="">
            <a:extLst xmlns:a="http://schemas.openxmlformats.org/drawingml/2006/main">
              <a:ext uri="{FF2B5EF4-FFF2-40B4-BE49-F238E27FC236}">
                <a16:creationId xmlns:a16="http://schemas.microsoft.com/office/drawing/2014/main" id="{5AE5F49C-A1D9-4A30-97CF-BE0A9609DC7A}"/>
              </a:ext>
            </a:extLst>
          </p:cNvPr>
          <p:cNvSpPr>
            <a:spLocks xmlns:a="http://schemas.openxmlformats.org/drawingml/2006/main" noGrp="1"/>
          </p:cNvSpPr>
          <p:nvPr/>
        </p:nvSpPr>
        <p:spPr>
          <a:xfrm xmlns:a="http://schemas.openxmlformats.org/drawingml/2006/main">
            <a:off x="1019175" y="2924175"/>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l">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Scenario</a:t>
            </a:r>
          </a:p>
        </p:txBody>
      </p:sp>
      <p:sp>
        <p:nvSpPr>
          <p:cNvPr id="14" name="">
            <a:extLst xmlns:a="http://schemas.openxmlformats.org/drawingml/2006/main">
              <a:ext uri="{FF2B5EF4-FFF2-40B4-BE49-F238E27FC236}">
                <a16:creationId xmlns:a16="http://schemas.microsoft.com/office/drawing/2014/main" id="{DA323804-CE37-4977-A81A-9FB88E1EDDC8}"/>
              </a:ext>
            </a:extLst>
          </p:cNvPr>
          <p:cNvSpPr>
            <a:spLocks xmlns:a="http://schemas.openxmlformats.org/drawingml/2006/main" noGrp="1"/>
          </p:cNvSpPr>
          <p:nvPr/>
        </p:nvSpPr>
        <p:spPr>
          <a:xfrm xmlns:a="http://schemas.openxmlformats.org/drawingml/2006/main">
            <a:off x="1019175" y="31813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l">
              <a:defRPr sz="825" b="0" i="0">
                <a:solidFill>
                  <a:srgbClr val="536870"/>
                </a:solidFill>
                <a:latin typeface="Avenir Next"/>
                <a:ea typeface="Avenir Next"/>
                <a:cs typeface="Avenir Next"/>
              </a:defRPr>
            </a:pPr>
            <a:r>
              <a:rPr sz="825" b="0" i="0">
                <a:solidFill>
                  <a:srgbClr val="536870"/>
                </a:solidFill>
                <a:latin typeface="Avenir Next"/>
                <a:ea typeface="Avenir Next"/>
                <a:cs typeface="Avenir Next"/>
              </a:rPr>
              <a:t>Known input + outcome</a:t>
            </a:r>
          </a:p>
        </p:txBody>
      </p:sp>
      <p:sp>
        <p:nvSpPr>
          <p:cNvPr id="15" name="">
            <a:extLst xmlns:a="http://schemas.openxmlformats.org/drawingml/2006/main">
              <a:ext uri="{FF2B5EF4-FFF2-40B4-BE49-F238E27FC236}">
                <a16:creationId xmlns:a16="http://schemas.microsoft.com/office/drawing/2014/main" id="{A08DEDB7-81B7-4717-BA0A-1577A7082EB0}"/>
              </a:ext>
            </a:extLst>
          </p:cNvPr>
          <p:cNvSpPr>
            <a:spLocks xmlns:a="http://schemas.openxmlformats.org/drawingml/2006/main" noGrp="1"/>
          </p:cNvSpPr>
          <p:nvPr/>
        </p:nvSpPr>
        <p:spPr>
          <a:xfrm xmlns:a="http://schemas.openxmlformats.org/drawingml/2006/main">
            <a:off x="2333625" y="3019425"/>
            <a:ext cx="247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0657"/>
          </a:bodyPr>
          <a:lstStyle xmlns:a="http://schemas.openxmlformats.org/drawingml/2006/main"/>
          <a:p xmlns:a="http://schemas.openxmlformats.org/drawingml/2006/main">
            <a:pPr algn="ctr">
              <a:defRPr sz="1650" b="1" i="0">
                <a:solidFill>
                  <a:srgbClr val="087F8C"/>
                </a:solidFill>
                <a:latin typeface="Avenir Next"/>
                <a:ea typeface="Avenir Next"/>
                <a:cs typeface="Avenir Next"/>
              </a:defRPr>
            </a:pPr>
            <a:r>
              <a:rPr sz="1650" b="1" i="0">
                <a:solidFill>
                  <a:srgbClr val="087F8C"/>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184D5539-DFDF-41F1-A8C8-079773F66F41}"/>
              </a:ext>
            </a:extLst>
          </p:cNvPr>
          <p:cNvSpPr>
            <a:spLocks xmlns:a="http://schemas.openxmlformats.org/drawingml/2006/main" noGrp="1"/>
          </p:cNvSpPr>
          <p:nvPr/>
        </p:nvSpPr>
        <p:spPr>
          <a:xfrm xmlns:a="http://schemas.openxmlformats.org/drawingml/2006/main">
            <a:off x="2600325" y="2857500"/>
            <a:ext cx="1790700" cy="590550"/>
          </a:xfrm>
          <a:prstGeom xmlns:a="http://schemas.openxmlformats.org/drawingml/2006/main" prst="roundRect">
            <a:avLst>
              <a:gd name="adj" fmla="val 19355"/>
            </a:avLst>
          </a:prstGeom>
          <a:solidFill xmlns:a="http://schemas.openxmlformats.org/drawingml/2006/main">
            <a:srgbClr val="E1F4F1"/>
          </a:solidFill>
          <a:ln xmlns:a="http://schemas.openxmlformats.org/drawingml/2006/main" w="9525">
            <a:solidFill>
              <a:srgbClr val="B8D6D5"/>
            </a:solidFill>
          </a:ln>
        </p:spPr>
      </p:sp>
      <p:sp>
        <p:nvSpPr>
          <p:cNvPr id="17" name="">
            <a:extLst xmlns:a="http://schemas.openxmlformats.org/drawingml/2006/main">
              <a:ext uri="{FF2B5EF4-FFF2-40B4-BE49-F238E27FC236}">
                <a16:creationId xmlns:a16="http://schemas.microsoft.com/office/drawing/2014/main" id="{5CB2FAE1-BB86-4AE7-ADE5-B2FE19471955}"/>
              </a:ext>
            </a:extLst>
          </p:cNvPr>
          <p:cNvSpPr>
            <a:spLocks xmlns:a="http://schemas.openxmlformats.org/drawingml/2006/main" noGrp="1"/>
          </p:cNvSpPr>
          <p:nvPr/>
        </p:nvSpPr>
        <p:spPr>
          <a:xfrm xmlns:a="http://schemas.openxmlformats.org/drawingml/2006/main">
            <a:off x="2714625" y="3000375"/>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68F7CA-D64C-4948-9C82-F57D9DDED7C6}"/>
              </a:ext>
            </a:extLst>
          </p:cNvPr>
          <p:cNvSpPr>
            <a:spLocks xmlns:a="http://schemas.openxmlformats.org/drawingml/2006/main" noGrp="1"/>
          </p:cNvSpPr>
          <p:nvPr/>
        </p:nvSpPr>
        <p:spPr>
          <a:xfrm xmlns:a="http://schemas.openxmlformats.org/drawingml/2006/main">
            <a:off x="2714625" y="30384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a:t>
            </a:r>
          </a:p>
        </p:txBody>
      </p:sp>
      <p:sp>
        <p:nvSpPr>
          <p:cNvPr id="19" name="">
            <a:extLst xmlns:a="http://schemas.openxmlformats.org/drawingml/2006/main">
              <a:ext uri="{FF2B5EF4-FFF2-40B4-BE49-F238E27FC236}">
                <a16:creationId xmlns:a16="http://schemas.microsoft.com/office/drawing/2014/main" id="{D132DA66-204F-4CC0-9550-592D5B8A4620}"/>
              </a:ext>
            </a:extLst>
          </p:cNvPr>
          <p:cNvSpPr>
            <a:spLocks xmlns:a="http://schemas.openxmlformats.org/drawingml/2006/main" noGrp="1"/>
          </p:cNvSpPr>
          <p:nvPr/>
        </p:nvSpPr>
        <p:spPr>
          <a:xfrm xmlns:a="http://schemas.openxmlformats.org/drawingml/2006/main">
            <a:off x="3095625" y="2924175"/>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l">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Retrieve</a:t>
            </a:r>
          </a:p>
        </p:txBody>
      </p:sp>
      <p:sp>
        <p:nvSpPr>
          <p:cNvPr id="20" name="">
            <a:extLst xmlns:a="http://schemas.openxmlformats.org/drawingml/2006/main">
              <a:ext uri="{FF2B5EF4-FFF2-40B4-BE49-F238E27FC236}">
                <a16:creationId xmlns:a16="http://schemas.microsoft.com/office/drawing/2014/main" id="{F0F4165F-8FFC-4CD9-AA28-60DE8572BC70}"/>
              </a:ext>
            </a:extLst>
          </p:cNvPr>
          <p:cNvSpPr>
            <a:spLocks xmlns:a="http://schemas.openxmlformats.org/drawingml/2006/main" noGrp="1"/>
          </p:cNvSpPr>
          <p:nvPr/>
        </p:nvSpPr>
        <p:spPr>
          <a:xfrm xmlns:a="http://schemas.openxmlformats.org/drawingml/2006/main">
            <a:off x="3095625" y="31813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l">
              <a:defRPr sz="825" b="0" i="0">
                <a:solidFill>
                  <a:srgbClr val="536870"/>
                </a:solidFill>
                <a:latin typeface="Avenir Next"/>
                <a:ea typeface="Avenir Next"/>
                <a:cs typeface="Avenir Next"/>
              </a:defRPr>
            </a:pPr>
            <a:r>
              <a:rPr sz="825" b="0" i="0">
                <a:solidFill>
                  <a:srgbClr val="536870"/>
                </a:solidFill>
                <a:latin typeface="Avenir Next"/>
                <a:ea typeface="Avenir Next"/>
                <a:cs typeface="Avenir Next"/>
              </a:rPr>
              <a:t>Scoped evidence</a:t>
            </a:r>
          </a:p>
        </p:txBody>
      </p:sp>
      <p:sp>
        <p:nvSpPr>
          <p:cNvPr id="21" name="">
            <a:extLst xmlns:a="http://schemas.openxmlformats.org/drawingml/2006/main">
              <a:ext uri="{FF2B5EF4-FFF2-40B4-BE49-F238E27FC236}">
                <a16:creationId xmlns:a16="http://schemas.microsoft.com/office/drawing/2014/main" id="{B7A9C4B2-06FD-44E2-AF11-C11F32490FE9}"/>
              </a:ext>
            </a:extLst>
          </p:cNvPr>
          <p:cNvSpPr>
            <a:spLocks xmlns:a="http://schemas.openxmlformats.org/drawingml/2006/main" noGrp="1"/>
          </p:cNvSpPr>
          <p:nvPr/>
        </p:nvSpPr>
        <p:spPr>
          <a:xfrm xmlns:a="http://schemas.openxmlformats.org/drawingml/2006/main">
            <a:off x="4410075" y="3019425"/>
            <a:ext cx="247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0657"/>
          </a:bodyPr>
          <a:lstStyle xmlns:a="http://schemas.openxmlformats.org/drawingml/2006/main"/>
          <a:p xmlns:a="http://schemas.openxmlformats.org/drawingml/2006/main">
            <a:pPr algn="ctr">
              <a:defRPr sz="1650" b="1" i="0">
                <a:solidFill>
                  <a:srgbClr val="087F8C"/>
                </a:solidFill>
                <a:latin typeface="Avenir Next"/>
                <a:ea typeface="Avenir Next"/>
                <a:cs typeface="Avenir Next"/>
              </a:defRPr>
            </a:pPr>
            <a:r>
              <a:rPr sz="1650" b="1" i="0">
                <a:solidFill>
                  <a:srgbClr val="087F8C"/>
                </a:solidFill>
                <a:latin typeface="Avenir Next"/>
                <a:ea typeface="Avenir Next"/>
                <a:cs typeface="Avenir Next"/>
              </a:rPr>
              <a:t>→</a:t>
            </a:r>
          </a:p>
        </p:txBody>
      </p:sp>
      <p:sp>
        <p:nvSpPr>
          <p:cNvPr id="22" name="">
            <a:extLst xmlns:a="http://schemas.openxmlformats.org/drawingml/2006/main">
              <a:ext uri="{FF2B5EF4-FFF2-40B4-BE49-F238E27FC236}">
                <a16:creationId xmlns:a16="http://schemas.microsoft.com/office/drawing/2014/main" id="{3DAC56C0-96CD-43A3-99DD-47381983A86F}"/>
              </a:ext>
            </a:extLst>
          </p:cNvPr>
          <p:cNvSpPr>
            <a:spLocks xmlns:a="http://schemas.openxmlformats.org/drawingml/2006/main" noGrp="1"/>
          </p:cNvSpPr>
          <p:nvPr/>
        </p:nvSpPr>
        <p:spPr>
          <a:xfrm xmlns:a="http://schemas.openxmlformats.org/drawingml/2006/main">
            <a:off x="4676775" y="2857500"/>
            <a:ext cx="1790700" cy="590550"/>
          </a:xfrm>
          <a:prstGeom xmlns:a="http://schemas.openxmlformats.org/drawingml/2006/main" prst="roundRect">
            <a:avLst>
              <a:gd name="adj" fmla="val 19355"/>
            </a:avLst>
          </a:prstGeom>
          <a:solidFill xmlns:a="http://schemas.openxmlformats.org/drawingml/2006/main">
            <a:srgbClr val="E1F4F1"/>
          </a:solidFill>
          <a:ln xmlns:a="http://schemas.openxmlformats.org/drawingml/2006/main" w="9525">
            <a:solidFill>
              <a:srgbClr val="B8D6D5"/>
            </a:solidFill>
          </a:ln>
        </p:spPr>
      </p:sp>
      <p:sp>
        <p:nvSpPr>
          <p:cNvPr id="23" name="">
            <a:extLst xmlns:a="http://schemas.openxmlformats.org/drawingml/2006/main">
              <a:ext uri="{FF2B5EF4-FFF2-40B4-BE49-F238E27FC236}">
                <a16:creationId xmlns:a16="http://schemas.microsoft.com/office/drawing/2014/main" id="{239B31AE-0F30-40FE-B75A-C5FA078B93B4}"/>
              </a:ext>
            </a:extLst>
          </p:cNvPr>
          <p:cNvSpPr>
            <a:spLocks xmlns:a="http://schemas.openxmlformats.org/drawingml/2006/main" noGrp="1"/>
          </p:cNvSpPr>
          <p:nvPr/>
        </p:nvSpPr>
        <p:spPr>
          <a:xfrm xmlns:a="http://schemas.openxmlformats.org/drawingml/2006/main">
            <a:off x="4791075" y="3000375"/>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A30DA5B-86C0-4037-BD42-C648CEF016A1}"/>
              </a:ext>
            </a:extLst>
          </p:cNvPr>
          <p:cNvSpPr>
            <a:spLocks xmlns:a="http://schemas.openxmlformats.org/drawingml/2006/main" noGrp="1"/>
          </p:cNvSpPr>
          <p:nvPr/>
        </p:nvSpPr>
        <p:spPr>
          <a:xfrm xmlns:a="http://schemas.openxmlformats.org/drawingml/2006/main">
            <a:off x="4791075" y="30384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3</a:t>
            </a:r>
          </a:p>
        </p:txBody>
      </p:sp>
      <p:sp>
        <p:nvSpPr>
          <p:cNvPr id="25" name="">
            <a:extLst xmlns:a="http://schemas.openxmlformats.org/drawingml/2006/main">
              <a:ext uri="{FF2B5EF4-FFF2-40B4-BE49-F238E27FC236}">
                <a16:creationId xmlns:a16="http://schemas.microsoft.com/office/drawing/2014/main" id="{D0A21218-C706-46F2-92C7-464EC00CE2B2}"/>
              </a:ext>
            </a:extLst>
          </p:cNvPr>
          <p:cNvSpPr>
            <a:spLocks xmlns:a="http://schemas.openxmlformats.org/drawingml/2006/main" noGrp="1"/>
          </p:cNvSpPr>
          <p:nvPr/>
        </p:nvSpPr>
        <p:spPr>
          <a:xfrm xmlns:a="http://schemas.openxmlformats.org/drawingml/2006/main">
            <a:off x="5172075" y="2924175"/>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l">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Decide</a:t>
            </a:r>
          </a:p>
        </p:txBody>
      </p:sp>
      <p:sp>
        <p:nvSpPr>
          <p:cNvPr id="26" name="">
            <a:extLst xmlns:a="http://schemas.openxmlformats.org/drawingml/2006/main">
              <a:ext uri="{FF2B5EF4-FFF2-40B4-BE49-F238E27FC236}">
                <a16:creationId xmlns:a16="http://schemas.microsoft.com/office/drawing/2014/main" id="{D369ECA7-A1DC-47DF-BA50-7068047AFEF4}"/>
              </a:ext>
            </a:extLst>
          </p:cNvPr>
          <p:cNvSpPr>
            <a:spLocks xmlns:a="http://schemas.openxmlformats.org/drawingml/2006/main" noGrp="1"/>
          </p:cNvSpPr>
          <p:nvPr/>
        </p:nvSpPr>
        <p:spPr>
          <a:xfrm xmlns:a="http://schemas.openxmlformats.org/drawingml/2006/main">
            <a:off x="5172075" y="31813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l">
              <a:defRPr sz="825" b="0" i="0">
                <a:solidFill>
                  <a:srgbClr val="536870"/>
                </a:solidFill>
                <a:latin typeface="Avenir Next"/>
                <a:ea typeface="Avenir Next"/>
                <a:cs typeface="Avenir Next"/>
              </a:defRPr>
            </a:pPr>
            <a:r>
              <a:rPr sz="825" b="0" i="0">
                <a:solidFill>
                  <a:srgbClr val="536870"/>
                </a:solidFill>
                <a:latin typeface="Avenir Next"/>
                <a:ea typeface="Avenir Next"/>
                <a:cs typeface="Avenir Next"/>
              </a:rPr>
              <a:t>Risk or clarification</a:t>
            </a:r>
          </a:p>
        </p:txBody>
      </p:sp>
      <p:sp>
        <p:nvSpPr>
          <p:cNvPr id="27" name="">
            <a:extLst xmlns:a="http://schemas.openxmlformats.org/drawingml/2006/main">
              <a:ext uri="{FF2B5EF4-FFF2-40B4-BE49-F238E27FC236}">
                <a16:creationId xmlns:a16="http://schemas.microsoft.com/office/drawing/2014/main" id="{367022DD-8B64-4CF7-90D0-B719C7697FC9}"/>
              </a:ext>
            </a:extLst>
          </p:cNvPr>
          <p:cNvSpPr>
            <a:spLocks xmlns:a="http://schemas.openxmlformats.org/drawingml/2006/main" noGrp="1"/>
          </p:cNvSpPr>
          <p:nvPr/>
        </p:nvSpPr>
        <p:spPr>
          <a:xfrm xmlns:a="http://schemas.openxmlformats.org/drawingml/2006/main">
            <a:off x="6486525" y="3019425"/>
            <a:ext cx="247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0657"/>
          </a:bodyPr>
          <a:lstStyle xmlns:a="http://schemas.openxmlformats.org/drawingml/2006/main"/>
          <a:p xmlns:a="http://schemas.openxmlformats.org/drawingml/2006/main">
            <a:pPr algn="ctr">
              <a:defRPr sz="1650" b="1" i="0">
                <a:solidFill>
                  <a:srgbClr val="087F8C"/>
                </a:solidFill>
                <a:latin typeface="Avenir Next"/>
                <a:ea typeface="Avenir Next"/>
                <a:cs typeface="Avenir Next"/>
              </a:defRPr>
            </a:pPr>
            <a:r>
              <a:rPr sz="1650" b="1" i="0">
                <a:solidFill>
                  <a:srgbClr val="087F8C"/>
                </a:solidFill>
                <a:latin typeface="Avenir Next"/>
                <a:ea typeface="Avenir Next"/>
                <a:cs typeface="Avenir Next"/>
              </a:rPr>
              <a:t>→</a:t>
            </a:r>
          </a:p>
        </p:txBody>
      </p:sp>
      <p:sp>
        <p:nvSpPr>
          <p:cNvPr id="28" name="">
            <a:extLst xmlns:a="http://schemas.openxmlformats.org/drawingml/2006/main">
              <a:ext uri="{FF2B5EF4-FFF2-40B4-BE49-F238E27FC236}">
                <a16:creationId xmlns:a16="http://schemas.microsoft.com/office/drawing/2014/main" id="{C0D73400-C71E-4679-80F6-1EA9B0B24C25}"/>
              </a:ext>
            </a:extLst>
          </p:cNvPr>
          <p:cNvSpPr>
            <a:spLocks xmlns:a="http://schemas.openxmlformats.org/drawingml/2006/main" noGrp="1"/>
          </p:cNvSpPr>
          <p:nvPr/>
        </p:nvSpPr>
        <p:spPr>
          <a:xfrm xmlns:a="http://schemas.openxmlformats.org/drawingml/2006/main">
            <a:off x="6753225" y="2857500"/>
            <a:ext cx="1790700" cy="590550"/>
          </a:xfrm>
          <a:prstGeom xmlns:a="http://schemas.openxmlformats.org/drawingml/2006/main" prst="roundRect">
            <a:avLst>
              <a:gd name="adj" fmla="val 19355"/>
            </a:avLst>
          </a:prstGeom>
          <a:solidFill xmlns:a="http://schemas.openxmlformats.org/drawingml/2006/main">
            <a:srgbClr val="FFD1AF"/>
          </a:solidFill>
          <a:ln xmlns:a="http://schemas.openxmlformats.org/drawingml/2006/main" w="9525">
            <a:solidFill>
              <a:srgbClr val="B8D6D5"/>
            </a:solidFill>
          </a:ln>
        </p:spPr>
      </p:sp>
      <p:sp>
        <p:nvSpPr>
          <p:cNvPr id="29" name="">
            <a:extLst xmlns:a="http://schemas.openxmlformats.org/drawingml/2006/main">
              <a:ext uri="{FF2B5EF4-FFF2-40B4-BE49-F238E27FC236}">
                <a16:creationId xmlns:a16="http://schemas.microsoft.com/office/drawing/2014/main" id="{2E74A8A4-5315-4132-8BC9-FA7F937ADEB1}"/>
              </a:ext>
            </a:extLst>
          </p:cNvPr>
          <p:cNvSpPr>
            <a:spLocks xmlns:a="http://schemas.openxmlformats.org/drawingml/2006/main" noGrp="1"/>
          </p:cNvSpPr>
          <p:nvPr/>
        </p:nvSpPr>
        <p:spPr>
          <a:xfrm xmlns:a="http://schemas.openxmlformats.org/drawingml/2006/main">
            <a:off x="6867525" y="3000375"/>
            <a:ext cx="285750" cy="285750"/>
          </a:xfrm>
          <a:prstGeom xmlns:a="http://schemas.openxmlformats.org/drawingml/2006/main" prst="ellipse">
            <a:avLst/>
          </a:prstGeom>
          <a:solidFill xmlns:a="http://schemas.openxmlformats.org/drawingml/2006/main">
            <a:srgbClr val="B65A3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380A312-DF9C-4F48-914B-94C4A51AEBAD}"/>
              </a:ext>
            </a:extLst>
          </p:cNvPr>
          <p:cNvSpPr>
            <a:spLocks xmlns:a="http://schemas.openxmlformats.org/drawingml/2006/main" noGrp="1"/>
          </p:cNvSpPr>
          <p:nvPr/>
        </p:nvSpPr>
        <p:spPr>
          <a:xfrm xmlns:a="http://schemas.openxmlformats.org/drawingml/2006/main">
            <a:off x="6867525" y="30384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4</a:t>
            </a:r>
          </a:p>
        </p:txBody>
      </p:sp>
      <p:sp>
        <p:nvSpPr>
          <p:cNvPr id="31" name="">
            <a:extLst xmlns:a="http://schemas.openxmlformats.org/drawingml/2006/main">
              <a:ext uri="{FF2B5EF4-FFF2-40B4-BE49-F238E27FC236}">
                <a16:creationId xmlns:a16="http://schemas.microsoft.com/office/drawing/2014/main" id="{8A5F57A7-2100-487A-B185-5E2950C3D919}"/>
              </a:ext>
            </a:extLst>
          </p:cNvPr>
          <p:cNvSpPr>
            <a:spLocks xmlns:a="http://schemas.openxmlformats.org/drawingml/2006/main" noGrp="1"/>
          </p:cNvSpPr>
          <p:nvPr/>
        </p:nvSpPr>
        <p:spPr>
          <a:xfrm xmlns:a="http://schemas.openxmlformats.org/drawingml/2006/main">
            <a:off x="7248525" y="2924175"/>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l">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Constrain</a:t>
            </a:r>
          </a:p>
        </p:txBody>
      </p:sp>
      <p:sp>
        <p:nvSpPr>
          <p:cNvPr id="32" name="">
            <a:extLst xmlns:a="http://schemas.openxmlformats.org/drawingml/2006/main">
              <a:ext uri="{FF2B5EF4-FFF2-40B4-BE49-F238E27FC236}">
                <a16:creationId xmlns:a16="http://schemas.microsoft.com/office/drawing/2014/main" id="{3A16532F-DF3A-4636-8C21-4C0145AA2E8D}"/>
              </a:ext>
            </a:extLst>
          </p:cNvPr>
          <p:cNvSpPr>
            <a:spLocks xmlns:a="http://schemas.openxmlformats.org/drawingml/2006/main" noGrp="1"/>
          </p:cNvSpPr>
          <p:nvPr/>
        </p:nvSpPr>
        <p:spPr>
          <a:xfrm xmlns:a="http://schemas.openxmlformats.org/drawingml/2006/main">
            <a:off x="7248525" y="31813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l">
              <a:defRPr sz="825" b="0" i="0">
                <a:solidFill>
                  <a:srgbClr val="536870"/>
                </a:solidFill>
                <a:latin typeface="Avenir Next"/>
                <a:ea typeface="Avenir Next"/>
                <a:cs typeface="Avenir Next"/>
              </a:defRPr>
            </a:pPr>
            <a:r>
              <a:rPr sz="825" b="0" i="0">
                <a:solidFill>
                  <a:srgbClr val="536870"/>
                </a:solidFill>
                <a:latin typeface="Avenir Next"/>
                <a:ea typeface="Avenir Next"/>
                <a:cs typeface="Avenir Next"/>
              </a:rPr>
              <a:t>Policy + approval</a:t>
            </a:r>
          </a:p>
        </p:txBody>
      </p:sp>
      <p:sp>
        <p:nvSpPr>
          <p:cNvPr id="33" name="">
            <a:extLst xmlns:a="http://schemas.openxmlformats.org/drawingml/2006/main">
              <a:ext uri="{FF2B5EF4-FFF2-40B4-BE49-F238E27FC236}">
                <a16:creationId xmlns:a16="http://schemas.microsoft.com/office/drawing/2014/main" id="{45BF5EF5-65C6-4648-9F27-BE781A0E4E8A}"/>
              </a:ext>
            </a:extLst>
          </p:cNvPr>
          <p:cNvSpPr>
            <a:spLocks xmlns:a="http://schemas.openxmlformats.org/drawingml/2006/main" noGrp="1"/>
          </p:cNvSpPr>
          <p:nvPr/>
        </p:nvSpPr>
        <p:spPr>
          <a:xfrm xmlns:a="http://schemas.openxmlformats.org/drawingml/2006/main">
            <a:off x="8562975" y="3019425"/>
            <a:ext cx="247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0657"/>
          </a:bodyPr>
          <a:lstStyle xmlns:a="http://schemas.openxmlformats.org/drawingml/2006/main"/>
          <a:p xmlns:a="http://schemas.openxmlformats.org/drawingml/2006/main">
            <a:pPr algn="ctr">
              <a:defRPr sz="1650" b="1" i="0">
                <a:solidFill>
                  <a:srgbClr val="087F8C"/>
                </a:solidFill>
                <a:latin typeface="Avenir Next"/>
                <a:ea typeface="Avenir Next"/>
                <a:cs typeface="Avenir Next"/>
              </a:defRPr>
            </a:pPr>
            <a:r>
              <a:rPr sz="1650" b="1" i="0">
                <a:solidFill>
                  <a:srgbClr val="087F8C"/>
                </a:solidFill>
                <a:latin typeface="Avenir Next"/>
                <a:ea typeface="Avenir Next"/>
                <a:cs typeface="Avenir Next"/>
              </a:rPr>
              <a:t>→</a:t>
            </a:r>
          </a:p>
        </p:txBody>
      </p:sp>
      <p:sp>
        <p:nvSpPr>
          <p:cNvPr id="34" name="">
            <a:extLst xmlns:a="http://schemas.openxmlformats.org/drawingml/2006/main">
              <a:ext uri="{FF2B5EF4-FFF2-40B4-BE49-F238E27FC236}">
                <a16:creationId xmlns:a16="http://schemas.microsoft.com/office/drawing/2014/main" id="{826C5539-75E8-4495-845B-0E85767FBC6D}"/>
              </a:ext>
            </a:extLst>
          </p:cNvPr>
          <p:cNvSpPr>
            <a:spLocks xmlns:a="http://schemas.openxmlformats.org/drawingml/2006/main" noGrp="1"/>
          </p:cNvSpPr>
          <p:nvPr/>
        </p:nvSpPr>
        <p:spPr>
          <a:xfrm xmlns:a="http://schemas.openxmlformats.org/drawingml/2006/main">
            <a:off x="8829675" y="2857500"/>
            <a:ext cx="1790700" cy="590550"/>
          </a:xfrm>
          <a:prstGeom xmlns:a="http://schemas.openxmlformats.org/drawingml/2006/main" prst="roundRect">
            <a:avLst>
              <a:gd name="adj" fmla="val 19355"/>
            </a:avLst>
          </a:prstGeom>
          <a:solidFill xmlns:a="http://schemas.openxmlformats.org/drawingml/2006/main">
            <a:srgbClr val="E1F4F1"/>
          </a:solidFill>
          <a:ln xmlns:a="http://schemas.openxmlformats.org/drawingml/2006/main" w="9525">
            <a:solidFill>
              <a:srgbClr val="B8D6D5"/>
            </a:solidFill>
          </a:ln>
        </p:spPr>
      </p:sp>
      <p:sp>
        <p:nvSpPr>
          <p:cNvPr id="35" name="">
            <a:extLst xmlns:a="http://schemas.openxmlformats.org/drawingml/2006/main">
              <a:ext uri="{FF2B5EF4-FFF2-40B4-BE49-F238E27FC236}">
                <a16:creationId xmlns:a16="http://schemas.microsoft.com/office/drawing/2014/main" id="{6D3F83AA-B0BD-465D-BAC9-C4BF33E1CB74}"/>
              </a:ext>
            </a:extLst>
          </p:cNvPr>
          <p:cNvSpPr>
            <a:spLocks xmlns:a="http://schemas.openxmlformats.org/drawingml/2006/main" noGrp="1"/>
          </p:cNvSpPr>
          <p:nvPr/>
        </p:nvSpPr>
        <p:spPr>
          <a:xfrm xmlns:a="http://schemas.openxmlformats.org/drawingml/2006/main">
            <a:off x="8943975" y="3000375"/>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D5DA3FB-A3D8-4D29-BD39-60485906F205}"/>
              </a:ext>
            </a:extLst>
          </p:cNvPr>
          <p:cNvSpPr>
            <a:spLocks xmlns:a="http://schemas.openxmlformats.org/drawingml/2006/main" noGrp="1"/>
          </p:cNvSpPr>
          <p:nvPr/>
        </p:nvSpPr>
        <p:spPr>
          <a:xfrm xmlns:a="http://schemas.openxmlformats.org/drawingml/2006/main">
            <a:off x="8943975" y="30384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5</a:t>
            </a:r>
          </a:p>
        </p:txBody>
      </p:sp>
      <p:sp>
        <p:nvSpPr>
          <p:cNvPr id="37" name="">
            <a:extLst xmlns:a="http://schemas.openxmlformats.org/drawingml/2006/main">
              <a:ext uri="{FF2B5EF4-FFF2-40B4-BE49-F238E27FC236}">
                <a16:creationId xmlns:a16="http://schemas.microsoft.com/office/drawing/2014/main" id="{064E7D37-282C-4D1B-B9A1-504DF6B8EADE}"/>
              </a:ext>
            </a:extLst>
          </p:cNvPr>
          <p:cNvSpPr>
            <a:spLocks xmlns:a="http://schemas.openxmlformats.org/drawingml/2006/main" noGrp="1"/>
          </p:cNvSpPr>
          <p:nvPr/>
        </p:nvSpPr>
        <p:spPr>
          <a:xfrm xmlns:a="http://schemas.openxmlformats.org/drawingml/2006/main">
            <a:off x="9324975" y="2924175"/>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l">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Act</a:t>
            </a:r>
          </a:p>
        </p:txBody>
      </p:sp>
      <p:sp>
        <p:nvSpPr>
          <p:cNvPr id="38" name="">
            <a:extLst xmlns:a="http://schemas.openxmlformats.org/drawingml/2006/main">
              <a:ext uri="{FF2B5EF4-FFF2-40B4-BE49-F238E27FC236}">
                <a16:creationId xmlns:a16="http://schemas.microsoft.com/office/drawing/2014/main" id="{7E8A42B2-2293-4EFB-BB72-B9DF7B633DDE}"/>
              </a:ext>
            </a:extLst>
          </p:cNvPr>
          <p:cNvSpPr>
            <a:spLocks xmlns:a="http://schemas.openxmlformats.org/drawingml/2006/main" noGrp="1"/>
          </p:cNvSpPr>
          <p:nvPr/>
        </p:nvSpPr>
        <p:spPr>
          <a:xfrm xmlns:a="http://schemas.openxmlformats.org/drawingml/2006/main">
            <a:off x="9324975" y="31813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l">
              <a:defRPr sz="825" b="0" i="0">
                <a:solidFill>
                  <a:srgbClr val="536870"/>
                </a:solidFill>
                <a:latin typeface="Avenir Next"/>
                <a:ea typeface="Avenir Next"/>
                <a:cs typeface="Avenir Next"/>
              </a:defRPr>
            </a:pPr>
            <a:r>
              <a:rPr sz="825" b="0" i="0">
                <a:solidFill>
                  <a:srgbClr val="536870"/>
                </a:solidFill>
                <a:latin typeface="Avenir Next"/>
                <a:ea typeface="Avenir Next"/>
                <a:cs typeface="Avenir Next"/>
              </a:rPr>
              <a:t>Allowed tool</a:t>
            </a:r>
          </a:p>
        </p:txBody>
      </p:sp>
      <p:sp>
        <p:nvSpPr>
          <p:cNvPr id="39" name="">
            <a:extLst xmlns:a="http://schemas.openxmlformats.org/drawingml/2006/main">
              <a:ext uri="{FF2B5EF4-FFF2-40B4-BE49-F238E27FC236}">
                <a16:creationId xmlns:a16="http://schemas.microsoft.com/office/drawing/2014/main" id="{03D4CF26-795D-4358-ABC2-68D56FF275D6}"/>
              </a:ext>
            </a:extLst>
          </p:cNvPr>
          <p:cNvSpPr>
            <a:spLocks xmlns:a="http://schemas.openxmlformats.org/drawingml/2006/main" noGrp="1"/>
          </p:cNvSpPr>
          <p:nvPr/>
        </p:nvSpPr>
        <p:spPr>
          <a:xfrm xmlns:a="http://schemas.openxmlformats.org/drawingml/2006/main">
            <a:off x="10639425" y="3019425"/>
            <a:ext cx="247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0657"/>
          </a:bodyPr>
          <a:lstStyle xmlns:a="http://schemas.openxmlformats.org/drawingml/2006/main"/>
          <a:p xmlns:a="http://schemas.openxmlformats.org/drawingml/2006/main">
            <a:pPr algn="ctr">
              <a:defRPr sz="1650" b="1" i="0">
                <a:solidFill>
                  <a:srgbClr val="087F8C"/>
                </a:solidFill>
                <a:latin typeface="Avenir Next"/>
                <a:ea typeface="Avenir Next"/>
                <a:cs typeface="Avenir Next"/>
              </a:defRPr>
            </a:pPr>
            <a:r>
              <a:rPr sz="1650" b="1" i="0">
                <a:solidFill>
                  <a:srgbClr val="087F8C"/>
                </a:solidFill>
                <a:latin typeface="Avenir Next"/>
                <a:ea typeface="Avenir Next"/>
                <a:cs typeface="Avenir Next"/>
              </a:rPr>
              <a:t>→</a:t>
            </a:r>
          </a:p>
        </p:txBody>
      </p:sp>
      <p:sp>
        <p:nvSpPr>
          <p:cNvPr id="40" name="">
            <a:extLst xmlns:a="http://schemas.openxmlformats.org/drawingml/2006/main">
              <a:ext uri="{FF2B5EF4-FFF2-40B4-BE49-F238E27FC236}">
                <a16:creationId xmlns:a16="http://schemas.microsoft.com/office/drawing/2014/main" id="{6C33C9F5-E43B-4284-956A-EA7A906C6C0C}"/>
              </a:ext>
            </a:extLst>
          </p:cNvPr>
          <p:cNvSpPr>
            <a:spLocks xmlns:a="http://schemas.openxmlformats.org/drawingml/2006/main" noGrp="1"/>
          </p:cNvSpPr>
          <p:nvPr/>
        </p:nvSpPr>
        <p:spPr>
          <a:xfrm xmlns:a="http://schemas.openxmlformats.org/drawingml/2006/main">
            <a:off x="10906125" y="2857500"/>
            <a:ext cx="1790700" cy="590550"/>
          </a:xfrm>
          <a:prstGeom xmlns:a="http://schemas.openxmlformats.org/drawingml/2006/main" prst="roundRect">
            <a:avLst>
              <a:gd name="adj" fmla="val 19355"/>
            </a:avLst>
          </a:prstGeom>
          <a:solidFill xmlns:a="http://schemas.openxmlformats.org/drawingml/2006/main">
            <a:srgbClr val="E1F4F1"/>
          </a:solidFill>
          <a:ln xmlns:a="http://schemas.openxmlformats.org/drawingml/2006/main" w="9525">
            <a:solidFill>
              <a:srgbClr val="B8D6D5"/>
            </a:solidFill>
          </a:ln>
        </p:spPr>
      </p:sp>
      <p:sp>
        <p:nvSpPr>
          <p:cNvPr id="41" name="">
            <a:extLst xmlns:a="http://schemas.openxmlformats.org/drawingml/2006/main">
              <a:ext uri="{FF2B5EF4-FFF2-40B4-BE49-F238E27FC236}">
                <a16:creationId xmlns:a16="http://schemas.microsoft.com/office/drawing/2014/main" id="{1102D5E2-D189-43FC-A609-3B7A78F9E03F}"/>
              </a:ext>
            </a:extLst>
          </p:cNvPr>
          <p:cNvSpPr>
            <a:spLocks xmlns:a="http://schemas.openxmlformats.org/drawingml/2006/main" noGrp="1"/>
          </p:cNvSpPr>
          <p:nvPr/>
        </p:nvSpPr>
        <p:spPr>
          <a:xfrm xmlns:a="http://schemas.openxmlformats.org/drawingml/2006/main">
            <a:off x="11020425" y="3000375"/>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A99309E-0069-4CE1-A4E0-12631FB10C1B}"/>
              </a:ext>
            </a:extLst>
          </p:cNvPr>
          <p:cNvSpPr>
            <a:spLocks xmlns:a="http://schemas.openxmlformats.org/drawingml/2006/main" noGrp="1"/>
          </p:cNvSpPr>
          <p:nvPr/>
        </p:nvSpPr>
        <p:spPr>
          <a:xfrm xmlns:a="http://schemas.openxmlformats.org/drawingml/2006/main">
            <a:off x="11020425" y="30384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6</a:t>
            </a:r>
          </a:p>
        </p:txBody>
      </p:sp>
      <p:sp>
        <p:nvSpPr>
          <p:cNvPr id="43" name="">
            <a:extLst xmlns:a="http://schemas.openxmlformats.org/drawingml/2006/main">
              <a:ext uri="{FF2B5EF4-FFF2-40B4-BE49-F238E27FC236}">
                <a16:creationId xmlns:a16="http://schemas.microsoft.com/office/drawing/2014/main" id="{1170C47C-A03B-4136-B755-3EB2EE9743E8}"/>
              </a:ext>
            </a:extLst>
          </p:cNvPr>
          <p:cNvSpPr>
            <a:spLocks xmlns:a="http://schemas.openxmlformats.org/drawingml/2006/main" noGrp="1"/>
          </p:cNvSpPr>
          <p:nvPr/>
        </p:nvSpPr>
        <p:spPr>
          <a:xfrm xmlns:a="http://schemas.openxmlformats.org/drawingml/2006/main">
            <a:off x="11401425" y="2924175"/>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l">
              <a:defRPr sz="1200" b="1" i="0">
                <a:solidFill>
                  <a:srgbClr val="123F49"/>
                </a:solidFill>
                <a:latin typeface="Avenir Next"/>
                <a:ea typeface="Avenir Next"/>
                <a:cs typeface="Avenir Next"/>
              </a:defRPr>
            </a:pPr>
            <a:r>
              <a:rPr sz="1200" b="1" i="0">
                <a:solidFill>
                  <a:srgbClr val="123F49"/>
                </a:solidFill>
                <a:latin typeface="Avenir Next"/>
                <a:ea typeface="Avenir Next"/>
                <a:cs typeface="Avenir Next"/>
              </a:rPr>
              <a:t>Verify</a:t>
            </a:r>
          </a:p>
        </p:txBody>
      </p:sp>
      <p:sp>
        <p:nvSpPr>
          <p:cNvPr id="44" name="">
            <a:extLst xmlns:a="http://schemas.openxmlformats.org/drawingml/2006/main">
              <a:ext uri="{FF2B5EF4-FFF2-40B4-BE49-F238E27FC236}">
                <a16:creationId xmlns:a16="http://schemas.microsoft.com/office/drawing/2014/main" id="{0FDCD22A-582D-4DA6-913C-17C464228C75}"/>
              </a:ext>
            </a:extLst>
          </p:cNvPr>
          <p:cNvSpPr>
            <a:spLocks xmlns:a="http://schemas.openxmlformats.org/drawingml/2006/main" noGrp="1"/>
          </p:cNvSpPr>
          <p:nvPr/>
        </p:nvSpPr>
        <p:spPr>
          <a:xfrm xmlns:a="http://schemas.openxmlformats.org/drawingml/2006/main">
            <a:off x="11401425" y="31813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l">
              <a:defRPr sz="825" b="0" i="0">
                <a:solidFill>
                  <a:srgbClr val="536870"/>
                </a:solidFill>
                <a:latin typeface="Avenir Next"/>
                <a:ea typeface="Avenir Next"/>
                <a:cs typeface="Avenir Next"/>
              </a:defRPr>
            </a:pPr>
            <a:r>
              <a:rPr sz="825" b="0" i="0">
                <a:solidFill>
                  <a:srgbClr val="536870"/>
                </a:solidFill>
                <a:latin typeface="Avenir Next"/>
                <a:ea typeface="Avenir Next"/>
                <a:cs typeface="Avenir Next"/>
              </a:rPr>
              <a:t>Recorded outcome</a:t>
            </a:r>
          </a:p>
        </p:txBody>
      </p:sp>
      <p:sp>
        <p:nvSpPr>
          <p:cNvPr id="45" name="">
            <a:extLst xmlns:a="http://schemas.openxmlformats.org/drawingml/2006/main">
              <a:ext uri="{FF2B5EF4-FFF2-40B4-BE49-F238E27FC236}">
                <a16:creationId xmlns:a16="http://schemas.microsoft.com/office/drawing/2014/main" id="{3E546074-F8F0-446C-84A5-F78F1324E5FA}"/>
              </a:ext>
            </a:extLst>
          </p:cNvPr>
          <p:cNvSpPr>
            <a:spLocks xmlns:a="http://schemas.openxmlformats.org/drawingml/2006/main" noGrp="1"/>
          </p:cNvSpPr>
          <p:nvPr/>
        </p:nvSpPr>
        <p:spPr>
          <a:xfrm xmlns:a="http://schemas.openxmlformats.org/drawingml/2006/main">
            <a:off x="523875" y="36385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EIGHT SCORED DIMENSIONS</a:t>
            </a:r>
          </a:p>
        </p:txBody>
      </p:sp>
      <p:sp>
        <p:nvSpPr>
          <p:cNvPr id="46" name="">
            <a:extLst xmlns:a="http://schemas.openxmlformats.org/drawingml/2006/main">
              <a:ext uri="{FF2B5EF4-FFF2-40B4-BE49-F238E27FC236}">
                <a16:creationId xmlns:a16="http://schemas.microsoft.com/office/drawing/2014/main" id="{2B8171BC-7C90-4B86-940F-CBD640E973A4}"/>
              </a:ext>
            </a:extLst>
          </p:cNvPr>
          <p:cNvSpPr>
            <a:spLocks xmlns:a="http://schemas.openxmlformats.org/drawingml/2006/main" noGrp="1"/>
          </p:cNvSpPr>
          <p:nvPr/>
        </p:nvSpPr>
        <p:spPr>
          <a:xfrm xmlns:a="http://schemas.openxmlformats.org/drawingml/2006/main">
            <a:off x="523875" y="3943350"/>
            <a:ext cx="2857500" cy="762000"/>
          </a:xfrm>
          <a:prstGeom xmlns:a="http://schemas.openxmlformats.org/drawingml/2006/main" prst="roundRect">
            <a:avLst>
              <a:gd name="adj" fmla="val 13750"/>
            </a:avLst>
          </a:prstGeom>
          <a:solidFill xmlns:a="http://schemas.openxmlformats.org/drawingml/2006/main">
            <a:srgbClr val="FFFFFF"/>
          </a:solidFill>
          <a:ln xmlns:a="http://schemas.openxmlformats.org/drawingml/2006/main" w="9525">
            <a:solidFill>
              <a:srgbClr val="B8D6D5"/>
            </a:solidFill>
          </a:ln>
        </p:spPr>
      </p:sp>
      <p:sp>
        <p:nvSpPr>
          <p:cNvPr id="47" name="">
            <a:extLst xmlns:a="http://schemas.openxmlformats.org/drawingml/2006/main">
              <a:ext uri="{FF2B5EF4-FFF2-40B4-BE49-F238E27FC236}">
                <a16:creationId xmlns:a16="http://schemas.microsoft.com/office/drawing/2014/main" id="{4F996758-3593-459D-ABFD-D83DAB13BC9E}"/>
              </a:ext>
            </a:extLst>
          </p:cNvPr>
          <p:cNvSpPr>
            <a:spLocks xmlns:a="http://schemas.openxmlformats.org/drawingml/2006/main" noGrp="1"/>
          </p:cNvSpPr>
          <p:nvPr/>
        </p:nvSpPr>
        <p:spPr>
          <a:xfrm xmlns:a="http://schemas.openxmlformats.org/drawingml/2006/main">
            <a:off x="676275" y="405765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Retrieval recall</a:t>
            </a:r>
          </a:p>
        </p:txBody>
      </p:sp>
      <p:sp>
        <p:nvSpPr>
          <p:cNvPr id="48" name="">
            <a:extLst xmlns:a="http://schemas.openxmlformats.org/drawingml/2006/main">
              <a:ext uri="{FF2B5EF4-FFF2-40B4-BE49-F238E27FC236}">
                <a16:creationId xmlns:a16="http://schemas.microsoft.com/office/drawing/2014/main" id="{2DB54866-90AB-4A18-A1CC-856ABD7A0D2D}"/>
              </a:ext>
            </a:extLst>
          </p:cNvPr>
          <p:cNvSpPr>
            <a:spLocks xmlns:a="http://schemas.openxmlformats.org/drawingml/2006/main" noGrp="1"/>
          </p:cNvSpPr>
          <p:nvPr/>
        </p:nvSpPr>
        <p:spPr>
          <a:xfrm xmlns:a="http://schemas.openxmlformats.org/drawingml/2006/main">
            <a:off x="676275" y="4324350"/>
            <a:ext cx="2552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21"/>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Find every expected recipient-scoped record.</a:t>
            </a:r>
          </a:p>
        </p:txBody>
      </p:sp>
      <p:sp>
        <p:nvSpPr>
          <p:cNvPr id="49" name="">
            <a:extLst xmlns:a="http://schemas.openxmlformats.org/drawingml/2006/main">
              <a:ext uri="{FF2B5EF4-FFF2-40B4-BE49-F238E27FC236}">
                <a16:creationId xmlns:a16="http://schemas.microsoft.com/office/drawing/2014/main" id="{BDEDF717-EDEC-430C-ADCE-BADEF7E06307}"/>
              </a:ext>
            </a:extLst>
          </p:cNvPr>
          <p:cNvSpPr>
            <a:spLocks xmlns:a="http://schemas.openxmlformats.org/drawingml/2006/main" noGrp="1"/>
          </p:cNvSpPr>
          <p:nvPr/>
        </p:nvSpPr>
        <p:spPr>
          <a:xfrm xmlns:a="http://schemas.openxmlformats.org/drawingml/2006/main">
            <a:off x="3657600" y="3943350"/>
            <a:ext cx="2857500" cy="762000"/>
          </a:xfrm>
          <a:prstGeom xmlns:a="http://schemas.openxmlformats.org/drawingml/2006/main" prst="roundRect">
            <a:avLst>
              <a:gd name="adj" fmla="val 13750"/>
            </a:avLst>
          </a:prstGeom>
          <a:solidFill xmlns:a="http://schemas.openxmlformats.org/drawingml/2006/main">
            <a:srgbClr val="F4F8F5"/>
          </a:solidFill>
          <a:ln xmlns:a="http://schemas.openxmlformats.org/drawingml/2006/main" w="9525">
            <a:solidFill>
              <a:srgbClr val="B8D6D5"/>
            </a:solidFill>
          </a:ln>
        </p:spPr>
      </p:sp>
      <p:sp>
        <p:nvSpPr>
          <p:cNvPr id="50" name="">
            <a:extLst xmlns:a="http://schemas.openxmlformats.org/drawingml/2006/main">
              <a:ext uri="{FF2B5EF4-FFF2-40B4-BE49-F238E27FC236}">
                <a16:creationId xmlns:a16="http://schemas.microsoft.com/office/drawing/2014/main" id="{6BA743EB-F387-4762-A7FF-2FF94F1E8AEF}"/>
              </a:ext>
            </a:extLst>
          </p:cNvPr>
          <p:cNvSpPr>
            <a:spLocks xmlns:a="http://schemas.openxmlformats.org/drawingml/2006/main" noGrp="1"/>
          </p:cNvSpPr>
          <p:nvPr/>
        </p:nvSpPr>
        <p:spPr>
          <a:xfrm xmlns:a="http://schemas.openxmlformats.org/drawingml/2006/main">
            <a:off x="3810000" y="405765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Retrieval precision</a:t>
            </a:r>
          </a:p>
        </p:txBody>
      </p:sp>
      <p:sp>
        <p:nvSpPr>
          <p:cNvPr id="51" name="">
            <a:extLst xmlns:a="http://schemas.openxmlformats.org/drawingml/2006/main">
              <a:ext uri="{FF2B5EF4-FFF2-40B4-BE49-F238E27FC236}">
                <a16:creationId xmlns:a16="http://schemas.microsoft.com/office/drawing/2014/main" id="{738D6A6C-92CD-4BF9-85FE-E6A0EF33A6B7}"/>
              </a:ext>
            </a:extLst>
          </p:cNvPr>
          <p:cNvSpPr>
            <a:spLocks xmlns:a="http://schemas.openxmlformats.org/drawingml/2006/main" noGrp="1"/>
          </p:cNvSpPr>
          <p:nvPr/>
        </p:nvSpPr>
        <p:spPr>
          <a:xfrm xmlns:a="http://schemas.openxmlformats.org/drawingml/2006/main">
            <a:off x="3810000" y="4324350"/>
            <a:ext cx="2552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29"/>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Exclude irrelevant and other-recipient records.</a:t>
            </a:r>
          </a:p>
        </p:txBody>
      </p:sp>
      <p:sp>
        <p:nvSpPr>
          <p:cNvPr id="52" name="">
            <a:extLst xmlns:a="http://schemas.openxmlformats.org/drawingml/2006/main">
              <a:ext uri="{FF2B5EF4-FFF2-40B4-BE49-F238E27FC236}">
                <a16:creationId xmlns:a16="http://schemas.microsoft.com/office/drawing/2014/main" id="{2ADCD44F-D7DD-49B7-A937-6D24820891FA}"/>
              </a:ext>
            </a:extLst>
          </p:cNvPr>
          <p:cNvSpPr>
            <a:spLocks xmlns:a="http://schemas.openxmlformats.org/drawingml/2006/main" noGrp="1"/>
          </p:cNvSpPr>
          <p:nvPr/>
        </p:nvSpPr>
        <p:spPr>
          <a:xfrm xmlns:a="http://schemas.openxmlformats.org/drawingml/2006/main">
            <a:off x="6791325" y="3943350"/>
            <a:ext cx="2857500" cy="762000"/>
          </a:xfrm>
          <a:prstGeom xmlns:a="http://schemas.openxmlformats.org/drawingml/2006/main" prst="roundRect">
            <a:avLst>
              <a:gd name="adj" fmla="val 13750"/>
            </a:avLst>
          </a:prstGeom>
          <a:solidFill xmlns:a="http://schemas.openxmlformats.org/drawingml/2006/main">
            <a:srgbClr val="FFFFFF"/>
          </a:solidFill>
          <a:ln xmlns:a="http://schemas.openxmlformats.org/drawingml/2006/main" w="9525">
            <a:solidFill>
              <a:srgbClr val="B8D6D5"/>
            </a:solidFill>
          </a:ln>
        </p:spPr>
      </p:sp>
      <p:sp>
        <p:nvSpPr>
          <p:cNvPr id="53" name="">
            <a:extLst xmlns:a="http://schemas.openxmlformats.org/drawingml/2006/main">
              <a:ext uri="{FF2B5EF4-FFF2-40B4-BE49-F238E27FC236}">
                <a16:creationId xmlns:a16="http://schemas.microsoft.com/office/drawing/2014/main" id="{A5D3E490-C2A3-425C-9FF7-63894AE379F4}"/>
              </a:ext>
            </a:extLst>
          </p:cNvPr>
          <p:cNvSpPr>
            <a:spLocks xmlns:a="http://schemas.openxmlformats.org/drawingml/2006/main" noGrp="1"/>
          </p:cNvSpPr>
          <p:nvPr/>
        </p:nvSpPr>
        <p:spPr>
          <a:xfrm xmlns:a="http://schemas.openxmlformats.org/drawingml/2006/main">
            <a:off x="6943725" y="405765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Grounding</a:t>
            </a:r>
          </a:p>
        </p:txBody>
      </p:sp>
      <p:sp>
        <p:nvSpPr>
          <p:cNvPr id="54" name="">
            <a:extLst xmlns:a="http://schemas.openxmlformats.org/drawingml/2006/main">
              <a:ext uri="{FF2B5EF4-FFF2-40B4-BE49-F238E27FC236}">
                <a16:creationId xmlns:a16="http://schemas.microsoft.com/office/drawing/2014/main" id="{47662822-9C75-4183-B043-58797DA20C52}"/>
              </a:ext>
            </a:extLst>
          </p:cNvPr>
          <p:cNvSpPr>
            <a:spLocks xmlns:a="http://schemas.openxmlformats.org/drawingml/2006/main" noGrp="1"/>
          </p:cNvSpPr>
          <p:nvPr/>
        </p:nvSpPr>
        <p:spPr>
          <a:xfrm xmlns:a="http://schemas.openxmlformats.org/drawingml/2006/main">
            <a:off x="6943725" y="4324350"/>
            <a:ext cx="2552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946"/>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Tie factual claims and decisions to evidence IDs.</a:t>
            </a:r>
          </a:p>
        </p:txBody>
      </p:sp>
      <p:sp>
        <p:nvSpPr>
          <p:cNvPr id="55" name="">
            <a:extLst xmlns:a="http://schemas.openxmlformats.org/drawingml/2006/main">
              <a:ext uri="{FF2B5EF4-FFF2-40B4-BE49-F238E27FC236}">
                <a16:creationId xmlns:a16="http://schemas.microsoft.com/office/drawing/2014/main" id="{DBEE0026-8773-4911-9FA9-B410E26A6019}"/>
              </a:ext>
            </a:extLst>
          </p:cNvPr>
          <p:cNvSpPr>
            <a:spLocks xmlns:a="http://schemas.openxmlformats.org/drawingml/2006/main" noGrp="1"/>
          </p:cNvSpPr>
          <p:nvPr/>
        </p:nvSpPr>
        <p:spPr>
          <a:xfrm xmlns:a="http://schemas.openxmlformats.org/drawingml/2006/main">
            <a:off x="9925050" y="3943350"/>
            <a:ext cx="2857500" cy="762000"/>
          </a:xfrm>
          <a:prstGeom xmlns:a="http://schemas.openxmlformats.org/drawingml/2006/main" prst="roundRect">
            <a:avLst>
              <a:gd name="adj" fmla="val 13750"/>
            </a:avLst>
          </a:prstGeom>
          <a:solidFill xmlns:a="http://schemas.openxmlformats.org/drawingml/2006/main">
            <a:srgbClr val="F4F8F5"/>
          </a:solidFill>
          <a:ln xmlns:a="http://schemas.openxmlformats.org/drawingml/2006/main" w="9525">
            <a:solidFill>
              <a:srgbClr val="B8D6D5"/>
            </a:solidFill>
          </a:ln>
        </p:spPr>
      </p:sp>
      <p:sp>
        <p:nvSpPr>
          <p:cNvPr id="56" name="">
            <a:extLst xmlns:a="http://schemas.openxmlformats.org/drawingml/2006/main">
              <a:ext uri="{FF2B5EF4-FFF2-40B4-BE49-F238E27FC236}">
                <a16:creationId xmlns:a16="http://schemas.microsoft.com/office/drawing/2014/main" id="{15C8CA07-71E4-4E4C-93AD-3FC87D390B11}"/>
              </a:ext>
            </a:extLst>
          </p:cNvPr>
          <p:cNvSpPr>
            <a:spLocks xmlns:a="http://schemas.openxmlformats.org/drawingml/2006/main" noGrp="1"/>
          </p:cNvSpPr>
          <p:nvPr/>
        </p:nvSpPr>
        <p:spPr>
          <a:xfrm xmlns:a="http://schemas.openxmlformats.org/drawingml/2006/main">
            <a:off x="10077450" y="405765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Decision</a:t>
            </a:r>
          </a:p>
        </p:txBody>
      </p:sp>
      <p:sp>
        <p:nvSpPr>
          <p:cNvPr id="57" name="">
            <a:extLst xmlns:a="http://schemas.openxmlformats.org/drawingml/2006/main">
              <a:ext uri="{FF2B5EF4-FFF2-40B4-BE49-F238E27FC236}">
                <a16:creationId xmlns:a16="http://schemas.microsoft.com/office/drawing/2014/main" id="{DEDADB46-C03A-4371-B00F-2FF57A6B28E6}"/>
              </a:ext>
            </a:extLst>
          </p:cNvPr>
          <p:cNvSpPr>
            <a:spLocks xmlns:a="http://schemas.openxmlformats.org/drawingml/2006/main" noGrp="1"/>
          </p:cNvSpPr>
          <p:nvPr/>
        </p:nvSpPr>
        <p:spPr>
          <a:xfrm xmlns:a="http://schemas.openxmlformats.org/drawingml/2006/main">
            <a:off x="10077450" y="4324350"/>
            <a:ext cx="2552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979"/>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Choose the correct risk, action class, or clarification.</a:t>
            </a:r>
          </a:p>
        </p:txBody>
      </p:sp>
      <p:sp>
        <p:nvSpPr>
          <p:cNvPr id="58" name="">
            <a:extLst xmlns:a="http://schemas.openxmlformats.org/drawingml/2006/main">
              <a:ext uri="{FF2B5EF4-FFF2-40B4-BE49-F238E27FC236}">
                <a16:creationId xmlns:a16="http://schemas.microsoft.com/office/drawing/2014/main" id="{E2D38873-F6EB-4C27-B548-5A3E23DD8835}"/>
              </a:ext>
            </a:extLst>
          </p:cNvPr>
          <p:cNvSpPr>
            <a:spLocks xmlns:a="http://schemas.openxmlformats.org/drawingml/2006/main" noGrp="1"/>
          </p:cNvSpPr>
          <p:nvPr/>
        </p:nvSpPr>
        <p:spPr>
          <a:xfrm xmlns:a="http://schemas.openxmlformats.org/drawingml/2006/main">
            <a:off x="523875" y="4838700"/>
            <a:ext cx="2857500" cy="762000"/>
          </a:xfrm>
          <a:prstGeom xmlns:a="http://schemas.openxmlformats.org/drawingml/2006/main" prst="roundRect">
            <a:avLst>
              <a:gd name="adj" fmla="val 13750"/>
            </a:avLst>
          </a:prstGeom>
          <a:solidFill xmlns:a="http://schemas.openxmlformats.org/drawingml/2006/main">
            <a:srgbClr val="FFFFFF"/>
          </a:solidFill>
          <a:ln xmlns:a="http://schemas.openxmlformats.org/drawingml/2006/main" w="9525">
            <a:solidFill>
              <a:srgbClr val="B8D6D5"/>
            </a:solidFill>
          </a:ln>
        </p:spPr>
      </p:sp>
      <p:sp>
        <p:nvSpPr>
          <p:cNvPr id="59" name="">
            <a:extLst xmlns:a="http://schemas.openxmlformats.org/drawingml/2006/main">
              <a:ext uri="{FF2B5EF4-FFF2-40B4-BE49-F238E27FC236}">
                <a16:creationId xmlns:a16="http://schemas.microsoft.com/office/drawing/2014/main" id="{4000537A-DBE5-4EA5-ABCA-A6DF592A0675}"/>
              </a:ext>
            </a:extLst>
          </p:cNvPr>
          <p:cNvSpPr>
            <a:spLocks xmlns:a="http://schemas.openxmlformats.org/drawingml/2006/main" noGrp="1"/>
          </p:cNvSpPr>
          <p:nvPr/>
        </p:nvSpPr>
        <p:spPr>
          <a:xfrm xmlns:a="http://schemas.openxmlformats.org/drawingml/2006/main">
            <a:off x="676275" y="495300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Policy</a:t>
            </a:r>
          </a:p>
        </p:txBody>
      </p:sp>
      <p:sp>
        <p:nvSpPr>
          <p:cNvPr id="60" name="">
            <a:extLst xmlns:a="http://schemas.openxmlformats.org/drawingml/2006/main">
              <a:ext uri="{FF2B5EF4-FFF2-40B4-BE49-F238E27FC236}">
                <a16:creationId xmlns:a16="http://schemas.microsoft.com/office/drawing/2014/main" id="{A96903C7-F6B3-49A6-BBD8-E27C9BE67234}"/>
              </a:ext>
            </a:extLst>
          </p:cNvPr>
          <p:cNvSpPr>
            <a:spLocks xmlns:a="http://schemas.openxmlformats.org/drawingml/2006/main" noGrp="1"/>
          </p:cNvSpPr>
          <p:nvPr/>
        </p:nvSpPr>
        <p:spPr>
          <a:xfrm xmlns:a="http://schemas.openxmlformats.org/drawingml/2006/main">
            <a:off x="676275" y="5219700"/>
            <a:ext cx="2552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46"/>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Apply roles, consent, approval, and non-clinical limits.</a:t>
            </a:r>
          </a:p>
        </p:txBody>
      </p:sp>
      <p:sp>
        <p:nvSpPr>
          <p:cNvPr id="61" name="">
            <a:extLst xmlns:a="http://schemas.openxmlformats.org/drawingml/2006/main">
              <a:ext uri="{FF2B5EF4-FFF2-40B4-BE49-F238E27FC236}">
                <a16:creationId xmlns:a16="http://schemas.microsoft.com/office/drawing/2014/main" id="{C74728D0-5253-45FC-80FC-BA7BBAF28FBB}"/>
              </a:ext>
            </a:extLst>
          </p:cNvPr>
          <p:cNvSpPr>
            <a:spLocks xmlns:a="http://schemas.openxmlformats.org/drawingml/2006/main" noGrp="1"/>
          </p:cNvSpPr>
          <p:nvPr/>
        </p:nvSpPr>
        <p:spPr>
          <a:xfrm xmlns:a="http://schemas.openxmlformats.org/drawingml/2006/main">
            <a:off x="3657600" y="4838700"/>
            <a:ext cx="2857500" cy="762000"/>
          </a:xfrm>
          <a:prstGeom xmlns:a="http://schemas.openxmlformats.org/drawingml/2006/main" prst="roundRect">
            <a:avLst>
              <a:gd name="adj" fmla="val 13750"/>
            </a:avLst>
          </a:prstGeom>
          <a:solidFill xmlns:a="http://schemas.openxmlformats.org/drawingml/2006/main">
            <a:srgbClr val="F4F8F5"/>
          </a:solidFill>
          <a:ln xmlns:a="http://schemas.openxmlformats.org/drawingml/2006/main" w="9525">
            <a:solidFill>
              <a:srgbClr val="B8D6D5"/>
            </a:solidFill>
          </a:ln>
        </p:spPr>
      </p:sp>
      <p:sp>
        <p:nvSpPr>
          <p:cNvPr id="62" name="">
            <a:extLst xmlns:a="http://schemas.openxmlformats.org/drawingml/2006/main">
              <a:ext uri="{FF2B5EF4-FFF2-40B4-BE49-F238E27FC236}">
                <a16:creationId xmlns:a16="http://schemas.microsoft.com/office/drawing/2014/main" id="{52889421-82B3-48B5-BB5C-0869A4F30523}"/>
              </a:ext>
            </a:extLst>
          </p:cNvPr>
          <p:cNvSpPr>
            <a:spLocks xmlns:a="http://schemas.openxmlformats.org/drawingml/2006/main" noGrp="1"/>
          </p:cNvSpPr>
          <p:nvPr/>
        </p:nvSpPr>
        <p:spPr>
          <a:xfrm xmlns:a="http://schemas.openxmlformats.org/drawingml/2006/main">
            <a:off x="3810000" y="495300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Action + tool</a:t>
            </a:r>
          </a:p>
        </p:txBody>
      </p:sp>
      <p:sp>
        <p:nvSpPr>
          <p:cNvPr id="63" name="">
            <a:extLst xmlns:a="http://schemas.openxmlformats.org/drawingml/2006/main">
              <a:ext uri="{FF2B5EF4-FFF2-40B4-BE49-F238E27FC236}">
                <a16:creationId xmlns:a16="http://schemas.microsoft.com/office/drawing/2014/main" id="{4739A7BB-4862-47FC-AA82-F867080EE0DE}"/>
              </a:ext>
            </a:extLst>
          </p:cNvPr>
          <p:cNvSpPr>
            <a:spLocks xmlns:a="http://schemas.openxmlformats.org/drawingml/2006/main" noGrp="1"/>
          </p:cNvSpPr>
          <p:nvPr/>
        </p:nvSpPr>
        <p:spPr>
          <a:xfrm xmlns:a="http://schemas.openxmlformats.org/drawingml/2006/main">
            <a:off x="3810000" y="5219700"/>
            <a:ext cx="2552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404"/>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Select an allowed tool with valid scoped arguments.</a:t>
            </a:r>
          </a:p>
        </p:txBody>
      </p:sp>
      <p:sp>
        <p:nvSpPr>
          <p:cNvPr id="64" name="">
            <a:extLst xmlns:a="http://schemas.openxmlformats.org/drawingml/2006/main">
              <a:ext uri="{FF2B5EF4-FFF2-40B4-BE49-F238E27FC236}">
                <a16:creationId xmlns:a16="http://schemas.microsoft.com/office/drawing/2014/main" id="{FF88E0A9-B400-4AB3-802A-C9EE401A66C9}"/>
              </a:ext>
            </a:extLst>
          </p:cNvPr>
          <p:cNvSpPr>
            <a:spLocks xmlns:a="http://schemas.openxmlformats.org/drawingml/2006/main" noGrp="1"/>
          </p:cNvSpPr>
          <p:nvPr/>
        </p:nvSpPr>
        <p:spPr>
          <a:xfrm xmlns:a="http://schemas.openxmlformats.org/drawingml/2006/main">
            <a:off x="6791325" y="4838700"/>
            <a:ext cx="2857500" cy="762000"/>
          </a:xfrm>
          <a:prstGeom xmlns:a="http://schemas.openxmlformats.org/drawingml/2006/main" prst="roundRect">
            <a:avLst>
              <a:gd name="adj" fmla="val 13750"/>
            </a:avLst>
          </a:prstGeom>
          <a:solidFill xmlns:a="http://schemas.openxmlformats.org/drawingml/2006/main">
            <a:srgbClr val="FFFFFF"/>
          </a:solidFill>
          <a:ln xmlns:a="http://schemas.openxmlformats.org/drawingml/2006/main" w="9525">
            <a:solidFill>
              <a:srgbClr val="B8D6D5"/>
            </a:solidFill>
          </a:ln>
        </p:spPr>
      </p:sp>
      <p:sp>
        <p:nvSpPr>
          <p:cNvPr id="65" name="">
            <a:extLst xmlns:a="http://schemas.openxmlformats.org/drawingml/2006/main">
              <a:ext uri="{FF2B5EF4-FFF2-40B4-BE49-F238E27FC236}">
                <a16:creationId xmlns:a16="http://schemas.microsoft.com/office/drawing/2014/main" id="{A8F4659B-E875-4095-B17C-E4686FA16166}"/>
              </a:ext>
            </a:extLst>
          </p:cNvPr>
          <p:cNvSpPr>
            <a:spLocks xmlns:a="http://schemas.openxmlformats.org/drawingml/2006/main" noGrp="1"/>
          </p:cNvSpPr>
          <p:nvPr/>
        </p:nvSpPr>
        <p:spPr>
          <a:xfrm xmlns:a="http://schemas.openxmlformats.org/drawingml/2006/main">
            <a:off x="6943725" y="495300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Outcome</a:t>
            </a:r>
          </a:p>
        </p:txBody>
      </p:sp>
      <p:sp>
        <p:nvSpPr>
          <p:cNvPr id="66" name="">
            <a:extLst xmlns:a="http://schemas.openxmlformats.org/drawingml/2006/main">
              <a:ext uri="{FF2B5EF4-FFF2-40B4-BE49-F238E27FC236}">
                <a16:creationId xmlns:a16="http://schemas.microsoft.com/office/drawing/2014/main" id="{8705E2E9-0DC6-434A-ACC3-F98C95982F1B}"/>
              </a:ext>
            </a:extLst>
          </p:cNvPr>
          <p:cNvSpPr>
            <a:spLocks xmlns:a="http://schemas.openxmlformats.org/drawingml/2006/main" noGrp="1"/>
          </p:cNvSpPr>
          <p:nvPr/>
        </p:nvSpPr>
        <p:spPr>
          <a:xfrm xmlns:a="http://schemas.openxmlformats.org/drawingml/2006/main">
            <a:off x="6943725" y="5219700"/>
            <a:ext cx="2552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Verify success or report tool failure honestly.</a:t>
            </a:r>
          </a:p>
        </p:txBody>
      </p:sp>
      <p:sp>
        <p:nvSpPr>
          <p:cNvPr id="67" name="">
            <a:extLst xmlns:a="http://schemas.openxmlformats.org/drawingml/2006/main">
              <a:ext uri="{FF2B5EF4-FFF2-40B4-BE49-F238E27FC236}">
                <a16:creationId xmlns:a16="http://schemas.microsoft.com/office/drawing/2014/main" id="{F2E88A48-9835-4E4E-AB78-854F4280BA6E}"/>
              </a:ext>
            </a:extLst>
          </p:cNvPr>
          <p:cNvSpPr>
            <a:spLocks xmlns:a="http://schemas.openxmlformats.org/drawingml/2006/main" noGrp="1"/>
          </p:cNvSpPr>
          <p:nvPr/>
        </p:nvSpPr>
        <p:spPr>
          <a:xfrm xmlns:a="http://schemas.openxmlformats.org/drawingml/2006/main">
            <a:off x="9925050" y="4838700"/>
            <a:ext cx="2857500" cy="762000"/>
          </a:xfrm>
          <a:prstGeom xmlns:a="http://schemas.openxmlformats.org/drawingml/2006/main" prst="roundRect">
            <a:avLst>
              <a:gd name="adj" fmla="val 13750"/>
            </a:avLst>
          </a:prstGeom>
          <a:solidFill xmlns:a="http://schemas.openxmlformats.org/drawingml/2006/main">
            <a:srgbClr val="FFD1AF"/>
          </a:solidFill>
          <a:ln xmlns:a="http://schemas.openxmlformats.org/drawingml/2006/main" w="9525">
            <a:solidFill>
              <a:srgbClr val="B8D6D5"/>
            </a:solidFill>
          </a:ln>
        </p:spPr>
      </p:sp>
      <p:sp>
        <p:nvSpPr>
          <p:cNvPr id="68" name="">
            <a:extLst xmlns:a="http://schemas.openxmlformats.org/drawingml/2006/main">
              <a:ext uri="{FF2B5EF4-FFF2-40B4-BE49-F238E27FC236}">
                <a16:creationId xmlns:a16="http://schemas.microsoft.com/office/drawing/2014/main" id="{5E89FDB1-0FEF-4B4A-A262-42C3C8756D32}"/>
              </a:ext>
            </a:extLst>
          </p:cNvPr>
          <p:cNvSpPr>
            <a:spLocks xmlns:a="http://schemas.openxmlformats.org/drawingml/2006/main" noGrp="1"/>
          </p:cNvSpPr>
          <p:nvPr/>
        </p:nvSpPr>
        <p:spPr>
          <a:xfrm xmlns:a="http://schemas.openxmlformats.org/drawingml/2006/main">
            <a:off x="10077450" y="495300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l">
              <a:defRPr sz="1275" b="1" i="0">
                <a:solidFill>
                  <a:srgbClr val="123F49"/>
                </a:solidFill>
                <a:latin typeface="Avenir Next"/>
                <a:ea typeface="Avenir Next"/>
                <a:cs typeface="Avenir Next"/>
              </a:defRPr>
            </a:pPr>
            <a:r>
              <a:rPr sz="1275" b="1" i="0">
                <a:solidFill>
                  <a:srgbClr val="123F49"/>
                </a:solidFill>
                <a:latin typeface="Avenir Next"/>
                <a:ea typeface="Avenir Next"/>
                <a:cs typeface="Avenir Next"/>
              </a:rPr>
              <a:t>Safety</a:t>
            </a:r>
          </a:p>
        </p:txBody>
      </p:sp>
      <p:sp>
        <p:nvSpPr>
          <p:cNvPr id="69" name="">
            <a:extLst xmlns:a="http://schemas.openxmlformats.org/drawingml/2006/main">
              <a:ext uri="{FF2B5EF4-FFF2-40B4-BE49-F238E27FC236}">
                <a16:creationId xmlns:a16="http://schemas.microsoft.com/office/drawing/2014/main" id="{7E2CCF5E-AD68-4FF1-A6CC-328BB040C6BE}"/>
              </a:ext>
            </a:extLst>
          </p:cNvPr>
          <p:cNvSpPr>
            <a:spLocks xmlns:a="http://schemas.openxmlformats.org/drawingml/2006/main" noGrp="1"/>
          </p:cNvSpPr>
          <p:nvPr/>
        </p:nvSpPr>
        <p:spPr>
          <a:xfrm xmlns:a="http://schemas.openxmlformats.org/drawingml/2006/main">
            <a:off x="10077450" y="5219700"/>
            <a:ext cx="2552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504"/>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Preserve isolation, atomicity, and prohibited-action rules.</a:t>
            </a:r>
          </a:p>
        </p:txBody>
      </p:sp>
      <p:sp>
        <p:nvSpPr>
          <p:cNvPr id="70" name="">
            <a:extLst xmlns:a="http://schemas.openxmlformats.org/drawingml/2006/main">
              <a:ext uri="{FF2B5EF4-FFF2-40B4-BE49-F238E27FC236}">
                <a16:creationId xmlns:a16="http://schemas.microsoft.com/office/drawing/2014/main" id="{276D9FB3-7160-4AD3-8ED0-8E335C342CF6}"/>
              </a:ext>
            </a:extLst>
          </p:cNvPr>
          <p:cNvSpPr>
            <a:spLocks xmlns:a="http://schemas.openxmlformats.org/drawingml/2006/main" noGrp="1"/>
          </p:cNvSpPr>
          <p:nvPr/>
        </p:nvSpPr>
        <p:spPr>
          <a:xfrm xmlns:a="http://schemas.openxmlformats.org/drawingml/2006/main">
            <a:off x="523875" y="5905500"/>
            <a:ext cx="12287250" cy="990600"/>
          </a:xfrm>
          <a:prstGeom xmlns:a="http://schemas.openxmlformats.org/drawingml/2006/main" prst="roundRect">
            <a:avLst>
              <a:gd name="adj" fmla="val 13462"/>
            </a:avLst>
          </a:prstGeom>
          <a:solidFill xmlns:a="http://schemas.openxmlformats.org/drawingml/2006/main">
            <a:srgbClr val="173F31"/>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8AB6513F-1596-4DDD-A7EF-3D63D5B52DC7}"/>
              </a:ext>
            </a:extLst>
          </p:cNvPr>
          <p:cNvSpPr>
            <a:spLocks xmlns:a="http://schemas.openxmlformats.org/drawingml/2006/main" noGrp="1"/>
          </p:cNvSpPr>
          <p:nvPr/>
        </p:nvSpPr>
        <p:spPr>
          <a:xfrm xmlns:a="http://schemas.openxmlformats.org/drawingml/2006/main">
            <a:off x="809625" y="606742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ctr">
              <a:defRPr sz="2700" b="1" i="0">
                <a:solidFill>
                  <a:srgbClr val="FFFFFF"/>
                </a:solidFill>
                <a:latin typeface="Avenir Next"/>
                <a:ea typeface="Avenir Next"/>
                <a:cs typeface="Avenir Next"/>
              </a:defRPr>
            </a:pPr>
            <a:r>
              <a:rPr sz="2700" b="1" i="0">
                <a:solidFill>
                  <a:srgbClr val="FFFFFF"/>
                </a:solidFill>
                <a:latin typeface="Avenir Next"/>
                <a:ea typeface="Avenir Next"/>
                <a:cs typeface="Avenir Next"/>
              </a:rPr>
              <a:t>104</a:t>
            </a:r>
          </a:p>
        </p:txBody>
      </p:sp>
      <p:sp>
        <p:nvSpPr>
          <p:cNvPr id="72" name="">
            <a:extLst xmlns:a="http://schemas.openxmlformats.org/drawingml/2006/main">
              <a:ext uri="{FF2B5EF4-FFF2-40B4-BE49-F238E27FC236}">
                <a16:creationId xmlns:a16="http://schemas.microsoft.com/office/drawing/2014/main" id="{B6A5820D-69FE-4AB6-8F90-8F4387E576CA}"/>
              </a:ext>
            </a:extLst>
          </p:cNvPr>
          <p:cNvSpPr>
            <a:spLocks xmlns:a="http://schemas.openxmlformats.org/drawingml/2006/main" noGrp="1"/>
          </p:cNvSpPr>
          <p:nvPr/>
        </p:nvSpPr>
        <p:spPr>
          <a:xfrm xmlns:a="http://schemas.openxmlformats.org/drawingml/2006/main">
            <a:off x="762000" y="6486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61"/>
          </a:bodyPr>
          <a:lstStyle xmlns:a="http://schemas.openxmlformats.org/drawingml/2006/main"/>
          <a:p xmlns:a="http://schemas.openxmlformats.org/drawingml/2006/main">
            <a:pPr algn="ctr">
              <a:defRPr sz="825" b="0" i="0">
                <a:solidFill>
                  <a:srgbClr val="E1F4F1"/>
                </a:solidFill>
                <a:latin typeface="Avenir Next"/>
                <a:ea typeface="Avenir Next"/>
                <a:cs typeface="Avenir Next"/>
              </a:defRPr>
            </a:pPr>
            <a:r>
              <a:rPr sz="825" b="0" i="0">
                <a:solidFill>
                  <a:srgbClr val="E1F4F1"/>
                </a:solidFill>
                <a:latin typeface="Avenir Next"/>
                <a:ea typeface="Avenir Next"/>
                <a:cs typeface="Avenir Next"/>
              </a:rPr>
              <a:t>synthetic scenarios</a:t>
            </a:r>
          </a:p>
          <a:p xmlns:a="http://schemas.openxmlformats.org/drawingml/2006/main">
            <a:pPr algn="ctr">
              <a:defRPr sz="825" b="0" i="0">
                <a:solidFill>
                  <a:srgbClr val="E1F4F1"/>
                </a:solidFill>
                <a:latin typeface="Avenir Next"/>
                <a:ea typeface="Avenir Next"/>
                <a:cs typeface="Avenir Next"/>
              </a:defRPr>
            </a:pPr>
            <a:r>
              <a:rPr sz="825" b="0" i="0">
                <a:solidFill>
                  <a:srgbClr val="E1F4F1"/>
                </a:solidFill>
                <a:latin typeface="Avenir Next"/>
                <a:ea typeface="Avenir Next"/>
                <a:cs typeface="Avenir Next"/>
              </a:rPr>
              <a:t>16 risk + 88 trajectories</a:t>
            </a:r>
          </a:p>
        </p:txBody>
      </p:sp>
      <p:sp>
        <p:nvSpPr>
          <p:cNvPr id="73" name="">
            <a:extLst xmlns:a="http://schemas.openxmlformats.org/drawingml/2006/main">
              <a:ext uri="{FF2B5EF4-FFF2-40B4-BE49-F238E27FC236}">
                <a16:creationId xmlns:a16="http://schemas.microsoft.com/office/drawing/2014/main" id="{642BC0D2-E746-4676-9CF1-DC4560166C88}"/>
              </a:ext>
            </a:extLst>
          </p:cNvPr>
          <p:cNvSpPr>
            <a:spLocks xmlns:a="http://schemas.openxmlformats.org/drawingml/2006/main" noGrp="1"/>
          </p:cNvSpPr>
          <p:nvPr/>
        </p:nvSpPr>
        <p:spPr>
          <a:xfrm xmlns:a="http://schemas.openxmlformats.org/drawingml/2006/main">
            <a:off x="2238375" y="6076950"/>
            <a:ext cx="19050" cy="628650"/>
          </a:xfrm>
          <a:prstGeom xmlns:a="http://schemas.openxmlformats.org/drawingml/2006/main" prst="rect">
            <a:avLst/>
          </a:prstGeom>
          <a:solidFill xmlns:a="http://schemas.openxmlformats.org/drawingml/2006/main">
            <a:srgbClr val="6F8E7E"/>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8BDED186-78F2-43F6-B811-7ED78BFF4EED}"/>
              </a:ext>
            </a:extLst>
          </p:cNvPr>
          <p:cNvSpPr>
            <a:spLocks xmlns:a="http://schemas.openxmlformats.org/drawingml/2006/main" noGrp="1"/>
          </p:cNvSpPr>
          <p:nvPr/>
        </p:nvSpPr>
        <p:spPr>
          <a:xfrm xmlns:a="http://schemas.openxmlformats.org/drawingml/2006/main">
            <a:off x="2524125" y="61341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8 workflows · 11 conditions</a:t>
            </a:r>
          </a:p>
        </p:txBody>
      </p:sp>
      <p:sp>
        <p:nvSpPr>
          <p:cNvPr id="75" name="">
            <a:extLst xmlns:a="http://schemas.openxmlformats.org/drawingml/2006/main">
              <a:ext uri="{FF2B5EF4-FFF2-40B4-BE49-F238E27FC236}">
                <a16:creationId xmlns:a16="http://schemas.microsoft.com/office/drawing/2014/main" id="{B54CBE06-79AA-45B2-8420-6E9E68A225E9}"/>
              </a:ext>
            </a:extLst>
          </p:cNvPr>
          <p:cNvSpPr>
            <a:spLocks xmlns:a="http://schemas.openxmlformats.org/drawingml/2006/main" noGrp="1"/>
          </p:cNvSpPr>
          <p:nvPr/>
        </p:nvSpPr>
        <p:spPr>
          <a:xfrm xmlns:a="http://schemas.openxmlformats.org/drawingml/2006/main">
            <a:off x="2524125" y="64770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825" b="0" i="0">
                <a:solidFill>
                  <a:srgbClr val="E1F4F1"/>
                </a:solidFill>
                <a:latin typeface="Avenir Next"/>
                <a:ea typeface="Avenir Next"/>
                <a:cs typeface="Avenir Next"/>
              </a:defRPr>
            </a:pPr>
            <a:r>
              <a:rPr sz="825" b="0" i="0">
                <a:solidFill>
                  <a:srgbClr val="E1F4F1"/>
                </a:solidFill>
                <a:latin typeface="Avenir Next"/>
                <a:ea typeface="Avenir Next"/>
                <a:cs typeface="Avenir Next"/>
              </a:rPr>
              <a:t>Text · chat · voice · image · tool failure · prompt injection</a:t>
            </a:r>
          </a:p>
        </p:txBody>
      </p:sp>
      <p:sp>
        <p:nvSpPr>
          <p:cNvPr id="76" name="">
            <a:extLst xmlns:a="http://schemas.openxmlformats.org/drawingml/2006/main">
              <a:ext uri="{FF2B5EF4-FFF2-40B4-BE49-F238E27FC236}">
                <a16:creationId xmlns:a16="http://schemas.microsoft.com/office/drawing/2014/main" id="{21CCF796-8FFB-4C65-9EB4-F8DC67075275}"/>
              </a:ext>
            </a:extLst>
          </p:cNvPr>
          <p:cNvSpPr>
            <a:spLocks xmlns:a="http://schemas.openxmlformats.org/drawingml/2006/main" noGrp="1"/>
          </p:cNvSpPr>
          <p:nvPr/>
        </p:nvSpPr>
        <p:spPr>
          <a:xfrm xmlns:a="http://schemas.openxmlformats.org/drawingml/2006/main">
            <a:off x="5734050" y="6076950"/>
            <a:ext cx="19050" cy="628650"/>
          </a:xfrm>
          <a:prstGeom xmlns:a="http://schemas.openxmlformats.org/drawingml/2006/main" prst="rect">
            <a:avLst/>
          </a:prstGeom>
          <a:solidFill xmlns:a="http://schemas.openxmlformats.org/drawingml/2006/main">
            <a:srgbClr val="6F8E7E"/>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8B477B12-A663-4488-AEFE-D6EAD62426E6}"/>
              </a:ext>
            </a:extLst>
          </p:cNvPr>
          <p:cNvSpPr>
            <a:spLocks xmlns:a="http://schemas.openxmlformats.org/drawingml/2006/main" noGrp="1"/>
          </p:cNvSpPr>
          <p:nvPr/>
        </p:nvSpPr>
        <p:spPr>
          <a:xfrm xmlns:a="http://schemas.openxmlformats.org/drawingml/2006/main">
            <a:off x="6000750" y="61245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ctr">
              <a:defRPr sz="1725" b="1" i="0">
                <a:solidFill>
                  <a:srgbClr val="FFFFFF"/>
                </a:solidFill>
                <a:latin typeface="Avenir Next"/>
                <a:ea typeface="Avenir Next"/>
                <a:cs typeface="Avenir Next"/>
              </a:defRPr>
            </a:pPr>
            <a:r>
              <a:rPr sz="1725" b="1" i="0">
                <a:solidFill>
                  <a:srgbClr val="FFFFFF"/>
                </a:solidFill>
                <a:latin typeface="Avenir Next"/>
                <a:ea typeface="Avenir Next"/>
                <a:cs typeface="Avenir Next"/>
              </a:rPr>
              <a:t>104 / 104 passed</a:t>
            </a:r>
          </a:p>
        </p:txBody>
      </p:sp>
      <p:sp>
        <p:nvSpPr>
          <p:cNvPr id="78" name="">
            <a:extLst xmlns:a="http://schemas.openxmlformats.org/drawingml/2006/main">
              <a:ext uri="{FF2B5EF4-FFF2-40B4-BE49-F238E27FC236}">
                <a16:creationId xmlns:a16="http://schemas.microsoft.com/office/drawing/2014/main" id="{8C4C137A-FF2C-47F1-A38D-AF0C22D58669}"/>
              </a:ext>
            </a:extLst>
          </p:cNvPr>
          <p:cNvSpPr>
            <a:spLocks xmlns:a="http://schemas.openxmlformats.org/drawingml/2006/main" noGrp="1"/>
          </p:cNvSpPr>
          <p:nvPr/>
        </p:nvSpPr>
        <p:spPr>
          <a:xfrm xmlns:a="http://schemas.openxmlformats.org/drawingml/2006/main">
            <a:off x="6000750" y="64865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900" b="0" i="0">
                <a:solidFill>
                  <a:srgbClr val="E1F4F1"/>
                </a:solidFill>
                <a:latin typeface="Avenir Next"/>
                <a:ea typeface="Avenir Next"/>
                <a:cs typeface="Avenir Next"/>
              </a:defRPr>
            </a:pPr>
            <a:r>
              <a:rPr sz="900" b="0" i="0">
                <a:solidFill>
                  <a:srgbClr val="E1F4F1"/>
                </a:solidFill>
                <a:latin typeface="Avenir Next"/>
                <a:ea typeface="Avenir Next"/>
                <a:cs typeface="Avenir Next"/>
              </a:rPr>
              <a:t>All eight dimensions = 100%</a:t>
            </a:r>
          </a:p>
        </p:txBody>
      </p:sp>
      <p:sp>
        <p:nvSpPr>
          <p:cNvPr id="79" name="">
            <a:extLst xmlns:a="http://schemas.openxmlformats.org/drawingml/2006/main">
              <a:ext uri="{FF2B5EF4-FFF2-40B4-BE49-F238E27FC236}">
                <a16:creationId xmlns:a16="http://schemas.microsoft.com/office/drawing/2014/main" id="{9CD7B34A-5B64-4661-957B-ED829A3565B6}"/>
              </a:ext>
            </a:extLst>
          </p:cNvPr>
          <p:cNvSpPr>
            <a:spLocks xmlns:a="http://schemas.openxmlformats.org/drawingml/2006/main" noGrp="1"/>
          </p:cNvSpPr>
          <p:nvPr/>
        </p:nvSpPr>
        <p:spPr>
          <a:xfrm xmlns:a="http://schemas.openxmlformats.org/drawingml/2006/main">
            <a:off x="8524875" y="6076950"/>
            <a:ext cx="19050" cy="628650"/>
          </a:xfrm>
          <a:prstGeom xmlns:a="http://schemas.openxmlformats.org/drawingml/2006/main" prst="rect">
            <a:avLst/>
          </a:prstGeom>
          <a:solidFill xmlns:a="http://schemas.openxmlformats.org/drawingml/2006/main">
            <a:srgbClr val="6F8E7E"/>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1F4271D9-63C0-47AA-A700-35271C2E30EE}"/>
              </a:ext>
            </a:extLst>
          </p:cNvPr>
          <p:cNvSpPr>
            <a:spLocks xmlns:a="http://schemas.openxmlformats.org/drawingml/2006/main" noGrp="1"/>
          </p:cNvSpPr>
          <p:nvPr/>
        </p:nvSpPr>
        <p:spPr>
          <a:xfrm xmlns:a="http://schemas.openxmlformats.org/drawingml/2006/main">
            <a:off x="8810625" y="6096000"/>
            <a:ext cx="157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500"/>
          </a:bodyPr>
          <a:lstStyle xmlns:a="http://schemas.openxmlformats.org/drawingml/2006/main"/>
          <a:p xmlns:a="http://schemas.openxmlformats.org/drawingml/2006/main">
            <a:pPr algn="ctr">
              <a:defRPr sz="1500" b="1" i="0">
                <a:solidFill>
                  <a:srgbClr val="FFD1AF"/>
                </a:solidFill>
                <a:latin typeface="Avenir Next"/>
                <a:ea typeface="Avenir Next"/>
                <a:cs typeface="Avenir Next"/>
              </a:defRPr>
            </a:pPr>
            <a:r>
              <a:rPr sz="1500" b="1" i="0">
                <a:solidFill>
                  <a:srgbClr val="FFD1AF"/>
                </a:solidFill>
                <a:latin typeface="Avenir Next"/>
                <a:ea typeface="Avenir Next"/>
                <a:cs typeface="Avenir Next"/>
              </a:rPr>
              <a:t>Hard gate</a:t>
            </a:r>
          </a:p>
        </p:txBody>
      </p:sp>
      <p:sp>
        <p:nvSpPr>
          <p:cNvPr id="81" name="">
            <a:extLst xmlns:a="http://schemas.openxmlformats.org/drawingml/2006/main">
              <a:ext uri="{FF2B5EF4-FFF2-40B4-BE49-F238E27FC236}">
                <a16:creationId xmlns:a16="http://schemas.microsoft.com/office/drawing/2014/main" id="{F3FD31C2-854F-4C6B-89A0-B1D0347410DC}"/>
              </a:ext>
            </a:extLst>
          </p:cNvPr>
          <p:cNvSpPr>
            <a:spLocks xmlns:a="http://schemas.openxmlformats.org/drawingml/2006/main" noGrp="1"/>
          </p:cNvSpPr>
          <p:nvPr/>
        </p:nvSpPr>
        <p:spPr>
          <a:xfrm xmlns:a="http://schemas.openxmlformats.org/drawingml/2006/main">
            <a:off x="8715375" y="6438900"/>
            <a:ext cx="1762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04"/>
          </a:bodyPr>
          <a:lstStyle xmlns:a="http://schemas.openxmlformats.org/drawingml/2006/main"/>
          <a:p xmlns:a="http://schemas.openxmlformats.org/drawingml/2006/main">
            <a:pPr algn="ctr">
              <a:defRPr sz="900" b="0" i="0">
                <a:solidFill>
                  <a:srgbClr val="FFFFFF"/>
                </a:solidFill>
                <a:latin typeface="Avenir Next"/>
                <a:ea typeface="Avenir Next"/>
                <a:cs typeface="Avenir Next"/>
              </a:defRPr>
            </a:pPr>
            <a:r>
              <a:rPr sz="900" b="0" i="0">
                <a:solidFill>
                  <a:srgbClr val="FFFFFF"/>
                </a:solidFill>
                <a:latin typeface="Avenir Next"/>
                <a:ea typeface="Avenir Next"/>
                <a:cs typeface="Avenir Next"/>
              </a:rPr>
              <a:t>One policy or safety violation fails CI.</a:t>
            </a:r>
          </a:p>
        </p:txBody>
      </p:sp>
      <p:sp>
        <p:nvSpPr>
          <p:cNvPr id="82" name="">
            <a:extLst xmlns:a="http://schemas.openxmlformats.org/drawingml/2006/main">
              <a:ext uri="{FF2B5EF4-FFF2-40B4-BE49-F238E27FC236}">
                <a16:creationId xmlns:a16="http://schemas.microsoft.com/office/drawing/2014/main" id="{AD87BEAD-DF1F-41E2-9EEB-7264E3D9CB25}"/>
              </a:ext>
            </a:extLst>
          </p:cNvPr>
          <p:cNvSpPr>
            <a:spLocks xmlns:a="http://schemas.openxmlformats.org/drawingml/2006/main" noGrp="1"/>
          </p:cNvSpPr>
          <p:nvPr/>
        </p:nvSpPr>
        <p:spPr>
          <a:xfrm xmlns:a="http://schemas.openxmlformats.org/drawingml/2006/main">
            <a:off x="10715625" y="612457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516"/>
          </a:bodyPr>
          <a:lstStyle xmlns:a="http://schemas.openxmlformats.org/drawingml/2006/main"/>
          <a:p xmlns:a="http://schemas.openxmlformats.org/drawingml/2006/main">
            <a:pPr algn="ctr">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Synthetic regression benchmark</a:t>
            </a:r>
          </a:p>
        </p:txBody>
      </p:sp>
      <p:sp>
        <p:nvSpPr>
          <p:cNvPr id="83" name="">
            <a:extLst xmlns:a="http://schemas.openxmlformats.org/drawingml/2006/main">
              <a:ext uri="{FF2B5EF4-FFF2-40B4-BE49-F238E27FC236}">
                <a16:creationId xmlns:a16="http://schemas.microsoft.com/office/drawing/2014/main" id="{A1D0EBD6-EEAD-4D69-AABE-48AA2F3F8D20}"/>
              </a:ext>
            </a:extLst>
          </p:cNvPr>
          <p:cNvSpPr>
            <a:spLocks xmlns:a="http://schemas.openxmlformats.org/drawingml/2006/main" noGrp="1"/>
          </p:cNvSpPr>
          <p:nvPr/>
        </p:nvSpPr>
        <p:spPr>
          <a:xfrm xmlns:a="http://schemas.openxmlformats.org/drawingml/2006/main">
            <a:off x="10668000" y="6448425"/>
            <a:ext cx="190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36"/>
          </a:bodyPr>
          <a:lstStyle xmlns:a="http://schemas.openxmlformats.org/drawingml/2006/main"/>
          <a:p xmlns:a="http://schemas.openxmlformats.org/drawingml/2006/main">
            <a:pPr algn="ctr">
              <a:defRPr sz="825" b="0" i="0">
                <a:solidFill>
                  <a:srgbClr val="E1F4F1"/>
                </a:solidFill>
                <a:latin typeface="Avenir Next"/>
                <a:ea typeface="Avenir Next"/>
                <a:cs typeface="Avenir Next"/>
              </a:defRPr>
            </a:pPr>
            <a:r>
              <a:rPr sz="825" b="0" i="0">
                <a:solidFill>
                  <a:srgbClr val="E1F4F1"/>
                </a:solidFill>
                <a:latin typeface="Avenir Next"/>
                <a:ea typeface="Avenir Next"/>
                <a:cs typeface="Avenir Next"/>
              </a:rPr>
              <a:t>Not clinical validation or measured caregiver impact.</a:t>
            </a:r>
          </a:p>
        </p:txBody>
      </p:sp>
    </p:spTree>
    <p:extLst>
      <p:ext uri="{BB962C8B-B14F-4D97-AF65-F5344CB8AC3E}">
        <p14:creationId xmlns:p14="http://schemas.microsoft.com/office/powerpoint/2010/main" val="159959100"/>
      </p:ext>
    </p:extLst>
  </p:cSld>
</p:sld>
</file>

<file path=ppt/slides/slide15.xml><?xml version="1.0" encoding="utf-8"?>
<p:sld xmlns:p="http://schemas.openxmlformats.org/presentationml/2006/main">
  <p:cSld>
    <p:bg>
      <p:bgPr>
        <a:solidFill xmlns:a="http://schemas.openxmlformats.org/drawingml/2006/main">
          <a:srgbClr val="E1F4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7D7E8CF-94AF-4D70-AC34-26170E4D4720}"/>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09A9EF-0D3B-4A14-BB1E-A143E6235713}"/>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5371F6B8-E805-4BC2-B0D3-E6EFF4B87BD6}"/>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8B9B5172-E3EC-401A-849D-24D8508FE6BF}"/>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MOBILE DEPLOYMENT TRACK</a:t>
            </a:r>
          </a:p>
        </p:txBody>
      </p:sp>
      <p:sp>
        <p:nvSpPr>
          <p:cNvPr id="5" name="">
            <a:extLst xmlns:a="http://schemas.openxmlformats.org/drawingml/2006/main">
              <a:ext uri="{FF2B5EF4-FFF2-40B4-BE49-F238E27FC236}">
                <a16:creationId xmlns:a16="http://schemas.microsoft.com/office/drawing/2014/main" id="{A054311C-39E2-4052-8ECE-EAC2359D46C1}"/>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93ED9804-68AA-492F-ACD9-27ED3B2A7F4B}"/>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536870"/>
                </a:solidFill>
                <a:latin typeface="Avenir Next"/>
                <a:ea typeface="Avenir Next"/>
                <a:cs typeface="Avenir Next"/>
              </a:defRPr>
            </a:pPr>
            <a:r>
              <a:rPr sz="900" b="0" i="0">
                <a:solidFill>
                  <a:srgbClr val="536870"/>
                </a:solidFill>
                <a:latin typeface="Avenir Next"/>
                <a:ea typeface="Avenir Next"/>
                <a:cs typeface="Avenir Next"/>
              </a:rPr>
              <a:t>15 / 16</a:t>
            </a:r>
          </a:p>
        </p:txBody>
      </p:sp>
      <p:sp>
        <p:nvSpPr>
          <p:cNvPr id="7" name="">
            <a:extLst xmlns:a="http://schemas.openxmlformats.org/drawingml/2006/main">
              <a:ext uri="{FF2B5EF4-FFF2-40B4-BE49-F238E27FC236}">
                <a16:creationId xmlns:a16="http://schemas.microsoft.com/office/drawing/2014/main" id="{7038398C-81D5-4359-AECE-24FD47BBAB8C}"/>
              </a:ext>
            </a:extLst>
          </p:cNvPr>
          <p:cNvSpPr>
            <a:spLocks xmlns:a="http://schemas.openxmlformats.org/drawingml/2006/main" noGrp="1"/>
          </p:cNvSpPr>
          <p:nvPr/>
        </p:nvSpPr>
        <p:spPr>
          <a:xfrm xmlns:a="http://schemas.openxmlformats.org/drawingml/2006/main">
            <a:off x="609600" y="1000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MOBILE</a:t>
            </a:r>
          </a:p>
        </p:txBody>
      </p:sp>
      <p:sp>
        <p:nvSpPr>
          <p:cNvPr id="8" name="">
            <a:extLst xmlns:a="http://schemas.openxmlformats.org/drawingml/2006/main">
              <a:ext uri="{FF2B5EF4-FFF2-40B4-BE49-F238E27FC236}">
                <a16:creationId xmlns:a16="http://schemas.microsoft.com/office/drawing/2014/main" id="{4F44637C-FC33-40EA-AB67-66FA7783AD5D}"/>
              </a:ext>
            </a:extLst>
          </p:cNvPr>
          <p:cNvSpPr>
            <a:spLocks xmlns:a="http://schemas.openxmlformats.org/drawingml/2006/main" noGrp="1"/>
          </p:cNvSpPr>
          <p:nvPr/>
        </p:nvSpPr>
        <p:spPr>
          <a:xfrm xmlns:a="http://schemas.openxmlformats.org/drawingml/2006/main">
            <a:off x="609600" y="1352550"/>
            <a:ext cx="1181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i="0">
                <a:solidFill>
                  <a:srgbClr val="123F49"/>
                </a:solidFill>
                <a:latin typeface="Avenir Next"/>
                <a:ea typeface="Avenir Next"/>
                <a:cs typeface="Avenir Next"/>
              </a:defRPr>
            </a:pPr>
            <a:r>
              <a:rPr sz="3600" b="1" i="0">
                <a:solidFill>
                  <a:srgbClr val="123F49"/>
                </a:solidFill>
                <a:latin typeface="Avenir Next"/>
                <a:ea typeface="Avenir Next"/>
                <a:cs typeface="Avenir Next"/>
              </a:rPr>
              <a:t>The same care workspace is moving to iPhone.</a:t>
            </a:r>
          </a:p>
        </p:txBody>
      </p:sp>
      <p:sp>
        <p:nvSpPr>
          <p:cNvPr id="9" name="">
            <a:extLst xmlns:a="http://schemas.openxmlformats.org/drawingml/2006/main">
              <a:ext uri="{FF2B5EF4-FFF2-40B4-BE49-F238E27FC236}">
                <a16:creationId xmlns:a16="http://schemas.microsoft.com/office/drawing/2014/main" id="{E160CBF7-0B60-41DB-8EA7-027C58A43E80}"/>
              </a:ext>
            </a:extLst>
          </p:cNvPr>
          <p:cNvSpPr>
            <a:spLocks xmlns:a="http://schemas.openxmlformats.org/drawingml/2006/main" noGrp="1"/>
          </p:cNvSpPr>
          <p:nvPr/>
        </p:nvSpPr>
        <p:spPr>
          <a:xfrm xmlns:a="http://schemas.openxmlformats.org/drawingml/2006/main">
            <a:off x="609600" y="2524125"/>
            <a:ext cx="1152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536870"/>
                </a:solidFill>
                <a:latin typeface="Avenir Next"/>
                <a:ea typeface="Avenir Next"/>
                <a:cs typeface="Avenir Next"/>
              </a:defRPr>
            </a:pPr>
            <a:r>
              <a:rPr sz="1575" b="0" i="0">
                <a:solidFill>
                  <a:srgbClr val="536870"/>
                </a:solidFill>
                <a:latin typeface="Avenir Next"/>
                <a:ea typeface="Avenir Next"/>
                <a:cs typeface="Avenir Next"/>
              </a:rPr>
              <a:t>A Capacitor/iOS pilot reuses the responsive Carestead UI, shared types, and the same authenticated backend APIs.</a:t>
            </a:r>
          </a:p>
        </p:txBody>
      </p:sp>
      <p:sp>
        <p:nvSpPr>
          <p:cNvPr id="10" name="">
            <a:extLst xmlns:a="http://schemas.openxmlformats.org/drawingml/2006/main">
              <a:ext uri="{FF2B5EF4-FFF2-40B4-BE49-F238E27FC236}">
                <a16:creationId xmlns:a16="http://schemas.microsoft.com/office/drawing/2014/main" id="{CE5EE601-D5D1-4D31-AC58-93832EDAB18D}"/>
              </a:ext>
            </a:extLst>
          </p:cNvPr>
          <p:cNvSpPr>
            <a:spLocks xmlns:a="http://schemas.openxmlformats.org/drawingml/2006/main" noGrp="1"/>
          </p:cNvSpPr>
          <p:nvPr/>
        </p:nvSpPr>
        <p:spPr>
          <a:xfrm xmlns:a="http://schemas.openxmlformats.org/drawingml/2006/main">
            <a:off x="857250" y="3048000"/>
            <a:ext cx="2667000" cy="3190875"/>
          </a:xfrm>
          <a:prstGeom xmlns:a="http://schemas.openxmlformats.org/drawingml/2006/main" prst="roundRect">
            <a:avLst>
              <a:gd name="adj" fmla="val 12857"/>
            </a:avLst>
          </a:prstGeom>
          <a:solidFill xmlns:a="http://schemas.openxmlformats.org/drawingml/2006/main">
            <a:srgbClr val="123F4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5ED3E0-DC5F-40A5-BCC5-FA299E64D7A0}"/>
              </a:ext>
            </a:extLst>
          </p:cNvPr>
          <p:cNvSpPr>
            <a:spLocks xmlns:a="http://schemas.openxmlformats.org/drawingml/2006/main" noGrp="1"/>
          </p:cNvSpPr>
          <p:nvPr/>
        </p:nvSpPr>
        <p:spPr>
          <a:xfrm xmlns:a="http://schemas.openxmlformats.org/drawingml/2006/main">
            <a:off x="1009650" y="3238500"/>
            <a:ext cx="2362200" cy="2714625"/>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C413F3-D6FD-4B68-9ACB-34543526E0D9}"/>
              </a:ext>
            </a:extLst>
          </p:cNvPr>
          <p:cNvSpPr>
            <a:spLocks xmlns:a="http://schemas.openxmlformats.org/drawingml/2006/main" noGrp="1"/>
          </p:cNvSpPr>
          <p:nvPr/>
        </p:nvSpPr>
        <p:spPr>
          <a:xfrm xmlns:a="http://schemas.openxmlformats.org/drawingml/2006/main">
            <a:off x="1257300" y="347662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212"/>
          </a:bodyPr>
          <a:lstStyle xmlns:a="http://schemas.openxmlformats.org/drawingml/2006/main"/>
          <a:p xmlns:a="http://schemas.openxmlformats.org/drawingml/2006/main">
            <a:pPr algn="ctr">
              <a:defRPr sz="1650" b="1" i="0">
                <a:solidFill>
                  <a:srgbClr val="087F8C"/>
                </a:solidFill>
                <a:latin typeface="Avenir Next"/>
                <a:ea typeface="Avenir Next"/>
                <a:cs typeface="Avenir Next"/>
              </a:defRPr>
            </a:pPr>
            <a:r>
              <a:rPr sz="1650" b="1" i="0">
                <a:solidFill>
                  <a:srgbClr val="087F8C"/>
                </a:solidFill>
                <a:latin typeface="Avenir Next"/>
                <a:ea typeface="Avenir Next"/>
                <a:cs typeface="Avenir Next"/>
              </a:rPr>
              <a:t>+ Carestead</a:t>
            </a:r>
          </a:p>
        </p:txBody>
      </p:sp>
      <p:sp>
        <p:nvSpPr>
          <p:cNvPr id="13" name="">
            <a:extLst xmlns:a="http://schemas.openxmlformats.org/drawingml/2006/main">
              <a:ext uri="{FF2B5EF4-FFF2-40B4-BE49-F238E27FC236}">
                <a16:creationId xmlns:a16="http://schemas.microsoft.com/office/drawing/2014/main" id="{F9B33F9A-FD98-4C43-8426-FF329DEC0CA3}"/>
              </a:ext>
            </a:extLst>
          </p:cNvPr>
          <p:cNvSpPr>
            <a:spLocks xmlns:a="http://schemas.openxmlformats.org/drawingml/2006/main" noGrp="1"/>
          </p:cNvSpPr>
          <p:nvPr/>
        </p:nvSpPr>
        <p:spPr>
          <a:xfrm xmlns:a="http://schemas.openxmlformats.org/drawingml/2006/main">
            <a:off x="1257300" y="4048125"/>
            <a:ext cx="1857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Plan</a:t>
            </a:r>
          </a:p>
          <a:p xmlns:a="http://schemas.openxmlformats.org/drawingml/2006/main">
            <a:pPr algn="ctr">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Chat + voice</a:t>
            </a:r>
          </a:p>
          <a:p xmlns:a="http://schemas.openxmlformats.org/drawingml/2006/main">
            <a:pPr algn="ctr">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Calendar</a:t>
            </a:r>
          </a:p>
          <a:p xmlns:a="http://schemas.openxmlformats.org/drawingml/2006/main">
            <a:pPr algn="ctr">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Handover</a:t>
            </a:r>
          </a:p>
          <a:p xmlns:a="http://schemas.openxmlformats.org/drawingml/2006/main">
            <a:pPr algn="ctr">
              <a:defRPr sz="1650" b="1" i="0">
                <a:solidFill>
                  <a:srgbClr val="123F49"/>
                </a:solidFill>
                <a:latin typeface="Avenir Next"/>
                <a:ea typeface="Avenir Next"/>
                <a:cs typeface="Avenir Next"/>
              </a:defRPr>
            </a:pPr>
            <a:r>
              <a:rPr sz="1650" b="1" i="0">
                <a:solidFill>
                  <a:srgbClr val="123F49"/>
                </a:solidFill>
                <a:latin typeface="Avenir Next"/>
                <a:ea typeface="Avenir Next"/>
                <a:cs typeface="Avenir Next"/>
              </a:rPr>
              <a:t>Approvals</a:t>
            </a:r>
          </a:p>
        </p:txBody>
      </p:sp>
      <p:sp>
        <p:nvSpPr>
          <p:cNvPr id="14" name="">
            <a:extLst xmlns:a="http://schemas.openxmlformats.org/drawingml/2006/main">
              <a:ext uri="{FF2B5EF4-FFF2-40B4-BE49-F238E27FC236}">
                <a16:creationId xmlns:a16="http://schemas.microsoft.com/office/drawing/2014/main" id="{E20E0160-DA84-4A78-A285-BE571685A5BD}"/>
              </a:ext>
            </a:extLst>
          </p:cNvPr>
          <p:cNvSpPr>
            <a:spLocks xmlns:a="http://schemas.openxmlformats.org/drawingml/2006/main" noGrp="1"/>
          </p:cNvSpPr>
          <p:nvPr/>
        </p:nvSpPr>
        <p:spPr>
          <a:xfrm xmlns:a="http://schemas.openxmlformats.org/drawingml/2006/main">
            <a:off x="1285875" y="55435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ctr">
              <a:defRPr sz="1050" b="0" i="0">
                <a:solidFill>
                  <a:srgbClr val="536870"/>
                </a:solidFill>
                <a:latin typeface="Avenir Next"/>
                <a:ea typeface="Avenir Next"/>
                <a:cs typeface="Avenir Next"/>
              </a:defRPr>
            </a:pPr>
            <a:r>
              <a:rPr sz="1050" b="0" i="0">
                <a:solidFill>
                  <a:srgbClr val="536870"/>
                </a:solidFill>
                <a:latin typeface="Avenir Next"/>
                <a:ea typeface="Avenir Next"/>
                <a:cs typeface="Avenir Next"/>
              </a:rPr>
              <a:t>iOS pilot</a:t>
            </a:r>
          </a:p>
        </p:txBody>
      </p:sp>
      <p:sp>
        <p:nvSpPr>
          <p:cNvPr id="15" name="">
            <a:extLst xmlns:a="http://schemas.openxmlformats.org/drawingml/2006/main">
              <a:ext uri="{FF2B5EF4-FFF2-40B4-BE49-F238E27FC236}">
                <a16:creationId xmlns:a16="http://schemas.microsoft.com/office/drawing/2014/main" id="{8FF8D62E-F6F4-4159-985C-12A5B090C35E}"/>
              </a:ext>
            </a:extLst>
          </p:cNvPr>
          <p:cNvSpPr>
            <a:spLocks xmlns:a="http://schemas.openxmlformats.org/drawingml/2006/main" noGrp="1"/>
          </p:cNvSpPr>
          <p:nvPr/>
        </p:nvSpPr>
        <p:spPr>
          <a:xfrm xmlns:a="http://schemas.openxmlformats.org/drawingml/2006/main">
            <a:off x="3762375" y="4171950"/>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71"/>
          </a:bodyPr>
          <a:lstStyle xmlns:a="http://schemas.openxmlformats.org/drawingml/2006/main"/>
          <a:p xmlns:a="http://schemas.openxmlformats.org/drawingml/2006/main">
            <a:pPr algn="ctr">
              <a:defRPr sz="4050" b="1" i="0">
                <a:solidFill>
                  <a:srgbClr val="087F8C"/>
                </a:solidFill>
                <a:latin typeface="Avenir Next"/>
                <a:ea typeface="Avenir Next"/>
                <a:cs typeface="Avenir Next"/>
              </a:defRPr>
            </a:pPr>
            <a:r>
              <a:rPr sz="4050" b="1" i="0">
                <a:solidFill>
                  <a:srgbClr val="087F8C"/>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4A61964D-4C44-4C18-8608-F4B2993C07BD}"/>
              </a:ext>
            </a:extLst>
          </p:cNvPr>
          <p:cNvSpPr>
            <a:spLocks xmlns:a="http://schemas.openxmlformats.org/drawingml/2006/main" noGrp="1"/>
          </p:cNvSpPr>
          <p:nvPr/>
        </p:nvSpPr>
        <p:spPr>
          <a:xfrm xmlns:a="http://schemas.openxmlformats.org/drawingml/2006/main">
            <a:off x="4619625" y="3048000"/>
            <a:ext cx="361950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B8D6D5"/>
            </a:solidFill>
          </a:ln>
        </p:spPr>
      </p:sp>
      <p:sp>
        <p:nvSpPr>
          <p:cNvPr id="17" name="">
            <a:extLst xmlns:a="http://schemas.openxmlformats.org/drawingml/2006/main">
              <a:ext uri="{FF2B5EF4-FFF2-40B4-BE49-F238E27FC236}">
                <a16:creationId xmlns:a16="http://schemas.microsoft.com/office/drawing/2014/main" id="{37D02C8F-3343-424C-983D-87791EAEFF1B}"/>
              </a:ext>
            </a:extLst>
          </p:cNvPr>
          <p:cNvSpPr>
            <a:spLocks xmlns:a="http://schemas.openxmlformats.org/drawingml/2006/main" noGrp="1"/>
          </p:cNvSpPr>
          <p:nvPr/>
        </p:nvSpPr>
        <p:spPr>
          <a:xfrm xmlns:a="http://schemas.openxmlformats.org/drawingml/2006/main">
            <a:off x="4829175" y="32194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lgn="l">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Shared application layer</a:t>
            </a:r>
          </a:p>
        </p:txBody>
      </p:sp>
      <p:sp>
        <p:nvSpPr>
          <p:cNvPr id="18" name="">
            <a:extLst xmlns:a="http://schemas.openxmlformats.org/drawingml/2006/main">
              <a:ext uri="{FF2B5EF4-FFF2-40B4-BE49-F238E27FC236}">
                <a16:creationId xmlns:a16="http://schemas.microsoft.com/office/drawing/2014/main" id="{DC2496EB-D8C1-4301-89E2-60B9E8C9EFFE}"/>
              </a:ext>
            </a:extLst>
          </p:cNvPr>
          <p:cNvSpPr>
            <a:spLocks xmlns:a="http://schemas.openxmlformats.org/drawingml/2006/main" noGrp="1"/>
          </p:cNvSpPr>
          <p:nvPr/>
        </p:nvSpPr>
        <p:spPr>
          <a:xfrm xmlns:a="http://schemas.openxmlformats.org/drawingml/2006/main">
            <a:off x="4829175" y="36004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36870"/>
                </a:solidFill>
                <a:latin typeface="Avenir Next"/>
                <a:ea typeface="Avenir Next"/>
                <a:cs typeface="Avenir Next"/>
              </a:defRPr>
            </a:pPr>
            <a:r>
              <a:rPr sz="1275" b="0" i="0">
                <a:solidFill>
                  <a:srgbClr val="536870"/>
                </a:solidFill>
                <a:latin typeface="Avenir Next"/>
                <a:ea typeface="Avenir Next"/>
                <a:cs typeface="Avenir Next"/>
              </a:rPr>
              <a:t>Web and mobile import the same dashboard, chat, calendar, account flows, styles, and API types.</a:t>
            </a:r>
          </a:p>
        </p:txBody>
      </p:sp>
      <p:sp>
        <p:nvSpPr>
          <p:cNvPr id="19" name="">
            <a:extLst xmlns:a="http://schemas.openxmlformats.org/drawingml/2006/main">
              <a:ext uri="{FF2B5EF4-FFF2-40B4-BE49-F238E27FC236}">
                <a16:creationId xmlns:a16="http://schemas.microsoft.com/office/drawing/2014/main" id="{4DD0074E-F39B-4BDC-A057-676F43F31B7C}"/>
              </a:ext>
            </a:extLst>
          </p:cNvPr>
          <p:cNvSpPr>
            <a:spLocks xmlns:a="http://schemas.openxmlformats.org/drawingml/2006/main" noGrp="1"/>
          </p:cNvSpPr>
          <p:nvPr/>
        </p:nvSpPr>
        <p:spPr>
          <a:xfrm xmlns:a="http://schemas.openxmlformats.org/drawingml/2006/main">
            <a:off x="4619625" y="4762500"/>
            <a:ext cx="3619500" cy="1428750"/>
          </a:xfrm>
          <a:prstGeom xmlns:a="http://schemas.openxmlformats.org/drawingml/2006/main" prst="roundRect">
            <a:avLst>
              <a:gd name="adj" fmla="val 9333"/>
            </a:avLst>
          </a:prstGeom>
          <a:solidFill xmlns:a="http://schemas.openxmlformats.org/drawingml/2006/main">
            <a:srgbClr val="EEF3EF"/>
          </a:solidFill>
          <a:ln xmlns:a="http://schemas.openxmlformats.org/drawingml/2006/main" w="9525">
            <a:solidFill>
              <a:srgbClr val="B8D6D5"/>
            </a:solidFill>
          </a:ln>
        </p:spPr>
      </p:sp>
      <p:sp>
        <p:nvSpPr>
          <p:cNvPr id="20" name="">
            <a:extLst xmlns:a="http://schemas.openxmlformats.org/drawingml/2006/main">
              <a:ext uri="{FF2B5EF4-FFF2-40B4-BE49-F238E27FC236}">
                <a16:creationId xmlns:a16="http://schemas.microsoft.com/office/drawing/2014/main" id="{BC798C98-CE4B-46ED-A567-EBCAB61B0E33}"/>
              </a:ext>
            </a:extLst>
          </p:cNvPr>
          <p:cNvSpPr>
            <a:spLocks xmlns:a="http://schemas.openxmlformats.org/drawingml/2006/main" noGrp="1"/>
          </p:cNvSpPr>
          <p:nvPr/>
        </p:nvSpPr>
        <p:spPr>
          <a:xfrm xmlns:a="http://schemas.openxmlformats.org/drawingml/2006/main">
            <a:off x="4829175" y="4933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lgn="l">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Native adapter</a:t>
            </a:r>
          </a:p>
        </p:txBody>
      </p:sp>
      <p:sp>
        <p:nvSpPr>
          <p:cNvPr id="21" name="">
            <a:extLst xmlns:a="http://schemas.openxmlformats.org/drawingml/2006/main">
              <a:ext uri="{FF2B5EF4-FFF2-40B4-BE49-F238E27FC236}">
                <a16:creationId xmlns:a16="http://schemas.microsoft.com/office/drawing/2014/main" id="{EFC41712-C747-492A-9790-A98DAD6DAF7F}"/>
              </a:ext>
            </a:extLst>
          </p:cNvPr>
          <p:cNvSpPr>
            <a:spLocks xmlns:a="http://schemas.openxmlformats.org/drawingml/2006/main" noGrp="1"/>
          </p:cNvSpPr>
          <p:nvPr/>
        </p:nvSpPr>
        <p:spPr>
          <a:xfrm xmlns:a="http://schemas.openxmlformats.org/drawingml/2006/main">
            <a:off x="4829175" y="53149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36870"/>
                </a:solidFill>
                <a:latin typeface="Avenir Next"/>
                <a:ea typeface="Avenir Next"/>
                <a:cs typeface="Avenir Next"/>
              </a:defRPr>
            </a:pPr>
            <a:r>
              <a:rPr sz="1275" b="0" i="0">
                <a:solidFill>
                  <a:srgbClr val="536870"/>
                </a:solidFill>
                <a:latin typeface="Avenir Next"/>
                <a:ea typeface="Avenir Next"/>
                <a:cs typeface="Avenir Next"/>
              </a:rPr>
              <a:t>Restricted HTTPS API bridge plus native speech recognition and synthesis, with native share support.</a:t>
            </a:r>
          </a:p>
        </p:txBody>
      </p:sp>
      <p:sp>
        <p:nvSpPr>
          <p:cNvPr id="22" name="">
            <a:extLst xmlns:a="http://schemas.openxmlformats.org/drawingml/2006/main">
              <a:ext uri="{FF2B5EF4-FFF2-40B4-BE49-F238E27FC236}">
                <a16:creationId xmlns:a16="http://schemas.microsoft.com/office/drawing/2014/main" id="{7C25DCCA-4C1C-4EFF-9521-CC839E344738}"/>
              </a:ext>
            </a:extLst>
          </p:cNvPr>
          <p:cNvSpPr>
            <a:spLocks xmlns:a="http://schemas.openxmlformats.org/drawingml/2006/main" noGrp="1"/>
          </p:cNvSpPr>
          <p:nvPr/>
        </p:nvSpPr>
        <p:spPr>
          <a:xfrm xmlns:a="http://schemas.openxmlformats.org/drawingml/2006/main">
            <a:off x="8572500" y="3048000"/>
            <a:ext cx="381000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B8D6D5"/>
            </a:solidFill>
          </a:ln>
        </p:spPr>
      </p:sp>
      <p:sp>
        <p:nvSpPr>
          <p:cNvPr id="23" name="">
            <a:extLst xmlns:a="http://schemas.openxmlformats.org/drawingml/2006/main">
              <a:ext uri="{FF2B5EF4-FFF2-40B4-BE49-F238E27FC236}">
                <a16:creationId xmlns:a16="http://schemas.microsoft.com/office/drawing/2014/main" id="{7E37C337-C2A2-4D95-BE39-AAAE3B36CA5F}"/>
              </a:ext>
            </a:extLst>
          </p:cNvPr>
          <p:cNvSpPr>
            <a:spLocks xmlns:a="http://schemas.openxmlformats.org/drawingml/2006/main" noGrp="1"/>
          </p:cNvSpPr>
          <p:nvPr/>
        </p:nvSpPr>
        <p:spPr>
          <a:xfrm xmlns:a="http://schemas.openxmlformats.org/drawingml/2006/main">
            <a:off x="8782050" y="3219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lgn="l">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Already checked</a:t>
            </a:r>
          </a:p>
        </p:txBody>
      </p:sp>
      <p:sp>
        <p:nvSpPr>
          <p:cNvPr id="24" name="">
            <a:extLst xmlns:a="http://schemas.openxmlformats.org/drawingml/2006/main">
              <a:ext uri="{FF2B5EF4-FFF2-40B4-BE49-F238E27FC236}">
                <a16:creationId xmlns:a16="http://schemas.microsoft.com/office/drawing/2014/main" id="{869F0031-ED84-4C82-9A2B-175A23D4C743}"/>
              </a:ext>
            </a:extLst>
          </p:cNvPr>
          <p:cNvSpPr>
            <a:spLocks xmlns:a="http://schemas.openxmlformats.org/drawingml/2006/main" noGrp="1"/>
          </p:cNvSpPr>
          <p:nvPr/>
        </p:nvSpPr>
        <p:spPr>
          <a:xfrm xmlns:a="http://schemas.openxmlformats.org/drawingml/2006/main">
            <a:off x="8782050" y="360045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36870"/>
                </a:solidFill>
                <a:latin typeface="Avenir Next"/>
                <a:ea typeface="Avenir Next"/>
                <a:cs typeface="Avenir Next"/>
              </a:defRPr>
            </a:pPr>
            <a:r>
              <a:rPr sz="1275" b="0" i="0">
                <a:solidFill>
                  <a:srgbClr val="536870"/>
                </a:solidFill>
                <a:latin typeface="Avenir Next"/>
                <a:ea typeface="Avenir Next"/>
                <a:cs typeface="Avenir Next"/>
              </a:rPr>
              <a:t>Web/mobile builds · browser integration · unsigned iOS simulator build · transport and config tests.</a:t>
            </a:r>
          </a:p>
        </p:txBody>
      </p:sp>
      <p:sp>
        <p:nvSpPr>
          <p:cNvPr id="25" name="">
            <a:extLst xmlns:a="http://schemas.openxmlformats.org/drawingml/2006/main">
              <a:ext uri="{FF2B5EF4-FFF2-40B4-BE49-F238E27FC236}">
                <a16:creationId xmlns:a16="http://schemas.microsoft.com/office/drawing/2014/main" id="{62764817-FA89-4ACF-BC81-C33DCC57A97E}"/>
              </a:ext>
            </a:extLst>
          </p:cNvPr>
          <p:cNvSpPr>
            <a:spLocks xmlns:a="http://schemas.openxmlformats.org/drawingml/2006/main" noGrp="1"/>
          </p:cNvSpPr>
          <p:nvPr/>
        </p:nvSpPr>
        <p:spPr>
          <a:xfrm xmlns:a="http://schemas.openxmlformats.org/drawingml/2006/main">
            <a:off x="8572500" y="4762500"/>
            <a:ext cx="3810000" cy="1428750"/>
          </a:xfrm>
          <a:prstGeom xmlns:a="http://schemas.openxmlformats.org/drawingml/2006/main" prst="roundRect">
            <a:avLst>
              <a:gd name="adj" fmla="val 9333"/>
            </a:avLst>
          </a:prstGeom>
          <a:solidFill xmlns:a="http://schemas.openxmlformats.org/drawingml/2006/main">
            <a:srgbClr val="FFD1AF"/>
          </a:solidFill>
          <a:ln xmlns:a="http://schemas.openxmlformats.org/drawingml/2006/main" w="9525">
            <a:solidFill>
              <a:srgbClr val="B8D6D5"/>
            </a:solidFill>
          </a:ln>
        </p:spPr>
      </p:sp>
      <p:sp>
        <p:nvSpPr>
          <p:cNvPr id="26" name="">
            <a:extLst xmlns:a="http://schemas.openxmlformats.org/drawingml/2006/main">
              <a:ext uri="{FF2B5EF4-FFF2-40B4-BE49-F238E27FC236}">
                <a16:creationId xmlns:a16="http://schemas.microsoft.com/office/drawing/2014/main" id="{4DF06A85-DA3D-4284-A264-C6E5FDDDC57F}"/>
              </a:ext>
            </a:extLst>
          </p:cNvPr>
          <p:cNvSpPr>
            <a:spLocks xmlns:a="http://schemas.openxmlformats.org/drawingml/2006/main" noGrp="1"/>
          </p:cNvSpPr>
          <p:nvPr/>
        </p:nvSpPr>
        <p:spPr>
          <a:xfrm xmlns:a="http://schemas.openxmlformats.org/drawingml/2006/main">
            <a:off x="8782050" y="49339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lgn="l">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Before distribution</a:t>
            </a:r>
          </a:p>
        </p:txBody>
      </p:sp>
      <p:sp>
        <p:nvSpPr>
          <p:cNvPr id="27" name="">
            <a:extLst xmlns:a="http://schemas.openxmlformats.org/drawingml/2006/main">
              <a:ext uri="{FF2B5EF4-FFF2-40B4-BE49-F238E27FC236}">
                <a16:creationId xmlns:a16="http://schemas.microsoft.com/office/drawing/2014/main" id="{70EF4C21-5E4E-48FE-8712-3252C8471ACE}"/>
              </a:ext>
            </a:extLst>
          </p:cNvPr>
          <p:cNvSpPr>
            <a:spLocks xmlns:a="http://schemas.openxmlformats.org/drawingml/2006/main" noGrp="1"/>
          </p:cNvSpPr>
          <p:nvPr/>
        </p:nvSpPr>
        <p:spPr>
          <a:xfrm xmlns:a="http://schemas.openxmlformats.org/drawingml/2006/main">
            <a:off x="8782050" y="531495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36870"/>
                </a:solidFill>
                <a:latin typeface="Avenir Next"/>
                <a:ea typeface="Avenir Next"/>
                <a:cs typeface="Avenir Next"/>
              </a:defRPr>
            </a:pPr>
            <a:r>
              <a:rPr sz="1275" b="0" i="0">
                <a:solidFill>
                  <a:srgbClr val="536870"/>
                </a:solidFill>
                <a:latin typeface="Avenir Next"/>
                <a:ea typeface="Avenir Next"/>
                <a:cs typeface="Avenir Next"/>
              </a:rPr>
              <a:t>Signed-device sessions · native accessibility · Google OAuth return · native push · icon/store/privacy review.</a:t>
            </a:r>
          </a:p>
        </p:txBody>
      </p:sp>
      <p:sp>
        <p:nvSpPr>
          <p:cNvPr id="28" name="">
            <a:extLst xmlns:a="http://schemas.openxmlformats.org/drawingml/2006/main">
              <a:ext uri="{FF2B5EF4-FFF2-40B4-BE49-F238E27FC236}">
                <a16:creationId xmlns:a16="http://schemas.microsoft.com/office/drawing/2014/main" id="{87D3E932-8FDF-4D6D-A9AC-B12EB240E056}"/>
              </a:ext>
            </a:extLst>
          </p:cNvPr>
          <p:cNvSpPr>
            <a:spLocks xmlns:a="http://schemas.openxmlformats.org/drawingml/2006/main" noGrp="1"/>
          </p:cNvSpPr>
          <p:nvPr/>
        </p:nvSpPr>
        <p:spPr>
          <a:xfrm xmlns:a="http://schemas.openxmlformats.org/drawingml/2006/main">
            <a:off x="4762500" y="6524625"/>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087F8C"/>
                </a:solidFill>
                <a:latin typeface="Avenir Next"/>
                <a:ea typeface="Avenir Next"/>
                <a:cs typeface="Avenir Next"/>
              </a:defRPr>
            </a:pPr>
            <a:r>
              <a:rPr sz="1200" b="1" i="0">
                <a:solidFill>
                  <a:srgbClr val="087F8C"/>
                </a:solidFill>
                <a:latin typeface="Avenir Next"/>
                <a:ea typeface="Avenir Next"/>
                <a:cs typeface="Avenir Next"/>
              </a:rPr>
              <a:t>STATUS · Integration in progress. Pilot, not an App Store release.</a:t>
            </a:r>
          </a:p>
        </p:txBody>
      </p:sp>
    </p:spTree>
    <p:extLst>
      <p:ext uri="{BB962C8B-B14F-4D97-AF65-F5344CB8AC3E}">
        <p14:creationId xmlns:p14="http://schemas.microsoft.com/office/powerpoint/2010/main" val="1624701167"/>
      </p:ext>
    </p:extLst>
  </p:cSld>
</p:sld>
</file>

<file path=ppt/slides/slide16.xml><?xml version="1.0" encoding="utf-8"?>
<p:sld xmlns:p="http://schemas.openxmlformats.org/presentationml/2006/main">
  <p:cSld>
    <p:bg>
      <p:bgPr>
        <a:solidFill xmlns:a="http://schemas.openxmlformats.org/drawingml/2006/main">
          <a:srgbClr val="123F4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1A2505-89EF-448B-91CA-62795AD1BEEA}"/>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AF818D-DF20-4E11-A6D3-0D4D1B828E88}"/>
              </a:ext>
            </a:extLst>
          </p:cNvPr>
          <p:cNvSpPr>
            <a:spLocks xmlns:a="http://schemas.openxmlformats.org/drawingml/2006/main" noGrp="1"/>
          </p:cNvSpPr>
          <p:nvPr/>
        </p:nvSpPr>
        <p:spPr>
          <a:xfrm xmlns:a="http://schemas.openxmlformats.org/drawingml/2006/main">
            <a:off x="609600" y="361950"/>
            <a:ext cx="295275" cy="295275"/>
          </a:xfrm>
          <a:prstGeom xmlns:a="http://schemas.openxmlformats.org/drawingml/2006/main" prst="roundRect">
            <a:avLst>
              <a:gd name="adj" fmla="val 50000"/>
            </a:avLst>
          </a:prstGeom>
          <a:noFill xmlns:a="http://schemas.openxmlformats.org/drawingml/2006/main"/>
          <a:ln xmlns:a="http://schemas.openxmlformats.org/drawingml/2006/main" w="9525">
            <a:solidFill>
              <a:srgbClr val="123F49"/>
            </a:solidFill>
          </a:ln>
        </p:spPr>
        <p:txBody>
          <a:bodyPr xmlns:a="http://schemas.openxmlformats.org/drawingml/2006/main" anchor="ctr">
            <a:normAutofit fontScale="19626"/>
          </a:bodyPr>
          <a:lstStyle xmlns:a="http://schemas.openxmlformats.org/drawingml/2006/main"/>
          <a:p xmlns:a="http://schemas.openxmlformats.org/drawingml/2006/main">
            <a:pPr algn="ctr">
              <a:defRPr sz="1575" b="1" i="0">
                <a:solidFill>
                  <a:srgbClr val="123F49"/>
                </a:solidFill>
                <a:latin typeface="Avenir Next"/>
                <a:ea typeface="Avenir Next"/>
                <a:cs typeface="Avenir Next"/>
              </a:defRPr>
            </a:pPr>
            <a:r>
              <a:rPr sz="1575" b="1" i="0">
                <a:solidFill>
                  <a:srgbClr val="123F49"/>
                </a:solidFill>
                <a:latin typeface="Avenir Next"/>
                <a:ea typeface="Avenir Next"/>
                <a:cs typeface="Avenir Next"/>
              </a:rPr>
              <a:t>+</a:t>
            </a:r>
          </a:p>
        </p:txBody>
      </p:sp>
      <p:sp>
        <p:nvSpPr>
          <p:cNvPr id="3" name="">
            <a:extLst xmlns:a="http://schemas.openxmlformats.org/drawingml/2006/main">
              <a:ext uri="{FF2B5EF4-FFF2-40B4-BE49-F238E27FC236}">
                <a16:creationId xmlns:a16="http://schemas.microsoft.com/office/drawing/2014/main" id="{A58B6C63-EDE5-44A5-8044-AB38959D1485}"/>
              </a:ext>
            </a:extLst>
          </p:cNvPr>
          <p:cNvSpPr>
            <a:spLocks xmlns:a="http://schemas.openxmlformats.org/drawingml/2006/main" noGrp="1"/>
          </p:cNvSpPr>
          <p:nvPr/>
        </p:nvSpPr>
        <p:spPr>
          <a:xfrm xmlns:a="http://schemas.openxmlformats.org/drawingml/2006/main">
            <a:off x="990600" y="3714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i="0">
                <a:solidFill>
                  <a:srgbClr val="123F49"/>
                </a:solidFill>
                <a:latin typeface="Avenir Next"/>
                <a:ea typeface="Avenir Next"/>
                <a:cs typeface="Avenir Next"/>
              </a:defRPr>
            </a:pPr>
            <a:r>
              <a:rPr sz="1725" b="1" i="0">
                <a:solidFill>
                  <a:srgbClr val="123F49"/>
                </a:solidFill>
                <a:latin typeface="Avenir Next"/>
                <a:ea typeface="Avenir Next"/>
                <a:cs typeface="Avenir Next"/>
              </a:rPr>
              <a:t>Carestead</a:t>
            </a:r>
          </a:p>
        </p:txBody>
      </p:sp>
      <p:sp>
        <p:nvSpPr>
          <p:cNvPr id="4" name="">
            <a:extLst xmlns:a="http://schemas.openxmlformats.org/drawingml/2006/main">
              <a:ext uri="{FF2B5EF4-FFF2-40B4-BE49-F238E27FC236}">
                <a16:creationId xmlns:a16="http://schemas.microsoft.com/office/drawing/2014/main" id="{BEFC24B4-979C-40C0-9A81-62F0E5CB0C2A}"/>
              </a:ext>
            </a:extLst>
          </p:cNvPr>
          <p:cNvSpPr>
            <a:spLocks xmlns:a="http://schemas.openxmlformats.org/drawingml/2006/main" noGrp="1"/>
          </p:cNvSpPr>
          <p:nvPr/>
        </p:nvSpPr>
        <p:spPr>
          <a:xfrm xmlns:a="http://schemas.openxmlformats.org/drawingml/2006/main">
            <a:off x="9048750" y="419100"/>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75" b="1" i="0">
                <a:solidFill>
                  <a:srgbClr val="087F8C"/>
                </a:solidFill>
                <a:latin typeface="Avenir Next"/>
                <a:ea typeface="Avenir Next"/>
                <a:cs typeface="Avenir Next"/>
              </a:defRPr>
            </a:pPr>
            <a:r>
              <a:rPr sz="975" b="1" i="0">
                <a:solidFill>
                  <a:srgbClr val="087F8C"/>
                </a:solidFill>
                <a:latin typeface="Avenir Next"/>
                <a:ea typeface="Avenir Next"/>
                <a:cs typeface="Avenir Next"/>
              </a:rPr>
              <a:t>REAL-WORLD IMPACT · THE PROMISE</a:t>
            </a:r>
          </a:p>
        </p:txBody>
      </p:sp>
      <p:sp>
        <p:nvSpPr>
          <p:cNvPr id="5" name="">
            <a:extLst xmlns:a="http://schemas.openxmlformats.org/drawingml/2006/main">
              <a:ext uri="{FF2B5EF4-FFF2-40B4-BE49-F238E27FC236}">
                <a16:creationId xmlns:a16="http://schemas.microsoft.com/office/drawing/2014/main" id="{6312EAC2-31B2-4827-9D4A-DF4A00876E7F}"/>
              </a:ext>
            </a:extLst>
          </p:cNvPr>
          <p:cNvSpPr>
            <a:spLocks xmlns:a="http://schemas.openxmlformats.org/drawingml/2006/main" noGrp="1"/>
          </p:cNvSpPr>
          <p:nvPr/>
        </p:nvSpPr>
        <p:spPr>
          <a:xfrm xmlns:a="http://schemas.openxmlformats.org/drawingml/2006/main">
            <a:off x="609600" y="73342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l">
              <a:defRPr sz="900" b="0" i="0">
                <a:solidFill>
                  <a:srgbClr val="E1F4F1"/>
                </a:solidFill>
                <a:latin typeface="Avenir Next"/>
                <a:ea typeface="Avenir Next"/>
                <a:cs typeface="Avenir Next"/>
              </a:defRPr>
            </a:pPr>
            <a:r>
              <a:rPr sz="900" b="0" i="0">
                <a:solidFill>
                  <a:srgbClr val="E1F4F1"/>
                </a:solidFill>
                <a:latin typeface="Avenir Next"/>
                <a:ea typeface="Avenir Next"/>
                <a:cs typeface="Avenir Next"/>
              </a:rPr>
              <a:t>Carestead · GenAI Academy · September 2026 · v2</a:t>
            </a:r>
          </a:p>
        </p:txBody>
      </p:sp>
      <p:sp>
        <p:nvSpPr>
          <p:cNvPr id="6" name="">
            <a:extLst xmlns:a="http://schemas.openxmlformats.org/drawingml/2006/main">
              <a:ext uri="{FF2B5EF4-FFF2-40B4-BE49-F238E27FC236}">
                <a16:creationId xmlns:a16="http://schemas.microsoft.com/office/drawing/2014/main" id="{C1346713-1539-4849-9B7E-7FF2924F7421}"/>
              </a:ext>
            </a:extLst>
          </p:cNvPr>
          <p:cNvSpPr>
            <a:spLocks xmlns:a="http://schemas.openxmlformats.org/drawingml/2006/main" noGrp="1"/>
          </p:cNvSpPr>
          <p:nvPr/>
        </p:nvSpPr>
        <p:spPr>
          <a:xfrm xmlns:a="http://schemas.openxmlformats.org/drawingml/2006/main">
            <a:off x="12144375" y="73342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defRPr sz="900" b="0" i="0">
                <a:solidFill>
                  <a:srgbClr val="E1F4F1"/>
                </a:solidFill>
                <a:latin typeface="Avenir Next"/>
                <a:ea typeface="Avenir Next"/>
                <a:cs typeface="Avenir Next"/>
              </a:defRPr>
            </a:pPr>
            <a:r>
              <a:rPr sz="900" b="0" i="0">
                <a:solidFill>
                  <a:srgbClr val="E1F4F1"/>
                </a:solidFill>
                <a:latin typeface="Avenir Next"/>
                <a:ea typeface="Avenir Next"/>
                <a:cs typeface="Avenir Next"/>
              </a:rPr>
              <a:t>16 / 16</a:t>
            </a:r>
          </a:p>
        </p:txBody>
      </p:sp>
      <p:sp>
        <p:nvSpPr>
          <p:cNvPr id="7" name="">
            <a:extLst xmlns:a="http://schemas.openxmlformats.org/drawingml/2006/main">
              <a:ext uri="{FF2B5EF4-FFF2-40B4-BE49-F238E27FC236}">
                <a16:creationId xmlns:a16="http://schemas.microsoft.com/office/drawing/2014/main" id="{B0EFD5B5-A716-4AEE-A6BB-444EDAD71EFB}"/>
              </a:ext>
            </a:extLst>
          </p:cNvPr>
          <p:cNvSpPr>
            <a:spLocks xmlns:a="http://schemas.openxmlformats.org/drawingml/2006/main" noGrp="1"/>
          </p:cNvSpPr>
          <p:nvPr/>
        </p:nvSpPr>
        <p:spPr>
          <a:xfrm xmlns:a="http://schemas.openxmlformats.org/drawingml/2006/main">
            <a:off x="0" y="0"/>
            <a:ext cx="114300" cy="7715250"/>
          </a:xfrm>
          <a:prstGeom xmlns:a="http://schemas.openxmlformats.org/drawingml/2006/main" prst="rect">
            <a:avLst/>
          </a:prstGeom>
          <a:solidFill xmlns:a="http://schemas.openxmlformats.org/drawingml/2006/main">
            <a:srgbClr val="FFD1A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5F20B1-0BEA-4299-B64B-F9DCF5E41CC8}"/>
              </a:ext>
            </a:extLst>
          </p:cNvPr>
          <p:cNvSpPr>
            <a:spLocks xmlns:a="http://schemas.openxmlformats.org/drawingml/2006/main" noGrp="1"/>
          </p:cNvSpPr>
          <p:nvPr/>
        </p:nvSpPr>
        <p:spPr>
          <a:xfrm xmlns:a="http://schemas.openxmlformats.org/drawingml/2006/main">
            <a:off x="609600" y="11239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i="0">
                <a:solidFill>
                  <a:srgbClr val="E1F4F1"/>
                </a:solidFill>
                <a:latin typeface="Avenir Next"/>
                <a:ea typeface="Avenir Next"/>
                <a:cs typeface="Avenir Next"/>
              </a:defRPr>
            </a:pPr>
            <a:r>
              <a:rPr sz="1050" b="1" i="0">
                <a:solidFill>
                  <a:srgbClr val="E1F4F1"/>
                </a:solidFill>
                <a:latin typeface="Avenir Next"/>
                <a:ea typeface="Avenir Next"/>
                <a:cs typeface="Avenir Next"/>
              </a:rPr>
              <a:t>REAL-WORLD IMPACT</a:t>
            </a:r>
          </a:p>
        </p:txBody>
      </p:sp>
      <p:sp>
        <p:nvSpPr>
          <p:cNvPr id="9" name="">
            <a:extLst xmlns:a="http://schemas.openxmlformats.org/drawingml/2006/main">
              <a:ext uri="{FF2B5EF4-FFF2-40B4-BE49-F238E27FC236}">
                <a16:creationId xmlns:a16="http://schemas.microsoft.com/office/drawing/2014/main" id="{3E18321C-77AF-4AA2-8442-3126A09976D2}"/>
              </a:ext>
            </a:extLst>
          </p:cNvPr>
          <p:cNvSpPr>
            <a:spLocks xmlns:a="http://schemas.openxmlformats.org/drawingml/2006/main" noGrp="1"/>
          </p:cNvSpPr>
          <p:nvPr/>
        </p:nvSpPr>
        <p:spPr>
          <a:xfrm xmlns:a="http://schemas.openxmlformats.org/drawingml/2006/main">
            <a:off x="609600" y="1524000"/>
            <a:ext cx="11334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68"/>
          </a:bodyPr>
          <a:lstStyle xmlns:a="http://schemas.openxmlformats.org/drawingml/2006/main"/>
          <a:p xmlns:a="http://schemas.openxmlformats.org/drawingml/2006/main">
            <a:pPr algn="l">
              <a:defRPr sz="3900" b="1" i="0">
                <a:solidFill>
                  <a:srgbClr val="FFFFFF"/>
                </a:solidFill>
                <a:latin typeface="Avenir Next"/>
                <a:ea typeface="Avenir Next"/>
                <a:cs typeface="Avenir Next"/>
              </a:defRPr>
            </a:pPr>
            <a:r>
              <a:rPr sz="3900" b="1" i="0">
                <a:solidFill>
                  <a:srgbClr val="FFFFFF"/>
                </a:solidFill>
                <a:latin typeface="Avenir Next"/>
                <a:ea typeface="Avenir Next"/>
                <a:cs typeface="Avenir Next"/>
              </a:rPr>
              <a:t>A scattered care story becomes</a:t>
            </a:r>
          </a:p>
          <a:p xmlns:a="http://schemas.openxmlformats.org/drawingml/2006/main">
            <a:pPr algn="l">
              <a:defRPr sz="3900" b="1" i="0">
                <a:solidFill>
                  <a:srgbClr val="FFFFFF"/>
                </a:solidFill>
                <a:latin typeface="Avenir Next"/>
                <a:ea typeface="Avenir Next"/>
                <a:cs typeface="Avenir Next"/>
              </a:defRPr>
            </a:pPr>
            <a:r>
              <a:rPr sz="3900" b="1" i="0">
                <a:solidFill>
                  <a:srgbClr val="FFFFFF"/>
                </a:solidFill>
                <a:latin typeface="Avenir Next"/>
                <a:ea typeface="Avenir Next"/>
                <a:cs typeface="Avenir Next"/>
              </a:rPr>
              <a:t>a safe, shared next step.</a:t>
            </a:r>
          </a:p>
        </p:txBody>
      </p:sp>
      <p:sp>
        <p:nvSpPr>
          <p:cNvPr id="10" name="">
            <a:extLst xmlns:a="http://schemas.openxmlformats.org/drawingml/2006/main">
              <a:ext uri="{FF2B5EF4-FFF2-40B4-BE49-F238E27FC236}">
                <a16:creationId xmlns:a16="http://schemas.microsoft.com/office/drawing/2014/main" id="{A52739BF-AF1D-4416-AD50-FEA0392E21C5}"/>
              </a:ext>
            </a:extLst>
          </p:cNvPr>
          <p:cNvSpPr>
            <a:spLocks xmlns:a="http://schemas.openxmlformats.org/drawingml/2006/main" noGrp="1"/>
          </p:cNvSpPr>
          <p:nvPr/>
        </p:nvSpPr>
        <p:spPr>
          <a:xfrm xmlns:a="http://schemas.openxmlformats.org/drawingml/2006/main">
            <a:off x="609600" y="3143250"/>
            <a:ext cx="5667375" cy="2095500"/>
          </a:xfrm>
          <a:prstGeom xmlns:a="http://schemas.openxmlformats.org/drawingml/2006/main" prst="roundRect">
            <a:avLst>
              <a:gd name="adj" fmla="val 6364"/>
            </a:avLst>
          </a:prstGeom>
          <a:solidFill xmlns:a="http://schemas.openxmlformats.org/drawingml/2006/main">
            <a:srgbClr val="FFD1A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DC17CC-041B-46AD-8EDD-EDA35D1744D6}"/>
              </a:ext>
            </a:extLst>
          </p:cNvPr>
          <p:cNvSpPr>
            <a:spLocks xmlns:a="http://schemas.openxmlformats.org/drawingml/2006/main" noGrp="1"/>
          </p:cNvSpPr>
          <p:nvPr/>
        </p:nvSpPr>
        <p:spPr>
          <a:xfrm xmlns:a="http://schemas.openxmlformats.org/drawingml/2006/main">
            <a:off x="819150" y="3314700"/>
            <a:ext cx="528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defRPr sz="1875" b="1" i="0">
                <a:solidFill>
                  <a:srgbClr val="123F49"/>
                </a:solidFill>
                <a:latin typeface="Avenir Next"/>
                <a:ea typeface="Avenir Next"/>
                <a:cs typeface="Avenir Next"/>
              </a:defRPr>
            </a:pPr>
            <a:r>
              <a:rPr sz="1875" b="1" i="0">
                <a:solidFill>
                  <a:srgbClr val="123F49"/>
                </a:solidFill>
                <a:latin typeface="Avenir Next"/>
                <a:ea typeface="Avenir Next"/>
                <a:cs typeface="Avenir Next"/>
              </a:rPr>
              <a:t>Before Carestead</a:t>
            </a:r>
          </a:p>
        </p:txBody>
      </p:sp>
      <p:sp>
        <p:nvSpPr>
          <p:cNvPr id="12" name="">
            <a:extLst xmlns:a="http://schemas.openxmlformats.org/drawingml/2006/main">
              <a:ext uri="{FF2B5EF4-FFF2-40B4-BE49-F238E27FC236}">
                <a16:creationId xmlns:a16="http://schemas.microsoft.com/office/drawing/2014/main" id="{9874B76E-8663-405B-908A-5D4A5C375AD5}"/>
              </a:ext>
            </a:extLst>
          </p:cNvPr>
          <p:cNvSpPr>
            <a:spLocks xmlns:a="http://schemas.openxmlformats.org/drawingml/2006/main" noGrp="1"/>
          </p:cNvSpPr>
          <p:nvPr/>
        </p:nvSpPr>
        <p:spPr>
          <a:xfrm xmlns:a="http://schemas.openxmlformats.org/drawingml/2006/main">
            <a:off x="819150" y="3695700"/>
            <a:ext cx="5286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123F49"/>
                </a:solidFill>
                <a:latin typeface="Avenir Next"/>
                <a:ea typeface="Avenir Next"/>
                <a:cs typeface="Avenir Next"/>
              </a:defRPr>
            </a:pPr>
            <a:r>
              <a:rPr sz="1425" b="0" i="0">
                <a:solidFill>
                  <a:srgbClr val="123F49"/>
                </a:solidFill>
                <a:latin typeface="Avenir Next"/>
                <a:ea typeface="Avenir Next"/>
                <a:cs typeface="Avenir Next"/>
              </a:rPr>
              <a:t>Fragmented information</a:t>
            </a:r>
          </a:p>
          <a:p xmlns:a="http://schemas.openxmlformats.org/drawingml/2006/main">
            <a:pPr algn="l">
              <a:defRPr sz="1425" b="0" i="0">
                <a:solidFill>
                  <a:srgbClr val="123F49"/>
                </a:solidFill>
                <a:latin typeface="Avenir Next"/>
                <a:ea typeface="Avenir Next"/>
                <a:cs typeface="Avenir Next"/>
              </a:defRPr>
            </a:pPr>
            <a:r>
              <a:rPr sz="1425" b="0" i="0">
                <a:solidFill>
                  <a:srgbClr val="123F49"/>
                </a:solidFill>
                <a:latin typeface="Avenir Next"/>
                <a:ea typeface="Avenir Next"/>
                <a:cs typeface="Avenir Next"/>
              </a:rPr>
              <a:t>Repeated reconstruction</a:t>
            </a:r>
          </a:p>
          <a:p xmlns:a="http://schemas.openxmlformats.org/drawingml/2006/main">
            <a:pPr algn="l">
              <a:defRPr sz="1425" b="0" i="0">
                <a:solidFill>
                  <a:srgbClr val="123F49"/>
                </a:solidFill>
                <a:latin typeface="Avenir Next"/>
                <a:ea typeface="Avenir Next"/>
                <a:cs typeface="Avenir Next"/>
              </a:defRPr>
            </a:pPr>
            <a:r>
              <a:rPr sz="1425" b="0" i="0">
                <a:solidFill>
                  <a:srgbClr val="123F49"/>
                </a:solidFill>
                <a:latin typeface="Avenir Next"/>
                <a:ea typeface="Avenir Next"/>
                <a:cs typeface="Avenir Next"/>
              </a:rPr>
              <a:t>Unclear responsibility ownership</a:t>
            </a:r>
          </a:p>
          <a:p xmlns:a="http://schemas.openxmlformats.org/drawingml/2006/main">
            <a:pPr algn="l">
              <a:defRPr sz="1425" b="0" i="0">
                <a:solidFill>
                  <a:srgbClr val="123F49"/>
                </a:solidFill>
                <a:latin typeface="Avenir Next"/>
                <a:ea typeface="Avenir Next"/>
                <a:cs typeface="Avenir Next"/>
              </a:defRPr>
            </a:pPr>
            <a:r>
              <a:rPr sz="1425" b="0" i="0">
                <a:solidFill>
                  <a:srgbClr val="123F49"/>
                </a:solidFill>
                <a:latin typeface="Avenir Next"/>
                <a:ea typeface="Avenir Next"/>
                <a:cs typeface="Avenir Next"/>
              </a:rPr>
              <a:t>Follow-up and handover gaps</a:t>
            </a:r>
          </a:p>
        </p:txBody>
      </p:sp>
      <p:sp>
        <p:nvSpPr>
          <p:cNvPr id="13" name="">
            <a:extLst xmlns:a="http://schemas.openxmlformats.org/drawingml/2006/main">
              <a:ext uri="{FF2B5EF4-FFF2-40B4-BE49-F238E27FC236}">
                <a16:creationId xmlns:a16="http://schemas.microsoft.com/office/drawing/2014/main" id="{30593D46-8FA6-4E14-BB1E-3B1AE79982AB}"/>
              </a:ext>
            </a:extLst>
          </p:cNvPr>
          <p:cNvSpPr>
            <a:spLocks xmlns:a="http://schemas.openxmlformats.org/drawingml/2006/main" noGrp="1"/>
          </p:cNvSpPr>
          <p:nvPr/>
        </p:nvSpPr>
        <p:spPr>
          <a:xfrm xmlns:a="http://schemas.openxmlformats.org/drawingml/2006/main">
            <a:off x="6572250" y="3143250"/>
            <a:ext cx="5667375" cy="2095500"/>
          </a:xfrm>
          <a:prstGeom xmlns:a="http://schemas.openxmlformats.org/drawingml/2006/main" prst="roundRect">
            <a:avLst>
              <a:gd name="adj" fmla="val 6364"/>
            </a:avLst>
          </a:prstGeom>
          <a:solidFill xmlns:a="http://schemas.openxmlformats.org/drawingml/2006/main">
            <a:srgbClr val="E1F4F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4CA84DD-2B9A-4800-9F37-CBBE63F8B627}"/>
              </a:ext>
            </a:extLst>
          </p:cNvPr>
          <p:cNvSpPr>
            <a:spLocks xmlns:a="http://schemas.openxmlformats.org/drawingml/2006/main" noGrp="1"/>
          </p:cNvSpPr>
          <p:nvPr/>
        </p:nvSpPr>
        <p:spPr>
          <a:xfrm xmlns:a="http://schemas.openxmlformats.org/drawingml/2006/main">
            <a:off x="6781800" y="3314700"/>
            <a:ext cx="528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defRPr sz="1875" b="1" i="0">
                <a:solidFill>
                  <a:srgbClr val="123F49"/>
                </a:solidFill>
                <a:latin typeface="Avenir Next"/>
                <a:ea typeface="Avenir Next"/>
                <a:cs typeface="Avenir Next"/>
              </a:defRPr>
            </a:pPr>
            <a:r>
              <a:rPr sz="1875" b="1" i="0">
                <a:solidFill>
                  <a:srgbClr val="123F49"/>
                </a:solidFill>
                <a:latin typeface="Avenir Next"/>
                <a:ea typeface="Avenir Next"/>
                <a:cs typeface="Avenir Next"/>
              </a:rPr>
              <a:t>With Carestead</a:t>
            </a:r>
          </a:p>
        </p:txBody>
      </p:sp>
      <p:sp>
        <p:nvSpPr>
          <p:cNvPr id="15" name="">
            <a:extLst xmlns:a="http://schemas.openxmlformats.org/drawingml/2006/main">
              <a:ext uri="{FF2B5EF4-FFF2-40B4-BE49-F238E27FC236}">
                <a16:creationId xmlns:a16="http://schemas.microsoft.com/office/drawing/2014/main" id="{938E2706-FE78-4F45-923F-1F8DFC34F966}"/>
              </a:ext>
            </a:extLst>
          </p:cNvPr>
          <p:cNvSpPr>
            <a:spLocks xmlns:a="http://schemas.openxmlformats.org/drawingml/2006/main" noGrp="1"/>
          </p:cNvSpPr>
          <p:nvPr/>
        </p:nvSpPr>
        <p:spPr>
          <a:xfrm xmlns:a="http://schemas.openxmlformats.org/drawingml/2006/main">
            <a:off x="6781800" y="3695700"/>
            <a:ext cx="5286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123F49"/>
                </a:solidFill>
                <a:latin typeface="Avenir Next"/>
                <a:ea typeface="Avenir Next"/>
                <a:cs typeface="Avenir Next"/>
              </a:defRPr>
            </a:pPr>
            <a:r>
              <a:rPr sz="1425" b="0" i="0">
                <a:solidFill>
                  <a:srgbClr val="123F49"/>
                </a:solidFill>
                <a:latin typeface="Avenir Next"/>
                <a:ea typeface="Avenir Next"/>
                <a:cs typeface="Avenir Next"/>
              </a:rPr>
              <a:t>Shared recipient context</a:t>
            </a:r>
          </a:p>
          <a:p xmlns:a="http://schemas.openxmlformats.org/drawingml/2006/main">
            <a:pPr algn="l">
              <a:defRPr sz="1425" b="0" i="0">
                <a:solidFill>
                  <a:srgbClr val="123F49"/>
                </a:solidFill>
                <a:latin typeface="Avenir Next"/>
                <a:ea typeface="Avenir Next"/>
                <a:cs typeface="Avenir Next"/>
              </a:defRPr>
            </a:pPr>
            <a:r>
              <a:rPr sz="1425" b="0" i="0">
                <a:solidFill>
                  <a:srgbClr val="123F49"/>
                </a:solidFill>
                <a:latin typeface="Avenir Next"/>
                <a:ea typeface="Avenir Next"/>
                <a:cs typeface="Avenir Next"/>
              </a:rPr>
              <a:t>Named ownership and reviewable actions</a:t>
            </a:r>
          </a:p>
          <a:p xmlns:a="http://schemas.openxmlformats.org/drawingml/2006/main">
            <a:pPr algn="l">
              <a:defRPr sz="1425" b="0" i="0">
                <a:solidFill>
                  <a:srgbClr val="123F49"/>
                </a:solidFill>
                <a:latin typeface="Avenir Next"/>
                <a:ea typeface="Avenir Next"/>
                <a:cs typeface="Avenir Next"/>
              </a:defRPr>
            </a:pPr>
            <a:r>
              <a:rPr sz="1425" b="0" i="0">
                <a:solidFill>
                  <a:srgbClr val="123F49"/>
                </a:solidFill>
                <a:latin typeface="Avenir Next"/>
                <a:ea typeface="Avenir Next"/>
                <a:cs typeface="Avenir Next"/>
              </a:rPr>
              <a:t>Visible outcomes and audit history</a:t>
            </a:r>
          </a:p>
          <a:p xmlns:a="http://schemas.openxmlformats.org/drawingml/2006/main">
            <a:pPr algn="l">
              <a:defRPr sz="1425" b="0" i="0">
                <a:solidFill>
                  <a:srgbClr val="123F49"/>
                </a:solidFill>
                <a:latin typeface="Avenir Next"/>
                <a:ea typeface="Avenir Next"/>
                <a:cs typeface="Avenir Next"/>
              </a:defRPr>
            </a:pPr>
            <a:r>
              <a:rPr sz="1425" b="0" i="0">
                <a:solidFill>
                  <a:srgbClr val="123F49"/>
                </a:solidFill>
                <a:latin typeface="Avenir Next"/>
                <a:ea typeface="Avenir Next"/>
                <a:cs typeface="Avenir Next"/>
              </a:rPr>
              <a:t>Faster, clearer caregiver handover</a:t>
            </a:r>
          </a:p>
        </p:txBody>
      </p:sp>
      <p:sp>
        <p:nvSpPr>
          <p:cNvPr id="16" name="">
            <a:extLst xmlns:a="http://schemas.openxmlformats.org/drawingml/2006/main">
              <a:ext uri="{FF2B5EF4-FFF2-40B4-BE49-F238E27FC236}">
                <a16:creationId xmlns:a16="http://schemas.microsoft.com/office/drawing/2014/main" id="{97007706-90C8-4649-9715-9D5E0C11EDD9}"/>
              </a:ext>
            </a:extLst>
          </p:cNvPr>
          <p:cNvSpPr>
            <a:spLocks xmlns:a="http://schemas.openxmlformats.org/drawingml/2006/main" noGrp="1"/>
          </p:cNvSpPr>
          <p:nvPr/>
        </p:nvSpPr>
        <p:spPr>
          <a:xfrm xmlns:a="http://schemas.openxmlformats.org/drawingml/2006/main">
            <a:off x="609600" y="56197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E1F4F1"/>
                </a:solidFill>
                <a:latin typeface="Avenir Next"/>
                <a:ea typeface="Avenir Next"/>
                <a:cs typeface="Avenir Next"/>
              </a:defRPr>
            </a:pPr>
            <a:r>
              <a:rPr sz="975" b="1" i="0">
                <a:solidFill>
                  <a:srgbClr val="E1F4F1"/>
                </a:solidFill>
                <a:latin typeface="Avenir Next"/>
                <a:ea typeface="Avenir Next"/>
                <a:cs typeface="Avenir Next"/>
              </a:rPr>
              <a:t>PILOT MEASURES</a:t>
            </a:r>
          </a:p>
        </p:txBody>
      </p:sp>
      <p:sp>
        <p:nvSpPr>
          <p:cNvPr id="17" name="">
            <a:extLst xmlns:a="http://schemas.openxmlformats.org/drawingml/2006/main">
              <a:ext uri="{FF2B5EF4-FFF2-40B4-BE49-F238E27FC236}">
                <a16:creationId xmlns:a16="http://schemas.microsoft.com/office/drawing/2014/main" id="{36C49BAE-68E3-4408-972F-BDB35E91B798}"/>
              </a:ext>
            </a:extLst>
          </p:cNvPr>
          <p:cNvSpPr>
            <a:spLocks xmlns:a="http://schemas.openxmlformats.org/drawingml/2006/main" noGrp="1"/>
          </p:cNvSpPr>
          <p:nvPr/>
        </p:nvSpPr>
        <p:spPr>
          <a:xfrm xmlns:a="http://schemas.openxmlformats.org/drawingml/2006/main">
            <a:off x="2381250" y="55816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FFFFFF"/>
                </a:solidFill>
                <a:latin typeface="Avenir Next"/>
                <a:ea typeface="Avenir Next"/>
                <a:cs typeface="Avenir Next"/>
              </a:defRPr>
            </a:pPr>
            <a:r>
              <a:rPr sz="1350" b="0" i="0">
                <a:solidFill>
                  <a:srgbClr val="FFFFFF"/>
                </a:solidFill>
                <a:latin typeface="Avenir Next"/>
                <a:ea typeface="Avenir Next"/>
                <a:cs typeface="Avenir Next"/>
              </a:rPr>
              <a:t>Coordination time · unresolved responsibilities · unnecessary alerts · handover completeness · caregiver confidence</a:t>
            </a:r>
          </a:p>
        </p:txBody>
      </p:sp>
      <p:sp>
        <p:nvSpPr>
          <p:cNvPr id="18" name="">
            <a:extLst xmlns:a="http://schemas.openxmlformats.org/drawingml/2006/main">
              <a:ext uri="{FF2B5EF4-FFF2-40B4-BE49-F238E27FC236}">
                <a16:creationId xmlns:a16="http://schemas.microsoft.com/office/drawing/2014/main" id="{52CC0988-E3DC-4BA1-BBE6-2DD89F97451E}"/>
              </a:ext>
            </a:extLst>
          </p:cNvPr>
          <p:cNvSpPr>
            <a:spLocks xmlns:a="http://schemas.openxmlformats.org/drawingml/2006/main" noGrp="1"/>
          </p:cNvSpPr>
          <p:nvPr/>
        </p:nvSpPr>
        <p:spPr>
          <a:xfrm xmlns:a="http://schemas.openxmlformats.org/drawingml/2006/main">
            <a:off x="1809750" y="6191250"/>
            <a:ext cx="10096500" cy="590550"/>
          </a:xfrm>
          <a:prstGeom xmlns:a="http://schemas.openxmlformats.org/drawingml/2006/main" prst="roundRect">
            <a:avLst>
              <a:gd name="adj" fmla="val 19355"/>
            </a:avLst>
          </a:prstGeom>
          <a:solidFill xmlns:a="http://schemas.openxmlformats.org/drawingml/2006/main">
            <a:srgbClr val="FFD1A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BE6AA61-9B2F-42FE-A71E-F856F3080716}"/>
              </a:ext>
            </a:extLst>
          </p:cNvPr>
          <p:cNvSpPr>
            <a:spLocks xmlns:a="http://schemas.openxmlformats.org/drawingml/2006/main" noGrp="1"/>
          </p:cNvSpPr>
          <p:nvPr/>
        </p:nvSpPr>
        <p:spPr>
          <a:xfrm xmlns:a="http://schemas.openxmlformats.org/drawingml/2006/main">
            <a:off x="2095500" y="63341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309"/>
          </a:bodyPr>
          <a:lstStyle xmlns:a="http://schemas.openxmlformats.org/drawingml/2006/main"/>
          <a:p xmlns:a="http://schemas.openxmlformats.org/drawingml/2006/main">
            <a:pPr algn="ctr">
              <a:defRPr sz="2025" b="1" i="0">
                <a:solidFill>
                  <a:srgbClr val="123F49"/>
                </a:solidFill>
                <a:latin typeface="Avenir Next"/>
                <a:ea typeface="Avenir Next"/>
                <a:cs typeface="Avenir Next"/>
              </a:defRPr>
            </a:pPr>
            <a:r>
              <a:rPr sz="2025" b="1" i="0">
                <a:solidFill>
                  <a:srgbClr val="123F49"/>
                </a:solidFill>
                <a:latin typeface="Avenir Next"/>
                <a:ea typeface="Avenir Next"/>
                <a:cs typeface="Avenir Next"/>
              </a:rPr>
              <a:t>Less to carry. More care to give.</a:t>
            </a:r>
          </a:p>
        </p:txBody>
      </p:sp>
    </p:spTree>
    <p:extLst>
      <p:ext uri="{BB962C8B-B14F-4D97-AF65-F5344CB8AC3E}">
        <p14:creationId xmlns:p14="http://schemas.microsoft.com/office/powerpoint/2010/main" val="12266106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2026-09-16T05:37:09.6920000Z</dcterms:created>
  <dcterms:modified xsi:type="dcterms:W3CDTF">2026-09-16T05:37:09.6920000Z</dcterms:modified>
</coreProperties>
</file>